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2" r:id="rId4"/>
    <p:sldMasterId id="2147483661" r:id="rId5"/>
  </p:sldMasterIdLst>
  <p:notesMasterIdLst>
    <p:notesMasterId r:id="rId38"/>
  </p:notesMasterIdLst>
  <p:handoutMasterIdLst>
    <p:handoutMasterId r:id="rId39"/>
  </p:handoutMasterIdLst>
  <p:sldIdLst>
    <p:sldId id="2147376047" r:id="rId6"/>
    <p:sldId id="2147375904" r:id="rId7"/>
    <p:sldId id="2147375955" r:id="rId8"/>
    <p:sldId id="2147376049" r:id="rId9"/>
    <p:sldId id="2147375956" r:id="rId10"/>
    <p:sldId id="2147376050" r:id="rId11"/>
    <p:sldId id="2147376051" r:id="rId12"/>
    <p:sldId id="2147375957" r:id="rId13"/>
    <p:sldId id="2147375801" r:id="rId14"/>
    <p:sldId id="2147375969" r:id="rId15"/>
    <p:sldId id="2147376052" r:id="rId16"/>
    <p:sldId id="2147376053" r:id="rId17"/>
    <p:sldId id="2147376045" r:id="rId18"/>
    <p:sldId id="2147376071" r:id="rId19"/>
    <p:sldId id="2147375895" r:id="rId20"/>
    <p:sldId id="2147375967" r:id="rId21"/>
    <p:sldId id="2147376055" r:id="rId22"/>
    <p:sldId id="2147375924" r:id="rId23"/>
    <p:sldId id="2147376058" r:id="rId24"/>
    <p:sldId id="2147375959" r:id="rId25"/>
    <p:sldId id="2147376069" r:id="rId26"/>
    <p:sldId id="2147375943" r:id="rId27"/>
    <p:sldId id="2147376070" r:id="rId28"/>
    <p:sldId id="2147376063" r:id="rId29"/>
    <p:sldId id="2147376062" r:id="rId30"/>
    <p:sldId id="2147375960" r:id="rId31"/>
    <p:sldId id="2147375948" r:id="rId32"/>
    <p:sldId id="2147375961" r:id="rId33"/>
    <p:sldId id="2147376064" r:id="rId34"/>
    <p:sldId id="2147376065" r:id="rId35"/>
    <p:sldId id="2147376066" r:id="rId36"/>
    <p:sldId id="214737606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id="{B02095DD-5BC7-4F88-8135-72E5FC48DCF4}">
          <p14:sldIdLst>
            <p14:sldId id="2147376047"/>
            <p14:sldId id="2147375904"/>
            <p14:sldId id="2147375955"/>
          </p14:sldIdLst>
        </p14:section>
        <p14:section name="Introduction &amp; Overview" id="{177F05FB-94E0-40AE-AE04-0DC39CB58820}">
          <p14:sldIdLst>
            <p14:sldId id="2147376049"/>
          </p14:sldIdLst>
        </p14:section>
        <p14:section name="Stage 1: Trade Test" id="{59402EB2-E22F-4A4D-8167-971819F9BB0D}">
          <p14:sldIdLst>
            <p14:sldId id="2147375956"/>
            <p14:sldId id="2147376050"/>
            <p14:sldId id="2147376051"/>
          </p14:sldIdLst>
        </p14:section>
        <p14:section name="Stage 2: Trader Dress Rehearsal" id="{5EB53D4B-5185-49B9-B688-16D35A65A69B}">
          <p14:sldIdLst>
            <p14:sldId id="2147375957"/>
            <p14:sldId id="2147375801"/>
            <p14:sldId id="2147375969"/>
            <p14:sldId id="2147376052"/>
            <p14:sldId id="2147376053"/>
            <p14:sldId id="2147376045"/>
            <p14:sldId id="2147376071"/>
          </p14:sldIdLst>
        </p14:section>
        <p14:section name="Stage 3: CDS Live" id="{2B4A8F3D-6F5E-4172-89BF-4EDCB368769D}">
          <p14:sldIdLst>
            <p14:sldId id="2147375895"/>
            <p14:sldId id="2147375967"/>
            <p14:sldId id="2147376055"/>
            <p14:sldId id="2147375924"/>
            <p14:sldId id="2147376058"/>
          </p14:sldIdLst>
        </p14:section>
        <p14:section name="Help and Support" id="{AA62DE0D-C31B-4AB8-B205-7DA583483A17}">
          <p14:sldIdLst>
            <p14:sldId id="2147375959"/>
            <p14:sldId id="2147376069"/>
            <p14:sldId id="2147375943"/>
            <p14:sldId id="2147376070"/>
            <p14:sldId id="2147376063"/>
            <p14:sldId id="2147376062"/>
          </p14:sldIdLst>
        </p14:section>
        <p14:section name="Query Process" id="{5B53BD64-79ED-4A81-A14B-D12AA6DBBF2E}">
          <p14:sldIdLst>
            <p14:sldId id="2147375960"/>
            <p14:sldId id="2147375948"/>
          </p14:sldIdLst>
        </p14:section>
        <p14:section name="Glossary" id="{C1A89A14-7E19-48AE-B7F5-E2BEB7144413}">
          <p14:sldIdLst>
            <p14:sldId id="2147375961"/>
            <p14:sldId id="2147376064"/>
            <p14:sldId id="2147376065"/>
            <p14:sldId id="2147376066"/>
            <p14:sldId id="2147376067"/>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3EE80A-4D39-2975-73F8-5F1DB9011C45}" name="Tienabeso, Kamari (CDIO)" initials="TK(" userId="S::kamari.tienabeso@hmrc.gov.uk::a8775cbf-055e-4c9f-860b-d352f9074d81" providerId="AD"/>
  <p188:author id="{03839A0D-76E0-3FB9-9CE1-94B297CBB4A6}" name="Robinson, Anna (CDIO)" initials="RA(" userId="S::anna.robinson1@hmrc.gov.uk::491c23b1-0942-4d10-b32d-9da7fcfb8911" providerId="AD"/>
  <p188:author id="{CB4F5313-3535-6A16-744B-410A0617DCEE}" name="Brimelow, Claire (CDIO Borders and Trade)" initials="BT" userId="S::claire.brimelow@hmrc.gov.uk::7179fad4-f2f3-4c8c-9d83-f1dca7496d89" providerId="AD"/>
  <p188:author id="{DAC81F1C-C408-27DC-D3F9-8A5CBDBAFB3F}" name="Cheaib, Rabih (CDIO Accenture)" initials="CR(A" userId="S::rabih.cheaib@hmrc.gov.uk::35ed8c1e-462d-432e-8c1f-fc99617addb1" providerId="AD"/>
  <p188:author id="{9A0E1421-0FC2-A7ED-AEB6-0540BD996610}" name="Vallath, Jay (CDIO)" initials="VJ(" userId="S::jay.vallath@hmrc.gov.uk::ef244c1e-6f82-437f-b0e7-da929c184791" providerId="AD"/>
  <p188:author id="{D1726425-7F6E-C167-1E4C-FA395B22B198}" name="Cameron, Raymond (CDIO Enterprise Platform Services)" initials="CS" userId="S::raymond.cameron@hmrc.gov.uk::b7fabd50-f595-4065-8571-e8cd71350682" providerId="AD"/>
  <p188:author id="{E2D9DB69-4125-5386-F230-7DBB9FCDEC9F}" name="Davies, Mari (CDIO)" initials="DM(" userId="S::mari.davies@hmrc.gov.uk::b5d2cbf7-e85d-47f6-a623-96098133e90c" providerId="AD"/>
  <p188:author id="{62F99280-7D60-F829-ECF7-DBBC06504CA1}" name="Clarke, Michael (CDIO)" initials="CM(" userId="S::michael.clarke5@hmrc.gov.uk::1b9c91ca-3dc7-4197-875b-a7af0beda5d0" providerId="AD"/>
  <p188:author id="{A6CF40B8-77A4-4337-8182-50E37CB15032}" name="Kailondo, Jasmin (CDIO)" initials="KJ(" userId="S::jasmin.kailondo@hmrc.gov.uk::fafde8dc-bbc7-45f0-a24e-098f1b0f6b8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orey, Fiona (CDIO)" initials="MF(" lastIdx="1" clrIdx="0">
    <p:extLst>
      <p:ext uri="{19B8F6BF-5375-455C-9EA6-DF929625EA0E}">
        <p15:presenceInfo xmlns:p15="http://schemas.microsoft.com/office/powerpoint/2012/main" userId="S::fiona.morey1@hmrc.gov.uk::59650328-c087-4b00-a171-91fc550198b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28D"/>
    <a:srgbClr val="000000"/>
    <a:srgbClr val="2C627A"/>
    <a:srgbClr val="008680"/>
    <a:srgbClr val="214A5D"/>
    <a:srgbClr val="898989"/>
    <a:srgbClr val="C8E6E5"/>
    <a:srgbClr val="98D0CD"/>
    <a:srgbClr val="A3C9D6"/>
    <a:srgbClr val="7EC4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876" y="90"/>
      </p:cViewPr>
      <p:guideLst>
        <p:guide orient="horz" pos="218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14"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3.xml><?xml version="1.0" encoding="utf-8"?>
<dgm:dataModel xmlns:dgm="http://schemas.openxmlformats.org/drawingml/2006/diagram" xmlns:a="http://schemas.openxmlformats.org/drawingml/2006/main">
  <dgm:ptLst>
    <dgm:pt modelId="{37F35CD0-A6CB-478A-8410-8EAB2B0519A3}" type="doc">
      <dgm:prSet loTypeId="urn:microsoft.com/office/officeart/2005/8/layout/hChevron3" loCatId="process" qsTypeId="urn:microsoft.com/office/officeart/2005/8/quickstyle/simple5" qsCatId="simple" csTypeId="urn:microsoft.com/office/officeart/2005/8/colors/accent1_2" csCatId="accent1" phldr="1"/>
      <dgm:spPr/>
    </dgm:pt>
    <dgm:pt modelId="{13928E58-2D61-4BD1-82BB-99436FDC2596}">
      <dgm:prSet phldrT="[Text]"/>
      <dgm:spPr>
        <a:solidFill>
          <a:srgbClr val="008680"/>
        </a:solidFill>
      </dgm:spPr>
      <dgm:t>
        <a:bodyPr/>
        <a:lstStyle/>
        <a:p>
          <a:endParaRPr lang="en-GB"/>
        </a:p>
      </dgm:t>
    </dgm:pt>
    <dgm:pt modelId="{BD4ACA48-801C-4B1E-B174-0F6675C0ED7F}" type="parTrans" cxnId="{EC2CB187-BE83-40B3-8AF1-E1BC85604D25}">
      <dgm:prSet/>
      <dgm:spPr/>
      <dgm:t>
        <a:bodyPr/>
        <a:lstStyle/>
        <a:p>
          <a:endParaRPr lang="en-GB"/>
        </a:p>
      </dgm:t>
    </dgm:pt>
    <dgm:pt modelId="{0A819706-84CA-4A6D-9604-698ADEF614D3}" type="sibTrans" cxnId="{EC2CB187-BE83-40B3-8AF1-E1BC85604D25}">
      <dgm:prSet/>
      <dgm:spPr/>
      <dgm:t>
        <a:bodyPr/>
        <a:lstStyle/>
        <a:p>
          <a:endParaRPr lang="en-GB"/>
        </a:p>
      </dgm:t>
    </dgm:pt>
    <dgm:pt modelId="{9F76DE47-A77D-4F44-AE0F-D2FEC6817F1F}">
      <dgm:prSet phldrT="[Text]"/>
      <dgm:spPr>
        <a:solidFill>
          <a:srgbClr val="A3C9D6"/>
        </a:solidFill>
      </dgm:spPr>
      <dgm:t>
        <a:bodyPr/>
        <a:lstStyle/>
        <a:p>
          <a:endParaRPr lang="en-GB"/>
        </a:p>
      </dgm:t>
    </dgm:pt>
    <dgm:pt modelId="{10CD1A1C-D70D-4A84-B143-BFFB8A1A49F0}" type="parTrans" cxnId="{B9C6B260-575C-4BAF-8113-ADAEBE8A7431}">
      <dgm:prSet/>
      <dgm:spPr/>
      <dgm:t>
        <a:bodyPr/>
        <a:lstStyle/>
        <a:p>
          <a:endParaRPr lang="en-GB"/>
        </a:p>
      </dgm:t>
    </dgm:pt>
    <dgm:pt modelId="{FBD87690-C6BD-4F11-AC71-6F1A3F8CC7A7}" type="sibTrans" cxnId="{B9C6B260-575C-4BAF-8113-ADAEBE8A7431}">
      <dgm:prSet/>
      <dgm:spPr/>
      <dgm:t>
        <a:bodyPr/>
        <a:lstStyle/>
        <a:p>
          <a:endParaRPr lang="en-GB"/>
        </a:p>
      </dgm:t>
    </dgm:pt>
    <dgm:pt modelId="{801B5E23-DA0F-4CE5-9545-DDDE8DDD725A}">
      <dgm:prSet phldrT="[Text]"/>
      <dgm:spPr>
        <a:solidFill>
          <a:srgbClr val="2C627A"/>
        </a:solidFill>
      </dgm:spPr>
      <dgm:t>
        <a:bodyPr/>
        <a:lstStyle/>
        <a:p>
          <a:endParaRPr lang="en-GB"/>
        </a:p>
      </dgm:t>
    </dgm:pt>
    <dgm:pt modelId="{530F8A91-E2F4-4B9A-ADDA-71D78FC3C5F3}" type="parTrans" cxnId="{CFAF1E5D-878B-4883-A3B7-B6E6C8236C1C}">
      <dgm:prSet/>
      <dgm:spPr/>
      <dgm:t>
        <a:bodyPr/>
        <a:lstStyle/>
        <a:p>
          <a:endParaRPr lang="en-GB"/>
        </a:p>
      </dgm:t>
    </dgm:pt>
    <dgm:pt modelId="{93CD4E0C-5342-4E61-B63C-DCD35F897F71}" type="sibTrans" cxnId="{CFAF1E5D-878B-4883-A3B7-B6E6C8236C1C}">
      <dgm:prSet/>
      <dgm:spPr/>
      <dgm:t>
        <a:bodyPr/>
        <a:lstStyle/>
        <a:p>
          <a:endParaRPr lang="en-GB"/>
        </a:p>
      </dgm:t>
    </dgm:pt>
    <dgm:pt modelId="{2924B709-1096-4235-AB45-D060E2076B8A}">
      <dgm:prSet/>
      <dgm:spPr>
        <a:solidFill>
          <a:srgbClr val="808080"/>
        </a:solidFill>
      </dgm:spPr>
      <dgm:t>
        <a:bodyPr/>
        <a:lstStyle/>
        <a:p>
          <a:endParaRPr lang="en-GB"/>
        </a:p>
      </dgm:t>
    </dgm:pt>
    <dgm:pt modelId="{25B47853-4D55-4631-8E16-E9D9A0358774}" type="parTrans" cxnId="{8F311BF8-20DF-445C-9683-780684518DAD}">
      <dgm:prSet/>
      <dgm:spPr/>
      <dgm:t>
        <a:bodyPr/>
        <a:lstStyle/>
        <a:p>
          <a:endParaRPr lang="en-GB"/>
        </a:p>
      </dgm:t>
    </dgm:pt>
    <dgm:pt modelId="{C2EFD44B-98D4-42F3-A419-E6D9FC70A0E5}" type="sibTrans" cxnId="{8F311BF8-20DF-445C-9683-780684518DAD}">
      <dgm:prSet/>
      <dgm:spPr/>
      <dgm:t>
        <a:bodyPr/>
        <a:lstStyle/>
        <a:p>
          <a:endParaRPr lang="en-GB"/>
        </a:p>
      </dgm:t>
    </dgm:pt>
    <dgm:pt modelId="{873F8360-D006-4BF5-A35F-CC0ABB2270D6}">
      <dgm:prSet/>
      <dgm:spPr>
        <a:solidFill>
          <a:srgbClr val="86B5B3"/>
        </a:solidFill>
      </dgm:spPr>
      <dgm:t>
        <a:bodyPr/>
        <a:lstStyle/>
        <a:p>
          <a:endParaRPr lang="en-GB"/>
        </a:p>
      </dgm:t>
    </dgm:pt>
    <dgm:pt modelId="{E4AA3243-1145-480D-B62D-4D693A598367}" type="parTrans" cxnId="{1C34BB43-E963-4D1A-9A6D-341775A66C9C}">
      <dgm:prSet/>
      <dgm:spPr/>
      <dgm:t>
        <a:bodyPr/>
        <a:lstStyle/>
        <a:p>
          <a:endParaRPr lang="en-GB"/>
        </a:p>
      </dgm:t>
    </dgm:pt>
    <dgm:pt modelId="{84C5BCA5-3ECB-4188-A104-5C53E15DA591}" type="sibTrans" cxnId="{1C34BB43-E963-4D1A-9A6D-341775A66C9C}">
      <dgm:prSet/>
      <dgm:spPr/>
      <dgm:t>
        <a:bodyPr/>
        <a:lstStyle/>
        <a:p>
          <a:endParaRPr lang="en-GB"/>
        </a:p>
      </dgm:t>
    </dgm:pt>
    <dgm:pt modelId="{75A61A05-5BDC-4898-AB59-552DFA06AA4A}">
      <dgm:prSet/>
      <dgm:spPr>
        <a:solidFill>
          <a:srgbClr val="008680"/>
        </a:solidFill>
      </dgm:spPr>
      <dgm:t>
        <a:bodyPr/>
        <a:lstStyle/>
        <a:p>
          <a:endParaRPr lang="en-GB"/>
        </a:p>
      </dgm:t>
    </dgm:pt>
    <dgm:pt modelId="{60B7FD9F-4E3C-45F3-BD8B-3EF50692CB8F}" type="parTrans" cxnId="{E7B0E2C0-606E-46D7-A93D-3C65BF02F4DD}">
      <dgm:prSet/>
      <dgm:spPr/>
      <dgm:t>
        <a:bodyPr/>
        <a:lstStyle/>
        <a:p>
          <a:endParaRPr lang="en-GB"/>
        </a:p>
      </dgm:t>
    </dgm:pt>
    <dgm:pt modelId="{F06E6308-74DD-4C7E-B105-0161392A1E7C}" type="sibTrans" cxnId="{E7B0E2C0-606E-46D7-A93D-3C65BF02F4DD}">
      <dgm:prSet/>
      <dgm:spPr/>
      <dgm:t>
        <a:bodyPr/>
        <a:lstStyle/>
        <a:p>
          <a:endParaRPr lang="en-GB"/>
        </a:p>
      </dgm:t>
    </dgm:pt>
    <dgm:pt modelId="{D2307EB7-E7DA-4A78-AD05-77B4DBCDFC8D}">
      <dgm:prSet/>
      <dgm:spPr>
        <a:solidFill>
          <a:srgbClr val="3B80A1"/>
        </a:solidFill>
      </dgm:spPr>
      <dgm:t>
        <a:bodyPr/>
        <a:lstStyle/>
        <a:p>
          <a:endParaRPr lang="en-GB"/>
        </a:p>
      </dgm:t>
    </dgm:pt>
    <dgm:pt modelId="{EDBDCC66-517F-441A-BFAF-74F56AB965AC}" type="parTrans" cxnId="{99DE3722-B918-49CF-A8C9-2FD975230F17}">
      <dgm:prSet/>
      <dgm:spPr/>
      <dgm:t>
        <a:bodyPr/>
        <a:lstStyle/>
        <a:p>
          <a:endParaRPr lang="en-GB"/>
        </a:p>
      </dgm:t>
    </dgm:pt>
    <dgm:pt modelId="{D1A9531C-D581-4F67-9611-D62CCE8DFFD6}" type="sibTrans" cxnId="{99DE3722-B918-49CF-A8C9-2FD975230F17}">
      <dgm:prSet/>
      <dgm:spPr/>
      <dgm:t>
        <a:bodyPr/>
        <a:lstStyle/>
        <a:p>
          <a:endParaRPr lang="en-GB"/>
        </a:p>
      </dgm:t>
    </dgm:pt>
    <dgm:pt modelId="{EFFEEAFE-05A2-4D81-B3EC-25EFE0733BAE}" type="pres">
      <dgm:prSet presAssocID="{37F35CD0-A6CB-478A-8410-8EAB2B0519A3}" presName="Name0" presStyleCnt="0">
        <dgm:presLayoutVars>
          <dgm:dir/>
          <dgm:resizeHandles val="exact"/>
        </dgm:presLayoutVars>
      </dgm:prSet>
      <dgm:spPr/>
    </dgm:pt>
    <dgm:pt modelId="{C8FED935-A006-46CB-A90D-AB49BF215BE3}" type="pres">
      <dgm:prSet presAssocID="{13928E58-2D61-4BD1-82BB-99436FDC2596}" presName="parTxOnly" presStyleLbl="node1" presStyleIdx="0" presStyleCnt="7" custScaleY="83508">
        <dgm:presLayoutVars>
          <dgm:bulletEnabled val="1"/>
        </dgm:presLayoutVars>
      </dgm:prSet>
      <dgm:spPr/>
    </dgm:pt>
    <dgm:pt modelId="{A2A49D2C-F3C4-4EDD-92E7-7736556D4B9D}" type="pres">
      <dgm:prSet presAssocID="{0A819706-84CA-4A6D-9604-698ADEF614D3}" presName="parSpace" presStyleCnt="0"/>
      <dgm:spPr/>
    </dgm:pt>
    <dgm:pt modelId="{15FFB3ED-2DA1-46F6-9733-794349E549F4}" type="pres">
      <dgm:prSet presAssocID="{9F76DE47-A77D-4F44-AE0F-D2FEC6817F1F}" presName="parTxOnly" presStyleLbl="node1" presStyleIdx="1" presStyleCnt="7" custScaleY="83508">
        <dgm:presLayoutVars>
          <dgm:bulletEnabled val="1"/>
        </dgm:presLayoutVars>
      </dgm:prSet>
      <dgm:spPr/>
    </dgm:pt>
    <dgm:pt modelId="{97164700-07C1-47DD-851E-BBF0A9D74A7F}" type="pres">
      <dgm:prSet presAssocID="{FBD87690-C6BD-4F11-AC71-6F1A3F8CC7A7}" presName="parSpace" presStyleCnt="0"/>
      <dgm:spPr/>
    </dgm:pt>
    <dgm:pt modelId="{31977B8E-5E59-4A53-88D1-028F0D732453}" type="pres">
      <dgm:prSet presAssocID="{801B5E23-DA0F-4CE5-9545-DDDE8DDD725A}" presName="parTxOnly" presStyleLbl="node1" presStyleIdx="2" presStyleCnt="7" custScaleY="83508">
        <dgm:presLayoutVars>
          <dgm:bulletEnabled val="1"/>
        </dgm:presLayoutVars>
      </dgm:prSet>
      <dgm:spPr/>
    </dgm:pt>
    <dgm:pt modelId="{81C6A181-3E47-4940-BA3E-146E2694F96A}" type="pres">
      <dgm:prSet presAssocID="{93CD4E0C-5342-4E61-B63C-DCD35F897F71}" presName="parSpace" presStyleCnt="0"/>
      <dgm:spPr/>
    </dgm:pt>
    <dgm:pt modelId="{143CF11E-CB29-4FFF-AD42-1A681D388693}" type="pres">
      <dgm:prSet presAssocID="{2924B709-1096-4235-AB45-D060E2076B8A}" presName="parTxOnly" presStyleLbl="node1" presStyleIdx="3" presStyleCnt="7" custScaleY="83508">
        <dgm:presLayoutVars>
          <dgm:bulletEnabled val="1"/>
        </dgm:presLayoutVars>
      </dgm:prSet>
      <dgm:spPr/>
    </dgm:pt>
    <dgm:pt modelId="{CC733CD2-B6BF-4D1F-8B3E-76E92EA7BE53}" type="pres">
      <dgm:prSet presAssocID="{C2EFD44B-98D4-42F3-A419-E6D9FC70A0E5}" presName="parSpace" presStyleCnt="0"/>
      <dgm:spPr/>
    </dgm:pt>
    <dgm:pt modelId="{915B0CAB-EC83-47C1-89B8-8C442D572413}" type="pres">
      <dgm:prSet presAssocID="{873F8360-D006-4BF5-A35F-CC0ABB2270D6}" presName="parTxOnly" presStyleLbl="node1" presStyleIdx="4" presStyleCnt="7" custScaleY="83508">
        <dgm:presLayoutVars>
          <dgm:bulletEnabled val="1"/>
        </dgm:presLayoutVars>
      </dgm:prSet>
      <dgm:spPr/>
    </dgm:pt>
    <dgm:pt modelId="{F2B5A83C-B5B5-4B0A-A477-6FEA0811870B}" type="pres">
      <dgm:prSet presAssocID="{84C5BCA5-3ECB-4188-A104-5C53E15DA591}" presName="parSpace" presStyleCnt="0"/>
      <dgm:spPr/>
    </dgm:pt>
    <dgm:pt modelId="{28F0B239-02A4-4989-A249-7890D66CB79E}" type="pres">
      <dgm:prSet presAssocID="{75A61A05-5BDC-4898-AB59-552DFA06AA4A}" presName="parTxOnly" presStyleLbl="node1" presStyleIdx="5" presStyleCnt="7" custScaleY="83508">
        <dgm:presLayoutVars>
          <dgm:bulletEnabled val="1"/>
        </dgm:presLayoutVars>
      </dgm:prSet>
      <dgm:spPr/>
    </dgm:pt>
    <dgm:pt modelId="{165F47F0-D5DF-4485-9EEE-B50480254B50}" type="pres">
      <dgm:prSet presAssocID="{F06E6308-74DD-4C7E-B105-0161392A1E7C}" presName="parSpace" presStyleCnt="0"/>
      <dgm:spPr/>
    </dgm:pt>
    <dgm:pt modelId="{944BA7DF-4122-4AF2-80CA-8512E2AD5979}" type="pres">
      <dgm:prSet presAssocID="{D2307EB7-E7DA-4A78-AD05-77B4DBCDFC8D}" presName="parTxOnly" presStyleLbl="node1" presStyleIdx="6" presStyleCnt="7" custScaleY="83508">
        <dgm:presLayoutVars>
          <dgm:bulletEnabled val="1"/>
        </dgm:presLayoutVars>
      </dgm:prSet>
      <dgm:spPr/>
    </dgm:pt>
  </dgm:ptLst>
  <dgm:cxnLst>
    <dgm:cxn modelId="{CF21B71B-32B5-499D-B208-7B8832F4AD3D}" type="presOf" srcId="{9F76DE47-A77D-4F44-AE0F-D2FEC6817F1F}" destId="{15FFB3ED-2DA1-46F6-9733-794349E549F4}" srcOrd="0" destOrd="0" presId="urn:microsoft.com/office/officeart/2005/8/layout/hChevron3"/>
    <dgm:cxn modelId="{99DE3722-B918-49CF-A8C9-2FD975230F17}" srcId="{37F35CD0-A6CB-478A-8410-8EAB2B0519A3}" destId="{D2307EB7-E7DA-4A78-AD05-77B4DBCDFC8D}" srcOrd="6" destOrd="0" parTransId="{EDBDCC66-517F-441A-BFAF-74F56AB965AC}" sibTransId="{D1A9531C-D581-4F67-9611-D62CCE8DFFD6}"/>
    <dgm:cxn modelId="{CFAF1E5D-878B-4883-A3B7-B6E6C8236C1C}" srcId="{37F35CD0-A6CB-478A-8410-8EAB2B0519A3}" destId="{801B5E23-DA0F-4CE5-9545-DDDE8DDD725A}" srcOrd="2" destOrd="0" parTransId="{530F8A91-E2F4-4B9A-ADDA-71D78FC3C5F3}" sibTransId="{93CD4E0C-5342-4E61-B63C-DCD35F897F71}"/>
    <dgm:cxn modelId="{B9C6B260-575C-4BAF-8113-ADAEBE8A7431}" srcId="{37F35CD0-A6CB-478A-8410-8EAB2B0519A3}" destId="{9F76DE47-A77D-4F44-AE0F-D2FEC6817F1F}" srcOrd="1" destOrd="0" parTransId="{10CD1A1C-D70D-4A84-B143-BFFB8A1A49F0}" sibTransId="{FBD87690-C6BD-4F11-AC71-6F1A3F8CC7A7}"/>
    <dgm:cxn modelId="{1C34BB43-E963-4D1A-9A6D-341775A66C9C}" srcId="{37F35CD0-A6CB-478A-8410-8EAB2B0519A3}" destId="{873F8360-D006-4BF5-A35F-CC0ABB2270D6}" srcOrd="4" destOrd="0" parTransId="{E4AA3243-1145-480D-B62D-4D693A598367}" sibTransId="{84C5BCA5-3ECB-4188-A104-5C53E15DA591}"/>
    <dgm:cxn modelId="{1319CC66-5566-43D1-841A-DA13CA785358}" type="presOf" srcId="{801B5E23-DA0F-4CE5-9545-DDDE8DDD725A}" destId="{31977B8E-5E59-4A53-88D1-028F0D732453}" srcOrd="0" destOrd="0" presId="urn:microsoft.com/office/officeart/2005/8/layout/hChevron3"/>
    <dgm:cxn modelId="{3CFEBE67-7532-486C-A009-2CECD3158471}" type="presOf" srcId="{37F35CD0-A6CB-478A-8410-8EAB2B0519A3}" destId="{EFFEEAFE-05A2-4D81-B3EC-25EFE0733BAE}" srcOrd="0" destOrd="0" presId="urn:microsoft.com/office/officeart/2005/8/layout/hChevron3"/>
    <dgm:cxn modelId="{36DD7A49-FB59-466D-BD70-19D17CF1C7F9}" type="presOf" srcId="{2924B709-1096-4235-AB45-D060E2076B8A}" destId="{143CF11E-CB29-4FFF-AD42-1A681D388693}" srcOrd="0" destOrd="0" presId="urn:microsoft.com/office/officeart/2005/8/layout/hChevron3"/>
    <dgm:cxn modelId="{DC2C9155-07AD-44C8-8A59-AD729C525BBB}" type="presOf" srcId="{75A61A05-5BDC-4898-AB59-552DFA06AA4A}" destId="{28F0B239-02A4-4989-A249-7890D66CB79E}" srcOrd="0" destOrd="0" presId="urn:microsoft.com/office/officeart/2005/8/layout/hChevron3"/>
    <dgm:cxn modelId="{EC2CB187-BE83-40B3-8AF1-E1BC85604D25}" srcId="{37F35CD0-A6CB-478A-8410-8EAB2B0519A3}" destId="{13928E58-2D61-4BD1-82BB-99436FDC2596}" srcOrd="0" destOrd="0" parTransId="{BD4ACA48-801C-4B1E-B174-0F6675C0ED7F}" sibTransId="{0A819706-84CA-4A6D-9604-698ADEF614D3}"/>
    <dgm:cxn modelId="{68A2BFA7-DC39-4B37-8478-7B9056758F1C}" type="presOf" srcId="{13928E58-2D61-4BD1-82BB-99436FDC2596}" destId="{C8FED935-A006-46CB-A90D-AB49BF215BE3}" srcOrd="0" destOrd="0" presId="urn:microsoft.com/office/officeart/2005/8/layout/hChevron3"/>
    <dgm:cxn modelId="{C22CDFAF-6EAD-4238-8AA9-2E54A59C2835}" type="presOf" srcId="{D2307EB7-E7DA-4A78-AD05-77B4DBCDFC8D}" destId="{944BA7DF-4122-4AF2-80CA-8512E2AD5979}" srcOrd="0" destOrd="0" presId="urn:microsoft.com/office/officeart/2005/8/layout/hChevron3"/>
    <dgm:cxn modelId="{E7B0E2C0-606E-46D7-A93D-3C65BF02F4DD}" srcId="{37F35CD0-A6CB-478A-8410-8EAB2B0519A3}" destId="{75A61A05-5BDC-4898-AB59-552DFA06AA4A}" srcOrd="5" destOrd="0" parTransId="{60B7FD9F-4E3C-45F3-BD8B-3EF50692CB8F}" sibTransId="{F06E6308-74DD-4C7E-B105-0161392A1E7C}"/>
    <dgm:cxn modelId="{8F311BF8-20DF-445C-9683-780684518DAD}" srcId="{37F35CD0-A6CB-478A-8410-8EAB2B0519A3}" destId="{2924B709-1096-4235-AB45-D060E2076B8A}" srcOrd="3" destOrd="0" parTransId="{25B47853-4D55-4631-8E16-E9D9A0358774}" sibTransId="{C2EFD44B-98D4-42F3-A419-E6D9FC70A0E5}"/>
    <dgm:cxn modelId="{AFA1A1FD-E873-4655-91E2-42ACE8BF0FAB}" type="presOf" srcId="{873F8360-D006-4BF5-A35F-CC0ABB2270D6}" destId="{915B0CAB-EC83-47C1-89B8-8C442D572413}" srcOrd="0" destOrd="0" presId="urn:microsoft.com/office/officeart/2005/8/layout/hChevron3"/>
    <dgm:cxn modelId="{E5B7F815-48C2-4966-894F-01FC93E29B6D}" type="presParOf" srcId="{EFFEEAFE-05A2-4D81-B3EC-25EFE0733BAE}" destId="{C8FED935-A006-46CB-A90D-AB49BF215BE3}" srcOrd="0" destOrd="0" presId="urn:microsoft.com/office/officeart/2005/8/layout/hChevron3"/>
    <dgm:cxn modelId="{EA2105AA-D974-4C35-BC5F-7B604BB69B7D}" type="presParOf" srcId="{EFFEEAFE-05A2-4D81-B3EC-25EFE0733BAE}" destId="{A2A49D2C-F3C4-4EDD-92E7-7736556D4B9D}" srcOrd="1" destOrd="0" presId="urn:microsoft.com/office/officeart/2005/8/layout/hChevron3"/>
    <dgm:cxn modelId="{3474500E-DAA0-4826-9730-A5B4B1941E57}" type="presParOf" srcId="{EFFEEAFE-05A2-4D81-B3EC-25EFE0733BAE}" destId="{15FFB3ED-2DA1-46F6-9733-794349E549F4}" srcOrd="2" destOrd="0" presId="urn:microsoft.com/office/officeart/2005/8/layout/hChevron3"/>
    <dgm:cxn modelId="{6CA6474C-0633-438A-9F2C-1B6DF7B024FD}" type="presParOf" srcId="{EFFEEAFE-05A2-4D81-B3EC-25EFE0733BAE}" destId="{97164700-07C1-47DD-851E-BBF0A9D74A7F}" srcOrd="3" destOrd="0" presId="urn:microsoft.com/office/officeart/2005/8/layout/hChevron3"/>
    <dgm:cxn modelId="{8E319B64-11F6-451A-9FB8-3B6BD9C4368F}" type="presParOf" srcId="{EFFEEAFE-05A2-4D81-B3EC-25EFE0733BAE}" destId="{31977B8E-5E59-4A53-88D1-028F0D732453}" srcOrd="4" destOrd="0" presId="urn:microsoft.com/office/officeart/2005/8/layout/hChevron3"/>
    <dgm:cxn modelId="{2DCC8B05-F2E7-4A8D-B28B-DA97241F9730}" type="presParOf" srcId="{EFFEEAFE-05A2-4D81-B3EC-25EFE0733BAE}" destId="{81C6A181-3E47-4940-BA3E-146E2694F96A}" srcOrd="5" destOrd="0" presId="urn:microsoft.com/office/officeart/2005/8/layout/hChevron3"/>
    <dgm:cxn modelId="{DF617896-AD7D-4DF6-859A-B4E10CDF666E}" type="presParOf" srcId="{EFFEEAFE-05A2-4D81-B3EC-25EFE0733BAE}" destId="{143CF11E-CB29-4FFF-AD42-1A681D388693}" srcOrd="6" destOrd="0" presId="urn:microsoft.com/office/officeart/2005/8/layout/hChevron3"/>
    <dgm:cxn modelId="{50B6D211-A80D-48A7-9732-5D5A84356536}" type="presParOf" srcId="{EFFEEAFE-05A2-4D81-B3EC-25EFE0733BAE}" destId="{CC733CD2-B6BF-4D1F-8B3E-76E92EA7BE53}" srcOrd="7" destOrd="0" presId="urn:microsoft.com/office/officeart/2005/8/layout/hChevron3"/>
    <dgm:cxn modelId="{740747E1-746E-46DA-A33A-E59BD8705BE9}" type="presParOf" srcId="{EFFEEAFE-05A2-4D81-B3EC-25EFE0733BAE}" destId="{915B0CAB-EC83-47C1-89B8-8C442D572413}" srcOrd="8" destOrd="0" presId="urn:microsoft.com/office/officeart/2005/8/layout/hChevron3"/>
    <dgm:cxn modelId="{FAE0C8B9-9ACD-47A7-83AB-DEF10CFEA125}" type="presParOf" srcId="{EFFEEAFE-05A2-4D81-B3EC-25EFE0733BAE}" destId="{F2B5A83C-B5B5-4B0A-A477-6FEA0811870B}" srcOrd="9" destOrd="0" presId="urn:microsoft.com/office/officeart/2005/8/layout/hChevron3"/>
    <dgm:cxn modelId="{9C38C24F-0842-494D-8312-D60DB49A35C8}" type="presParOf" srcId="{EFFEEAFE-05A2-4D81-B3EC-25EFE0733BAE}" destId="{28F0B239-02A4-4989-A249-7890D66CB79E}" srcOrd="10" destOrd="0" presId="urn:microsoft.com/office/officeart/2005/8/layout/hChevron3"/>
    <dgm:cxn modelId="{DDF9334A-F5AF-4353-9FCD-44153C5FA144}" type="presParOf" srcId="{EFFEEAFE-05A2-4D81-B3EC-25EFE0733BAE}" destId="{165F47F0-D5DF-4485-9EEE-B50480254B50}" srcOrd="11" destOrd="0" presId="urn:microsoft.com/office/officeart/2005/8/layout/hChevron3"/>
    <dgm:cxn modelId="{7575E59B-B643-4F16-AF02-5D17E8D7BC0E}" type="presParOf" srcId="{EFFEEAFE-05A2-4D81-B3EC-25EFE0733BAE}" destId="{944BA7DF-4122-4AF2-80CA-8512E2AD5979}" srcOrd="1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627" y="567077"/>
          <a:ext cx="1914669" cy="639560"/>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1627" y="567077"/>
        <a:ext cx="1754779" cy="639560"/>
      </dsp:txXfrm>
    </dsp:sp>
    <dsp:sp modelId="{15FFB3ED-2DA1-46F6-9733-794349E549F4}">
      <dsp:nvSpPr>
        <dsp:cNvPr id="0" name=""/>
        <dsp:cNvSpPr/>
      </dsp:nvSpPr>
      <dsp:spPr>
        <a:xfrm>
          <a:off x="1533363" y="567077"/>
          <a:ext cx="1914669" cy="639560"/>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1853143" y="567077"/>
        <a:ext cx="1275109" cy="639560"/>
      </dsp:txXfrm>
    </dsp:sp>
    <dsp:sp modelId="{31977B8E-5E59-4A53-88D1-028F0D732453}">
      <dsp:nvSpPr>
        <dsp:cNvPr id="0" name=""/>
        <dsp:cNvSpPr/>
      </dsp:nvSpPr>
      <dsp:spPr>
        <a:xfrm>
          <a:off x="3065098" y="567077"/>
          <a:ext cx="1914669" cy="639560"/>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3384878" y="567077"/>
        <a:ext cx="1275109" cy="639560"/>
      </dsp:txXfrm>
    </dsp:sp>
    <dsp:sp modelId="{143CF11E-CB29-4FFF-AD42-1A681D388693}">
      <dsp:nvSpPr>
        <dsp:cNvPr id="0" name=""/>
        <dsp:cNvSpPr/>
      </dsp:nvSpPr>
      <dsp:spPr>
        <a:xfrm>
          <a:off x="4596834" y="567077"/>
          <a:ext cx="1914669" cy="639560"/>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4916614" y="567077"/>
        <a:ext cx="1275109" cy="639560"/>
      </dsp:txXfrm>
    </dsp:sp>
    <dsp:sp modelId="{915B0CAB-EC83-47C1-89B8-8C442D572413}">
      <dsp:nvSpPr>
        <dsp:cNvPr id="0" name=""/>
        <dsp:cNvSpPr/>
      </dsp:nvSpPr>
      <dsp:spPr>
        <a:xfrm>
          <a:off x="6128570" y="567077"/>
          <a:ext cx="1914669" cy="639560"/>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6448350" y="567077"/>
        <a:ext cx="1275109" cy="639560"/>
      </dsp:txXfrm>
    </dsp:sp>
    <dsp:sp modelId="{28F0B239-02A4-4989-A249-7890D66CB79E}">
      <dsp:nvSpPr>
        <dsp:cNvPr id="0" name=""/>
        <dsp:cNvSpPr/>
      </dsp:nvSpPr>
      <dsp:spPr>
        <a:xfrm>
          <a:off x="7660306" y="567077"/>
          <a:ext cx="1914669" cy="639560"/>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7980086" y="567077"/>
        <a:ext cx="1275109" cy="639560"/>
      </dsp:txXfrm>
    </dsp:sp>
    <dsp:sp modelId="{944BA7DF-4122-4AF2-80CA-8512E2AD5979}">
      <dsp:nvSpPr>
        <dsp:cNvPr id="0" name=""/>
        <dsp:cNvSpPr/>
      </dsp:nvSpPr>
      <dsp:spPr>
        <a:xfrm>
          <a:off x="9192042" y="567077"/>
          <a:ext cx="1914669" cy="639560"/>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endParaRPr lang="en-GB" sz="3300" kern="1200"/>
        </a:p>
      </dsp:txBody>
      <dsp:txXfrm>
        <a:off x="9511822" y="567077"/>
        <a:ext cx="1275109" cy="639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ED935-A006-46CB-A90D-AB49BF215BE3}">
      <dsp:nvSpPr>
        <dsp:cNvPr id="0" name=""/>
        <dsp:cNvSpPr/>
      </dsp:nvSpPr>
      <dsp:spPr>
        <a:xfrm>
          <a:off x="1002" y="258097"/>
          <a:ext cx="1179218" cy="393896"/>
        </a:xfrm>
        <a:prstGeom prst="homePlate">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002" y="258097"/>
        <a:ext cx="1080744" cy="393896"/>
      </dsp:txXfrm>
    </dsp:sp>
    <dsp:sp modelId="{15FFB3ED-2DA1-46F6-9733-794349E549F4}">
      <dsp:nvSpPr>
        <dsp:cNvPr id="0" name=""/>
        <dsp:cNvSpPr/>
      </dsp:nvSpPr>
      <dsp:spPr>
        <a:xfrm>
          <a:off x="944377" y="258097"/>
          <a:ext cx="1179218" cy="393896"/>
        </a:xfrm>
        <a:prstGeom prst="chevron">
          <a:avLst/>
        </a:prstGeom>
        <a:solidFill>
          <a:srgbClr val="A3C9D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141325" y="258097"/>
        <a:ext cx="785322" cy="393896"/>
      </dsp:txXfrm>
    </dsp:sp>
    <dsp:sp modelId="{31977B8E-5E59-4A53-88D1-028F0D732453}">
      <dsp:nvSpPr>
        <dsp:cNvPr id="0" name=""/>
        <dsp:cNvSpPr/>
      </dsp:nvSpPr>
      <dsp:spPr>
        <a:xfrm>
          <a:off x="1887751" y="258097"/>
          <a:ext cx="1179218" cy="393896"/>
        </a:xfrm>
        <a:prstGeom prst="chevron">
          <a:avLst/>
        </a:prstGeom>
        <a:solidFill>
          <a:srgbClr val="2C627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84699" y="258097"/>
        <a:ext cx="785322" cy="393896"/>
      </dsp:txXfrm>
    </dsp:sp>
    <dsp:sp modelId="{143CF11E-CB29-4FFF-AD42-1A681D388693}">
      <dsp:nvSpPr>
        <dsp:cNvPr id="0" name=""/>
        <dsp:cNvSpPr/>
      </dsp:nvSpPr>
      <dsp:spPr>
        <a:xfrm>
          <a:off x="2831126" y="258097"/>
          <a:ext cx="1179218" cy="393896"/>
        </a:xfrm>
        <a:prstGeom prst="chevron">
          <a:avLst/>
        </a:prstGeom>
        <a:solidFill>
          <a:srgbClr val="8080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028074" y="258097"/>
        <a:ext cx="785322" cy="393896"/>
      </dsp:txXfrm>
    </dsp:sp>
    <dsp:sp modelId="{915B0CAB-EC83-47C1-89B8-8C442D572413}">
      <dsp:nvSpPr>
        <dsp:cNvPr id="0" name=""/>
        <dsp:cNvSpPr/>
      </dsp:nvSpPr>
      <dsp:spPr>
        <a:xfrm>
          <a:off x="3774501" y="258097"/>
          <a:ext cx="1179218" cy="393896"/>
        </a:xfrm>
        <a:prstGeom prst="chevron">
          <a:avLst/>
        </a:prstGeom>
        <a:solidFill>
          <a:srgbClr val="86B5B3"/>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971449" y="258097"/>
        <a:ext cx="785322" cy="393896"/>
      </dsp:txXfrm>
    </dsp:sp>
    <dsp:sp modelId="{28F0B239-02A4-4989-A249-7890D66CB79E}">
      <dsp:nvSpPr>
        <dsp:cNvPr id="0" name=""/>
        <dsp:cNvSpPr/>
      </dsp:nvSpPr>
      <dsp:spPr>
        <a:xfrm>
          <a:off x="4717876" y="258097"/>
          <a:ext cx="1179218" cy="393896"/>
        </a:xfrm>
        <a:prstGeom prst="chevron">
          <a:avLst/>
        </a:prstGeom>
        <a:solidFill>
          <a:srgbClr val="00868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914824" y="258097"/>
        <a:ext cx="785322" cy="393896"/>
      </dsp:txXfrm>
    </dsp:sp>
    <dsp:sp modelId="{944BA7DF-4122-4AF2-80CA-8512E2AD5979}">
      <dsp:nvSpPr>
        <dsp:cNvPr id="0" name=""/>
        <dsp:cNvSpPr/>
      </dsp:nvSpPr>
      <dsp:spPr>
        <a:xfrm>
          <a:off x="5661251" y="258097"/>
          <a:ext cx="1179218" cy="393896"/>
        </a:xfrm>
        <a:prstGeom prst="chevron">
          <a:avLst/>
        </a:prstGeom>
        <a:solidFill>
          <a:srgbClr val="3B80A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858199" y="258097"/>
        <a:ext cx="785322" cy="393896"/>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E0A8B7-D852-42C2-8A07-4B6EA7AC3A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609947E-F61F-4E6C-88AB-C2B765F00D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91F994-CB67-4C8A-B523-FF8D902559B5}" type="datetimeFigureOut">
              <a:rPr lang="en-GB" smtClean="0"/>
              <a:t>07/02/2024</a:t>
            </a:fld>
            <a:endParaRPr lang="en-GB"/>
          </a:p>
        </p:txBody>
      </p:sp>
      <p:sp>
        <p:nvSpPr>
          <p:cNvPr id="4" name="Footer Placeholder 3">
            <a:extLst>
              <a:ext uri="{FF2B5EF4-FFF2-40B4-BE49-F238E27FC236}">
                <a16:creationId xmlns:a16="http://schemas.microsoft.com/office/drawing/2014/main" id="{DDF6355F-E7C0-4CA4-8212-992649FA9F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8CD8F5C-45BA-4252-9D3E-A9CE0AF7AD8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A47C47-6B8D-41AC-8011-1F9D0EE2BC9A}" type="slidenum">
              <a:rPr lang="en-GB" smtClean="0"/>
              <a:t>‹#›</a:t>
            </a:fld>
            <a:endParaRPr lang="en-GB"/>
          </a:p>
        </p:txBody>
      </p:sp>
    </p:spTree>
    <p:extLst>
      <p:ext uri="{BB962C8B-B14F-4D97-AF65-F5344CB8AC3E}">
        <p14:creationId xmlns:p14="http://schemas.microsoft.com/office/powerpoint/2010/main" val="33005167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A0C613-0416-4CB1-BBAF-BE9FE790DDCB}" type="datetimeFigureOut">
              <a:rPr lang="en-GB" smtClean="0"/>
              <a:t>07/02/2024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8D47E-D4FE-41AA-B721-31F3735C0FE1}" type="slidenum">
              <a:rPr lang="en-GB" smtClean="0"/>
              <a:t>‹#›</a:t>
            </a:fld>
            <a:endParaRPr lang="en-GB"/>
          </a:p>
        </p:txBody>
      </p:sp>
    </p:spTree>
    <p:extLst>
      <p:ext uri="{BB962C8B-B14F-4D97-AF65-F5344CB8AC3E}">
        <p14:creationId xmlns:p14="http://schemas.microsoft.com/office/powerpoint/2010/main" val="270543746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p:txBody>
      </p:sp>
      <p:sp>
        <p:nvSpPr>
          <p:cNvPr id="4" name="Slide Number Placeholder 3"/>
          <p:cNvSpPr>
            <a:spLocks noGrp="1"/>
          </p:cNvSpPr>
          <p:nvPr>
            <p:ph type="sldNum" sz="quarter" idx="5"/>
          </p:nvPr>
        </p:nvSpPr>
        <p:spPr/>
        <p:txBody>
          <a:bodyPr/>
          <a:lstStyle/>
          <a:p>
            <a:fld id="{7B98D47E-D4FE-41AA-B721-31F3735C0FE1}" type="slidenum">
              <a:rPr lang="en-GB" smtClean="0"/>
              <a:t>2</a:t>
            </a:fld>
            <a:endParaRPr lang="en-GB"/>
          </a:p>
        </p:txBody>
      </p:sp>
    </p:spTree>
    <p:extLst>
      <p:ext uri="{BB962C8B-B14F-4D97-AF65-F5344CB8AC3E}">
        <p14:creationId xmlns:p14="http://schemas.microsoft.com/office/powerpoint/2010/main" val="2415775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7899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1668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9009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p:txBody>
      </p:sp>
      <p:sp>
        <p:nvSpPr>
          <p:cNvPr id="4" name="Slide Number Placeholder 3"/>
          <p:cNvSpPr>
            <a:spLocks noGrp="1"/>
          </p:cNvSpPr>
          <p:nvPr>
            <p:ph type="sldNum" sz="quarter" idx="5"/>
          </p:nvPr>
        </p:nvSpPr>
        <p:spPr/>
        <p:txBody>
          <a:bodyPr/>
          <a:lstStyle/>
          <a:p>
            <a:fld id="{7B98D47E-D4FE-41AA-B721-31F3735C0FE1}" type="slidenum">
              <a:rPr lang="en-GB" smtClean="0"/>
              <a:t>9</a:t>
            </a:fld>
            <a:endParaRPr lang="en-GB"/>
          </a:p>
        </p:txBody>
      </p:sp>
    </p:spTree>
    <p:extLst>
      <p:ext uri="{BB962C8B-B14F-4D97-AF65-F5344CB8AC3E}">
        <p14:creationId xmlns:p14="http://schemas.microsoft.com/office/powerpoint/2010/main" val="3670807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8D47E-D4FE-41AA-B721-31F3735C0FE1}" type="slidenum">
              <a:rPr lang="en-GB" smtClean="0"/>
              <a:t>10</a:t>
            </a:fld>
            <a:endParaRPr lang="en-GB"/>
          </a:p>
        </p:txBody>
      </p:sp>
    </p:spTree>
    <p:extLst>
      <p:ext uri="{BB962C8B-B14F-4D97-AF65-F5344CB8AC3E}">
        <p14:creationId xmlns:p14="http://schemas.microsoft.com/office/powerpoint/2010/main" val="1007925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58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p:txBody>
      </p:sp>
      <p:sp>
        <p:nvSpPr>
          <p:cNvPr id="4" name="Slide Number Placeholder 3"/>
          <p:cNvSpPr>
            <a:spLocks noGrp="1"/>
          </p:cNvSpPr>
          <p:nvPr>
            <p:ph type="sldNum" sz="quarter" idx="5"/>
          </p:nvPr>
        </p:nvSpPr>
        <p:spPr/>
        <p:txBody>
          <a:bodyPr/>
          <a:lstStyle/>
          <a:p>
            <a:fld id="{7B98D47E-D4FE-41AA-B721-31F3735C0FE1}" type="slidenum">
              <a:rPr lang="en-GB" smtClean="0"/>
              <a:t>16</a:t>
            </a:fld>
            <a:endParaRPr lang="en-GB"/>
          </a:p>
        </p:txBody>
      </p:sp>
    </p:spTree>
    <p:extLst>
      <p:ext uri="{BB962C8B-B14F-4D97-AF65-F5344CB8AC3E}">
        <p14:creationId xmlns:p14="http://schemas.microsoft.com/office/powerpoint/2010/main" val="1694705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7651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8D47E-D4FE-41AA-B721-31F3735C0FE1}" type="slidenum">
              <a:rPr lang="en-GB" smtClean="0"/>
              <a:t>19</a:t>
            </a:fld>
            <a:endParaRPr lang="en-GB"/>
          </a:p>
        </p:txBody>
      </p:sp>
    </p:spTree>
    <p:extLst>
      <p:ext uri="{BB962C8B-B14F-4D97-AF65-F5344CB8AC3E}">
        <p14:creationId xmlns:p14="http://schemas.microsoft.com/office/powerpoint/2010/main" val="3837339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742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p:txBody>
      </p:sp>
      <p:sp>
        <p:nvSpPr>
          <p:cNvPr id="4" name="Slide Number Placeholder 3"/>
          <p:cNvSpPr>
            <a:spLocks noGrp="1"/>
          </p:cNvSpPr>
          <p:nvPr>
            <p:ph type="sldNum" sz="quarter" idx="5"/>
          </p:nvPr>
        </p:nvSpPr>
        <p:spPr/>
        <p:txBody>
          <a:bodyPr/>
          <a:lstStyle/>
          <a:p>
            <a:fld id="{7B98D47E-D4FE-41AA-B721-31F3735C0FE1}" type="slidenum">
              <a:rPr lang="en-GB" smtClean="0"/>
              <a:t>22</a:t>
            </a:fld>
            <a:endParaRPr lang="en-GB"/>
          </a:p>
        </p:txBody>
      </p:sp>
    </p:spTree>
    <p:extLst>
      <p:ext uri="{BB962C8B-B14F-4D97-AF65-F5344CB8AC3E}">
        <p14:creationId xmlns:p14="http://schemas.microsoft.com/office/powerpoint/2010/main" val="3130044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p:txBody>
      </p:sp>
      <p:sp>
        <p:nvSpPr>
          <p:cNvPr id="4" name="Slide Number Placeholder 3"/>
          <p:cNvSpPr>
            <a:spLocks noGrp="1"/>
          </p:cNvSpPr>
          <p:nvPr>
            <p:ph type="sldNum" sz="quarter" idx="5"/>
          </p:nvPr>
        </p:nvSpPr>
        <p:spPr/>
        <p:txBody>
          <a:bodyPr/>
          <a:lstStyle/>
          <a:p>
            <a:fld id="{7B98D47E-D4FE-41AA-B721-31F3735C0FE1}" type="slidenum">
              <a:rPr lang="en-GB" smtClean="0"/>
              <a:t>23</a:t>
            </a:fld>
            <a:endParaRPr lang="en-GB"/>
          </a:p>
        </p:txBody>
      </p:sp>
    </p:spTree>
    <p:extLst>
      <p:ext uri="{BB962C8B-B14F-4D97-AF65-F5344CB8AC3E}">
        <p14:creationId xmlns:p14="http://schemas.microsoft.com/office/powerpoint/2010/main" val="1173174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2346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98D47E-D4FE-41AA-B721-31F3735C0FE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7824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190535-6F96-428F-9EFD-0EF4584C845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7610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FBD61-B431-4064-BBDC-617F70D402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E4EB1A6-B594-444A-AB9D-EA79532B3E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B95D2D6-E4F0-47D7-8775-06886F2D31A3}"/>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DBEC9662-6928-4A86-8E24-565CD973FF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D706BC-047D-4AB9-818D-71D14BF17E4A}"/>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3334662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02A18-B758-4099-AF5F-28F1701DD26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AE72428-07E0-4C7F-9AD1-7854896F20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4D28B8-84A6-49A5-851C-950A6F0F12C4}"/>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067D8DA2-667D-4017-B52F-25C6195EA6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95C8B8-B578-408F-940E-799662BBB7DC}"/>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1041632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C334-5253-4E22-9F83-AE18A8D3FB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3F6A501-8950-4CE0-99E5-CF6A61D728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722522-AA48-4057-9208-4AFA58C52114}"/>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9B3DA6F6-E35A-4FC6-A954-2A32ABF352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B1DEC0-DA7A-4845-B23D-3E89D2B7C1B4}"/>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148819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BF824-A142-4256-9BDD-F2844B1B51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19253BC-E1A4-4AC5-B4DB-A8B79677A5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5D0336C-2EC6-4CE0-975A-8616738153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3389EA6-CD5F-4E7C-B858-D22136561A0B}"/>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0722C788-2C66-4D69-B162-AE7A7392BD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1728EB-7A4E-4842-9948-4A2360075D1E}"/>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2804200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1214-EDCF-4593-81B1-1E3347B5F33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69EED0-8407-44EF-A4F6-3D9D85CD1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06FA73-7FAF-49BE-BD43-B23830139C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B2B7594-A0CF-4B73-B54B-ADCC4C21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EC701E-D7C7-4B22-BD5D-491CA92791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03EA98C-EA4A-485B-BA10-8EAC35F8686D}"/>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0FDD604-EB81-45A1-835E-9E075F56153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A1E90B1-D1FB-47F0-9EEE-D4D508214EE0}"/>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150261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C3F0-C476-4B61-88A5-4341F47C83B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74CAFEE-A394-4769-8888-4996558BF2C4}"/>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851BD5DA-782D-4C87-B2E5-24AC11D297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FC4C0AF-EF44-4569-A5E9-A1CF5E60AC8D}"/>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2664170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F8EE3F-F62C-4D8C-A075-39D61DE01AC4}"/>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0B6248C5-E573-4914-B95B-93591E6D012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036EC31-77E4-4F00-AEEA-9BF1CB5B6529}"/>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20820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2D9A-450E-41F5-A4DA-BAD596100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BE02986-113C-4E2D-A821-C71590C896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A0C6300-64EC-4E25-ADE3-412B5398D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EFB87-18AF-4D20-A999-E4FB131E03AA}"/>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43829984-CA01-44AF-984E-80BBF3BCFB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C537ADC-253C-4D40-9852-E1DF3A557D6E}"/>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3899959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6D-C64D-4B95-A2A0-1DE5C9415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C7FEE00-593C-4161-9B14-9C222E3D8C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125134B-0186-4023-9E26-129B053CBD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DF715-DF97-43BE-BAD0-220557229591}"/>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C0E1D08-AF93-4374-A662-5813184754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692C99-29BF-427F-85D4-5F5DBE9A95FB}"/>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1885340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4A51-F4BF-412A-94BC-FC2067C767A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394405-6498-4484-B76B-6A8FAAD8C6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D42CADA-7C17-49CD-9D65-C3F60079EBA3}"/>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B5CA5DA-0CF5-4BBD-9AC7-E5D84E55D8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CEBBD5-B609-4788-8B32-58B52FCC2EBC}"/>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1127858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E347CC-9387-468B-9985-618DA33446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4D3E07-1317-4228-BABA-AAE58008AF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4A88FE-C1CB-444D-A58F-473B20FA712B}"/>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C507C4DD-35A2-49EC-91CB-C07FF1D48F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A1AF7A-68D4-4563-98F4-0A0786B7E56E}"/>
              </a:ext>
            </a:extLst>
          </p:cNvPr>
          <p:cNvSpPr>
            <a:spLocks noGrp="1"/>
          </p:cNvSpPr>
          <p:nvPr>
            <p:ph type="sldNum" sz="quarter" idx="12"/>
          </p:nvPr>
        </p:nvSpPr>
        <p:spPr/>
        <p:txBody>
          <a:bodyPr/>
          <a:lstStyle/>
          <a:p>
            <a:fld id="{831A7E15-3B48-4B7B-BB52-54578FC31682}" type="slidenum">
              <a:rPr lang="en-GB" smtClean="0"/>
              <a:t>‹#›</a:t>
            </a:fld>
            <a:endParaRPr lang="en-GB"/>
          </a:p>
        </p:txBody>
      </p:sp>
    </p:spTree>
    <p:extLst>
      <p:ext uri="{BB962C8B-B14F-4D97-AF65-F5344CB8AC3E}">
        <p14:creationId xmlns:p14="http://schemas.microsoft.com/office/powerpoint/2010/main" val="3801062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8B14-D814-9848-A2A3-A1F3D8E11122}"/>
              </a:ext>
            </a:extLst>
          </p:cNvPr>
          <p:cNvSpPr>
            <a:spLocks noGrp="1"/>
          </p:cNvSpPr>
          <p:nvPr>
            <p:ph type="title"/>
          </p:nvPr>
        </p:nvSpPr>
        <p:spPr>
          <a:xfrm>
            <a:off x="685799" y="260351"/>
            <a:ext cx="11026775" cy="551307"/>
          </a:xfrm>
        </p:spPr>
        <p:txBody>
          <a:bodyPr/>
          <a:lstStyle>
            <a:lvl1pPr>
              <a:defRPr>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0F7BDB11-3E2C-0D4B-B380-7AC0DE77C347}"/>
              </a:ext>
            </a:extLst>
          </p:cNvPr>
          <p:cNvSpPr>
            <a:spLocks noGrp="1"/>
          </p:cNvSpPr>
          <p:nvPr>
            <p:ph sz="half" idx="1"/>
          </p:nvPr>
        </p:nvSpPr>
        <p:spPr>
          <a:xfrm>
            <a:off x="479425" y="1304926"/>
            <a:ext cx="11233150" cy="442046"/>
          </a:xfrm>
        </p:spPr>
        <p:txBody>
          <a:bodyPr/>
          <a:lstStyle>
            <a:lvl1pPr>
              <a:defRPr b="1" i="0">
                <a:solidFill>
                  <a:schemeClr val="tx2"/>
                </a:solidFill>
                <a:latin typeface="+mn-lt"/>
              </a:defRPr>
            </a:lvl1pPr>
          </a:lstStyle>
          <a:p>
            <a:pPr lvl="0"/>
            <a:r>
              <a:rPr lang="en-US"/>
              <a:t>Click to edit Master text styles</a:t>
            </a:r>
          </a:p>
        </p:txBody>
      </p:sp>
      <p:sp>
        <p:nvSpPr>
          <p:cNvPr id="7" name="Slide Number Placeholder 6">
            <a:extLst>
              <a:ext uri="{FF2B5EF4-FFF2-40B4-BE49-F238E27FC236}">
                <a16:creationId xmlns:a16="http://schemas.microsoft.com/office/drawing/2014/main" id="{17762980-7C19-ED41-937C-2D05D4E9A5F4}"/>
              </a:ext>
            </a:extLst>
          </p:cNvPr>
          <p:cNvSpPr>
            <a:spLocks noGrp="1"/>
          </p:cNvSpPr>
          <p:nvPr>
            <p:ph type="sldNum" sz="quarter" idx="12"/>
          </p:nvPr>
        </p:nvSpPr>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pic>
        <p:nvPicPr>
          <p:cNvPr id="12" name="Picture 33" descr="Picture 33">
            <a:extLst>
              <a:ext uri="{FF2B5EF4-FFF2-40B4-BE49-F238E27FC236}">
                <a16:creationId xmlns:a16="http://schemas.microsoft.com/office/drawing/2014/main" id="{3712C8ED-3ED1-F84D-95C7-DF62172E76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466" y="6159781"/>
            <a:ext cx="740859" cy="442046"/>
          </a:xfrm>
          <a:prstGeom prst="rect">
            <a:avLst/>
          </a:prstGeom>
          <a:ln w="12700">
            <a:miter lim="400000"/>
          </a:ln>
        </p:spPr>
      </p:pic>
      <p:sp>
        <p:nvSpPr>
          <p:cNvPr id="16" name="Content Placeholder 2">
            <a:extLst>
              <a:ext uri="{FF2B5EF4-FFF2-40B4-BE49-F238E27FC236}">
                <a16:creationId xmlns:a16="http://schemas.microsoft.com/office/drawing/2014/main" id="{FCC7CB49-9D08-864A-96AB-8F9CEABD4C4E}"/>
              </a:ext>
            </a:extLst>
          </p:cNvPr>
          <p:cNvSpPr>
            <a:spLocks noGrp="1"/>
          </p:cNvSpPr>
          <p:nvPr>
            <p:ph sz="half" idx="13"/>
          </p:nvPr>
        </p:nvSpPr>
        <p:spPr>
          <a:xfrm>
            <a:off x="479425" y="1765152"/>
            <a:ext cx="11233150" cy="4148285"/>
          </a:xfrm>
        </p:spPr>
        <p:txBody>
          <a:bodyPr/>
          <a:lstStyle>
            <a:lvl1pPr>
              <a:defRPr>
                <a:latin typeface="+mn-lt"/>
              </a:defRPr>
            </a:lvl1pPr>
          </a:lstStyle>
          <a:p>
            <a:pPr lvl="0"/>
            <a:r>
              <a:rPr lang="en-US"/>
              <a:t>Click to edit Master text styles</a:t>
            </a:r>
          </a:p>
        </p:txBody>
      </p:sp>
      <p:sp>
        <p:nvSpPr>
          <p:cNvPr id="8" name="Slide Number Placeholder 3">
            <a:extLst>
              <a:ext uri="{FF2B5EF4-FFF2-40B4-BE49-F238E27FC236}">
                <a16:creationId xmlns:a16="http://schemas.microsoft.com/office/drawing/2014/main" id="{31365920-2BE0-4D42-A3D1-29C668FD39E6}"/>
              </a:ext>
            </a:extLst>
          </p:cNvPr>
          <p:cNvSpPr txBox="1">
            <a:spLocks/>
          </p:cNvSpPr>
          <p:nvPr userDrawn="1"/>
        </p:nvSpPr>
        <p:spPr>
          <a:xfrm>
            <a:off x="11199775" y="6356350"/>
            <a:ext cx="84327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641119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4" name="Slide Number Placeholder 3">
            <a:extLst>
              <a:ext uri="{FF2B5EF4-FFF2-40B4-BE49-F238E27FC236}">
                <a16:creationId xmlns:a16="http://schemas.microsoft.com/office/drawing/2014/main" id="{3A2720F2-BDB1-405D-9E08-8A534DBA61F6}"/>
              </a:ext>
            </a:extLst>
          </p:cNvPr>
          <p:cNvSpPr>
            <a:spLocks noGrp="1"/>
          </p:cNvSpPr>
          <p:nvPr>
            <p:ph type="sldNum" sz="quarter" idx="12"/>
          </p:nvPr>
        </p:nvSpPr>
        <p:spPr>
          <a:xfrm>
            <a:off x="11199775" y="6356350"/>
            <a:ext cx="843277" cy="365125"/>
          </a:xfr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144814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541-F72F-344E-9815-9B6F9B46F524}"/>
              </a:ext>
            </a:extLst>
          </p:cNvPr>
          <p:cNvSpPr>
            <a:spLocks noGrp="1"/>
          </p:cNvSpPr>
          <p:nvPr>
            <p:ph type="ctrTitle"/>
          </p:nvPr>
        </p:nvSpPr>
        <p:spPr>
          <a:xfrm>
            <a:off x="479425" y="1304925"/>
            <a:ext cx="5710280" cy="1381125"/>
          </a:xfrm>
        </p:spPr>
        <p:txBody>
          <a:bodyPr anchor="t">
            <a:normAutofit/>
          </a:bodyPr>
          <a:lstStyle>
            <a:lvl1pPr algn="l">
              <a:defRPr sz="4400" b="1" i="0">
                <a:solidFill>
                  <a:schemeClr val="bg1"/>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AD354BE0-880B-2E4E-BBC3-3B300CB5E842}"/>
              </a:ext>
            </a:extLst>
          </p:cNvPr>
          <p:cNvSpPr>
            <a:spLocks noGrp="1"/>
          </p:cNvSpPr>
          <p:nvPr>
            <p:ph type="subTitle" idx="1"/>
          </p:nvPr>
        </p:nvSpPr>
        <p:spPr>
          <a:xfrm>
            <a:off x="479425" y="2991580"/>
            <a:ext cx="5710280" cy="619982"/>
          </a:xfrm>
        </p:spPr>
        <p:txBody>
          <a:bodyPr/>
          <a:lstStyle>
            <a:lvl1pPr marL="0" indent="0" algn="l">
              <a:buNone/>
              <a:defRPr sz="24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Text Placeholder 19">
            <a:extLst>
              <a:ext uri="{FF2B5EF4-FFF2-40B4-BE49-F238E27FC236}">
                <a16:creationId xmlns:a16="http://schemas.microsoft.com/office/drawing/2014/main" id="{9668EBCA-C954-9B4F-9924-B308668832EA}"/>
              </a:ext>
            </a:extLst>
          </p:cNvPr>
          <p:cNvSpPr>
            <a:spLocks noGrp="1"/>
          </p:cNvSpPr>
          <p:nvPr>
            <p:ph type="body" sz="quarter" idx="13"/>
          </p:nvPr>
        </p:nvSpPr>
        <p:spPr>
          <a:xfrm>
            <a:off x="480199" y="4236244"/>
            <a:ext cx="5710237" cy="752475"/>
          </a:xfrm>
        </p:spPr>
        <p:txBody>
          <a:bodyPr>
            <a:normAutofit/>
          </a:bodyPr>
          <a:lstStyle>
            <a:lvl1pPr>
              <a:defRPr sz="1400" b="0" i="0">
                <a:solidFill>
                  <a:schemeClr val="bg1"/>
                </a:solidFill>
                <a:latin typeface="+mn-lt"/>
              </a:defRPr>
            </a:lvl1pPr>
            <a:lvl2pPr>
              <a:defRPr b="0" i="0">
                <a:solidFill>
                  <a:schemeClr val="bg1"/>
                </a:solidFill>
                <a:latin typeface="Graphik" panose="020B0503030202060203" pitchFamily="34" charset="77"/>
              </a:defRPr>
            </a:lvl2pPr>
            <a:lvl3pPr>
              <a:defRPr b="0" i="0">
                <a:solidFill>
                  <a:schemeClr val="bg1"/>
                </a:solidFill>
                <a:latin typeface="Graphik" panose="020B0503030202060203" pitchFamily="34" charset="77"/>
              </a:defRPr>
            </a:lvl3pPr>
            <a:lvl4pPr>
              <a:defRPr b="0" i="0">
                <a:solidFill>
                  <a:schemeClr val="bg1"/>
                </a:solidFill>
                <a:latin typeface="Graphik" panose="020B0503030202060203" pitchFamily="34" charset="77"/>
              </a:defRPr>
            </a:lvl4pPr>
            <a:lvl5pPr>
              <a:defRPr b="0" i="0">
                <a:solidFill>
                  <a:schemeClr val="bg1"/>
                </a:solidFill>
                <a:latin typeface="Graphik" panose="020B0503030202060203" pitchFamily="34" charset="77"/>
              </a:defRPr>
            </a:lvl5pPr>
          </a:lstStyle>
          <a:p>
            <a:pPr lvl="0"/>
            <a:r>
              <a:rPr lang="en-US"/>
              <a:t>Click to edit Master text styles</a:t>
            </a:r>
          </a:p>
        </p:txBody>
      </p:sp>
      <p:pic>
        <p:nvPicPr>
          <p:cNvPr id="25" name="Picture 24">
            <a:extLst>
              <a:ext uri="{FF2B5EF4-FFF2-40B4-BE49-F238E27FC236}">
                <a16:creationId xmlns:a16="http://schemas.microsoft.com/office/drawing/2014/main" id="{20FBC834-E4F8-3547-911A-032EA2456F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33" name="Picture Placeholder 29">
            <a:extLst>
              <a:ext uri="{FF2B5EF4-FFF2-40B4-BE49-F238E27FC236}">
                <a16:creationId xmlns:a16="http://schemas.microsoft.com/office/drawing/2014/main" id="{A0807DA5-F459-AA44-AF9F-D242E230B3AC}"/>
              </a:ext>
            </a:extLst>
          </p:cNvPr>
          <p:cNvSpPr>
            <a:spLocks noGrp="1"/>
          </p:cNvSpPr>
          <p:nvPr>
            <p:ph type="pic" sz="quarter" idx="14" hasCustomPrompt="1"/>
          </p:nvPr>
        </p:nvSpPr>
        <p:spPr>
          <a:xfrm>
            <a:off x="7110333" y="873921"/>
            <a:ext cx="4304255" cy="4304254"/>
          </a:xfrm>
          <a:prstGeom prst="ellipse">
            <a:avLst/>
          </a:prstGeom>
          <a:solidFill>
            <a:schemeClr val="bg1">
              <a:lumMod val="85000"/>
            </a:schemeClr>
          </a:solidFill>
        </p:spPr>
        <p:txBody>
          <a:bodyPr anchor="ctr"/>
          <a:lstStyle>
            <a:lvl1pPr algn="ctr">
              <a:defRPr>
                <a:latin typeface="+mn-lt"/>
              </a:defRPr>
            </a:lvl1pPr>
          </a:lstStyle>
          <a:p>
            <a:r>
              <a:rPr lang="en-US"/>
              <a:t>INSERT PICTURE</a:t>
            </a:r>
          </a:p>
        </p:txBody>
      </p:sp>
      <p:sp>
        <p:nvSpPr>
          <p:cNvPr id="34" name="Oval 33">
            <a:extLst>
              <a:ext uri="{FF2B5EF4-FFF2-40B4-BE49-F238E27FC236}">
                <a16:creationId xmlns:a16="http://schemas.microsoft.com/office/drawing/2014/main" id="{CB828683-E2ED-6845-B7F5-9BFBE4B86DE9}"/>
              </a:ext>
            </a:extLst>
          </p:cNvPr>
          <p:cNvSpPr/>
          <p:nvPr userDrawn="1"/>
        </p:nvSpPr>
        <p:spPr>
          <a:xfrm>
            <a:off x="10037852" y="187351"/>
            <a:ext cx="1972638" cy="1972638"/>
          </a:xfrm>
          <a:prstGeom prst="ellipse">
            <a:avLst/>
          </a:prstGeom>
          <a:solidFill>
            <a:srgbClr val="CCEDE6">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latin typeface="+mn-lt"/>
            </a:endParaRPr>
          </a:p>
        </p:txBody>
      </p:sp>
      <p:sp>
        <p:nvSpPr>
          <p:cNvPr id="9" name="Slide Number Placeholder 3">
            <a:extLst>
              <a:ext uri="{FF2B5EF4-FFF2-40B4-BE49-F238E27FC236}">
                <a16:creationId xmlns:a16="http://schemas.microsoft.com/office/drawing/2014/main" id="{72FDA407-CB0F-4781-91E6-1FC10E99BC4F}"/>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075741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Gree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BDB11-3E2C-0D4B-B380-7AC0DE77C347}"/>
              </a:ext>
            </a:extLst>
          </p:cNvPr>
          <p:cNvSpPr>
            <a:spLocks noGrp="1"/>
          </p:cNvSpPr>
          <p:nvPr>
            <p:ph sz="half" idx="1" hasCustomPrompt="1"/>
          </p:nvPr>
        </p:nvSpPr>
        <p:spPr>
          <a:xfrm>
            <a:off x="479425" y="1304925"/>
            <a:ext cx="875846" cy="565819"/>
          </a:xfrm>
        </p:spPr>
        <p:txBody>
          <a:bodyPr/>
          <a:lstStyle>
            <a:lvl1pPr>
              <a:defRPr sz="3600" b="1" i="0">
                <a:solidFill>
                  <a:schemeClr val="accent3"/>
                </a:solidFill>
                <a:latin typeface="+mn-lt"/>
              </a:defRPr>
            </a:lvl1pPr>
          </a:lstStyle>
          <a:p>
            <a:pPr lvl="0"/>
            <a:r>
              <a:rPr lang="en-US"/>
              <a:t>00</a:t>
            </a:r>
          </a:p>
        </p:txBody>
      </p:sp>
      <p:sp>
        <p:nvSpPr>
          <p:cNvPr id="16" name="Content Placeholder 2">
            <a:extLst>
              <a:ext uri="{FF2B5EF4-FFF2-40B4-BE49-F238E27FC236}">
                <a16:creationId xmlns:a16="http://schemas.microsoft.com/office/drawing/2014/main" id="{FCC7CB49-9D08-864A-96AB-8F9CEABD4C4E}"/>
              </a:ext>
            </a:extLst>
          </p:cNvPr>
          <p:cNvSpPr>
            <a:spLocks noGrp="1"/>
          </p:cNvSpPr>
          <p:nvPr>
            <p:ph sz="half" idx="13"/>
          </p:nvPr>
        </p:nvSpPr>
        <p:spPr>
          <a:xfrm>
            <a:off x="1355271" y="1304927"/>
            <a:ext cx="10118350" cy="565818"/>
          </a:xfrm>
        </p:spPr>
        <p:txBody>
          <a:bodyPr>
            <a:noAutofit/>
          </a:bodyPr>
          <a:lstStyle>
            <a:lvl1pPr>
              <a:defRPr sz="3600" b="1" i="0">
                <a:solidFill>
                  <a:schemeClr val="bg1"/>
                </a:solidFill>
                <a:latin typeface="+mn-lt"/>
              </a:defRPr>
            </a:lvl1pPr>
          </a:lstStyle>
          <a:p>
            <a:pPr lvl="0"/>
            <a:r>
              <a:rPr lang="en-US"/>
              <a:t>Click to edit Master text styles</a:t>
            </a:r>
          </a:p>
        </p:txBody>
      </p:sp>
      <p:sp>
        <p:nvSpPr>
          <p:cNvPr id="25" name="Content Placeholder 2">
            <a:extLst>
              <a:ext uri="{FF2B5EF4-FFF2-40B4-BE49-F238E27FC236}">
                <a16:creationId xmlns:a16="http://schemas.microsoft.com/office/drawing/2014/main" id="{A5907006-3C26-F743-9F0D-D26D2CE699FF}"/>
              </a:ext>
            </a:extLst>
          </p:cNvPr>
          <p:cNvSpPr>
            <a:spLocks noGrp="1"/>
          </p:cNvSpPr>
          <p:nvPr>
            <p:ph sz="half" idx="14" hasCustomPrompt="1"/>
          </p:nvPr>
        </p:nvSpPr>
        <p:spPr>
          <a:xfrm>
            <a:off x="479425" y="2026378"/>
            <a:ext cx="875846" cy="565819"/>
          </a:xfrm>
        </p:spPr>
        <p:txBody>
          <a:bodyPr/>
          <a:lstStyle>
            <a:lvl1pPr>
              <a:defRPr sz="3600" b="1" i="0">
                <a:solidFill>
                  <a:schemeClr val="accent3"/>
                </a:solidFill>
                <a:latin typeface="+mn-lt"/>
              </a:defRPr>
            </a:lvl1pPr>
          </a:lstStyle>
          <a:p>
            <a:pPr lvl="0"/>
            <a:r>
              <a:rPr lang="en-US"/>
              <a:t>00</a:t>
            </a:r>
          </a:p>
        </p:txBody>
      </p:sp>
      <p:sp>
        <p:nvSpPr>
          <p:cNvPr id="26" name="Content Placeholder 2">
            <a:extLst>
              <a:ext uri="{FF2B5EF4-FFF2-40B4-BE49-F238E27FC236}">
                <a16:creationId xmlns:a16="http://schemas.microsoft.com/office/drawing/2014/main" id="{C672AC4B-3E23-6A43-8489-5B51D282EC29}"/>
              </a:ext>
            </a:extLst>
          </p:cNvPr>
          <p:cNvSpPr>
            <a:spLocks noGrp="1"/>
          </p:cNvSpPr>
          <p:nvPr>
            <p:ph sz="half" idx="15"/>
          </p:nvPr>
        </p:nvSpPr>
        <p:spPr>
          <a:xfrm>
            <a:off x="1355271" y="2026380"/>
            <a:ext cx="10118350" cy="565818"/>
          </a:xfrm>
        </p:spPr>
        <p:txBody>
          <a:bodyPr>
            <a:noAutofit/>
          </a:bodyPr>
          <a:lstStyle>
            <a:lvl1pPr>
              <a:defRPr sz="3600" b="1" i="0">
                <a:solidFill>
                  <a:schemeClr val="bg1"/>
                </a:solidFill>
                <a:latin typeface="+mn-lt"/>
              </a:defRPr>
            </a:lvl1pPr>
          </a:lstStyle>
          <a:p>
            <a:pPr lvl="0"/>
            <a:r>
              <a:rPr lang="en-US"/>
              <a:t>Click to edit Master text styles</a:t>
            </a:r>
          </a:p>
        </p:txBody>
      </p:sp>
      <p:sp>
        <p:nvSpPr>
          <p:cNvPr id="27" name="Content Placeholder 2">
            <a:extLst>
              <a:ext uri="{FF2B5EF4-FFF2-40B4-BE49-F238E27FC236}">
                <a16:creationId xmlns:a16="http://schemas.microsoft.com/office/drawing/2014/main" id="{DC1BA10B-E3D7-EB4F-8259-7A13259315BE}"/>
              </a:ext>
            </a:extLst>
          </p:cNvPr>
          <p:cNvSpPr>
            <a:spLocks noGrp="1"/>
          </p:cNvSpPr>
          <p:nvPr>
            <p:ph sz="half" idx="16" hasCustomPrompt="1"/>
          </p:nvPr>
        </p:nvSpPr>
        <p:spPr>
          <a:xfrm>
            <a:off x="479425" y="2756220"/>
            <a:ext cx="875846" cy="565819"/>
          </a:xfrm>
        </p:spPr>
        <p:txBody>
          <a:bodyPr/>
          <a:lstStyle>
            <a:lvl1pPr>
              <a:defRPr sz="3600" b="1" i="0">
                <a:solidFill>
                  <a:schemeClr val="accent3"/>
                </a:solidFill>
                <a:latin typeface="+mn-lt"/>
              </a:defRPr>
            </a:lvl1pPr>
          </a:lstStyle>
          <a:p>
            <a:pPr lvl="0"/>
            <a:r>
              <a:rPr lang="en-US"/>
              <a:t>00</a:t>
            </a:r>
          </a:p>
        </p:txBody>
      </p:sp>
      <p:sp>
        <p:nvSpPr>
          <p:cNvPr id="28" name="Content Placeholder 2">
            <a:extLst>
              <a:ext uri="{FF2B5EF4-FFF2-40B4-BE49-F238E27FC236}">
                <a16:creationId xmlns:a16="http://schemas.microsoft.com/office/drawing/2014/main" id="{613D2D5A-0881-6641-B64E-AF339011350F}"/>
              </a:ext>
            </a:extLst>
          </p:cNvPr>
          <p:cNvSpPr>
            <a:spLocks noGrp="1"/>
          </p:cNvSpPr>
          <p:nvPr>
            <p:ph sz="half" idx="17"/>
          </p:nvPr>
        </p:nvSpPr>
        <p:spPr>
          <a:xfrm>
            <a:off x="1355271" y="2756222"/>
            <a:ext cx="10118350" cy="565818"/>
          </a:xfrm>
        </p:spPr>
        <p:txBody>
          <a:bodyPr>
            <a:noAutofit/>
          </a:bodyPr>
          <a:lstStyle>
            <a:lvl1pPr>
              <a:defRPr sz="3600" b="1" i="0">
                <a:solidFill>
                  <a:schemeClr val="bg1"/>
                </a:solidFill>
                <a:latin typeface="+mn-lt"/>
              </a:defRPr>
            </a:lvl1pPr>
          </a:lstStyle>
          <a:p>
            <a:pPr lvl="0"/>
            <a:r>
              <a:rPr lang="en-US"/>
              <a:t>Click to edit Master text styles</a:t>
            </a:r>
          </a:p>
        </p:txBody>
      </p:sp>
      <p:sp>
        <p:nvSpPr>
          <p:cNvPr id="29" name="Content Placeholder 2">
            <a:extLst>
              <a:ext uri="{FF2B5EF4-FFF2-40B4-BE49-F238E27FC236}">
                <a16:creationId xmlns:a16="http://schemas.microsoft.com/office/drawing/2014/main" id="{54B7A739-B075-D64C-8B09-9C095ADF2BFF}"/>
              </a:ext>
            </a:extLst>
          </p:cNvPr>
          <p:cNvSpPr>
            <a:spLocks noGrp="1"/>
          </p:cNvSpPr>
          <p:nvPr>
            <p:ph sz="half" idx="18" hasCustomPrompt="1"/>
          </p:nvPr>
        </p:nvSpPr>
        <p:spPr>
          <a:xfrm>
            <a:off x="479425" y="3486063"/>
            <a:ext cx="875846" cy="565819"/>
          </a:xfrm>
        </p:spPr>
        <p:txBody>
          <a:bodyPr/>
          <a:lstStyle>
            <a:lvl1pPr>
              <a:defRPr sz="3600" b="1" i="0">
                <a:solidFill>
                  <a:schemeClr val="accent3"/>
                </a:solidFill>
                <a:latin typeface="+mn-lt"/>
              </a:defRPr>
            </a:lvl1pPr>
          </a:lstStyle>
          <a:p>
            <a:pPr lvl="0"/>
            <a:r>
              <a:rPr lang="en-US"/>
              <a:t>00</a:t>
            </a:r>
          </a:p>
        </p:txBody>
      </p:sp>
      <p:sp>
        <p:nvSpPr>
          <p:cNvPr id="30" name="Content Placeholder 2">
            <a:extLst>
              <a:ext uri="{FF2B5EF4-FFF2-40B4-BE49-F238E27FC236}">
                <a16:creationId xmlns:a16="http://schemas.microsoft.com/office/drawing/2014/main" id="{4FDA4754-CA73-C247-8C94-11D01F44E68F}"/>
              </a:ext>
            </a:extLst>
          </p:cNvPr>
          <p:cNvSpPr>
            <a:spLocks noGrp="1"/>
          </p:cNvSpPr>
          <p:nvPr>
            <p:ph sz="half" idx="19"/>
          </p:nvPr>
        </p:nvSpPr>
        <p:spPr>
          <a:xfrm>
            <a:off x="1355271" y="3486065"/>
            <a:ext cx="10118350" cy="565818"/>
          </a:xfrm>
        </p:spPr>
        <p:txBody>
          <a:bodyPr>
            <a:noAutofit/>
          </a:bodyPr>
          <a:lstStyle>
            <a:lvl1pPr>
              <a:defRPr sz="3600" b="1" i="0">
                <a:solidFill>
                  <a:schemeClr val="bg1"/>
                </a:solidFill>
                <a:latin typeface="+mn-lt"/>
              </a:defRPr>
            </a:lvl1pPr>
          </a:lstStyle>
          <a:p>
            <a:pPr lvl="0"/>
            <a:r>
              <a:rPr lang="en-US"/>
              <a:t>Click to edit Master text styles</a:t>
            </a:r>
          </a:p>
        </p:txBody>
      </p:sp>
      <p:pic>
        <p:nvPicPr>
          <p:cNvPr id="19" name="Picture 18">
            <a:extLst>
              <a:ext uri="{FF2B5EF4-FFF2-40B4-BE49-F238E27FC236}">
                <a16:creationId xmlns:a16="http://schemas.microsoft.com/office/drawing/2014/main" id="{2E5D817E-6CD4-3849-942C-BB4D56ED70B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11" name="Slide Number Placeholder 3">
            <a:extLst>
              <a:ext uri="{FF2B5EF4-FFF2-40B4-BE49-F238E27FC236}">
                <a16:creationId xmlns:a16="http://schemas.microsoft.com/office/drawing/2014/main" id="{72107A69-9A09-423F-ADCE-3E86EBE011C3}"/>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869412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tyle 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D354BE0-880B-2E4E-BBC3-3B300CB5E842}"/>
              </a:ext>
            </a:extLst>
          </p:cNvPr>
          <p:cNvSpPr>
            <a:spLocks noGrp="1"/>
          </p:cNvSpPr>
          <p:nvPr>
            <p:ph type="subTitle" idx="1"/>
          </p:nvPr>
        </p:nvSpPr>
        <p:spPr>
          <a:xfrm>
            <a:off x="479425" y="1304925"/>
            <a:ext cx="5710280" cy="619982"/>
          </a:xfrm>
        </p:spPr>
        <p:txBody>
          <a:bodyPr/>
          <a:lstStyle>
            <a:lvl1pPr marL="0" indent="0" algn="l">
              <a:buNone/>
              <a:defRPr sz="24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Text Placeholder 19">
            <a:extLst>
              <a:ext uri="{FF2B5EF4-FFF2-40B4-BE49-F238E27FC236}">
                <a16:creationId xmlns:a16="http://schemas.microsoft.com/office/drawing/2014/main" id="{9668EBCA-C954-9B4F-9924-B308668832EA}"/>
              </a:ext>
            </a:extLst>
          </p:cNvPr>
          <p:cNvSpPr>
            <a:spLocks noGrp="1"/>
          </p:cNvSpPr>
          <p:nvPr>
            <p:ph type="body" sz="quarter" idx="13"/>
          </p:nvPr>
        </p:nvSpPr>
        <p:spPr>
          <a:xfrm>
            <a:off x="480199" y="2549589"/>
            <a:ext cx="5710237" cy="752475"/>
          </a:xfrm>
        </p:spPr>
        <p:txBody>
          <a:bodyPr>
            <a:normAutofit/>
          </a:bodyPr>
          <a:lstStyle>
            <a:lvl1pPr>
              <a:defRPr sz="1400" b="0" i="0">
                <a:solidFill>
                  <a:schemeClr val="bg1"/>
                </a:solidFill>
                <a:latin typeface="+mn-lt"/>
              </a:defRPr>
            </a:lvl1pPr>
            <a:lvl2pPr>
              <a:defRPr b="0" i="0">
                <a:solidFill>
                  <a:schemeClr val="bg1"/>
                </a:solidFill>
                <a:latin typeface="Graphik" panose="020B0503030202060203" pitchFamily="34" charset="77"/>
              </a:defRPr>
            </a:lvl2pPr>
            <a:lvl3pPr>
              <a:defRPr b="0" i="0">
                <a:solidFill>
                  <a:schemeClr val="bg1"/>
                </a:solidFill>
                <a:latin typeface="Graphik" panose="020B0503030202060203" pitchFamily="34" charset="77"/>
              </a:defRPr>
            </a:lvl3pPr>
            <a:lvl4pPr>
              <a:defRPr b="0" i="0">
                <a:solidFill>
                  <a:schemeClr val="bg1"/>
                </a:solidFill>
                <a:latin typeface="Graphik" panose="020B0503030202060203" pitchFamily="34" charset="77"/>
              </a:defRPr>
            </a:lvl4pPr>
            <a:lvl5pPr>
              <a:defRPr b="0" i="0">
                <a:solidFill>
                  <a:schemeClr val="bg1"/>
                </a:solidFill>
                <a:latin typeface="Graphik" panose="020B0503030202060203" pitchFamily="34" charset="77"/>
              </a:defRPr>
            </a:lvl5pPr>
          </a:lstStyle>
          <a:p>
            <a:pPr lvl="0"/>
            <a:r>
              <a:rPr lang="en-US"/>
              <a:t>Click to edit Master text styles</a:t>
            </a:r>
          </a:p>
        </p:txBody>
      </p:sp>
      <p:pic>
        <p:nvPicPr>
          <p:cNvPr id="25" name="Picture 24">
            <a:extLst>
              <a:ext uri="{FF2B5EF4-FFF2-40B4-BE49-F238E27FC236}">
                <a16:creationId xmlns:a16="http://schemas.microsoft.com/office/drawing/2014/main" id="{20FBC834-E4F8-3547-911A-032EA2456F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33" name="Picture Placeholder 29">
            <a:extLst>
              <a:ext uri="{FF2B5EF4-FFF2-40B4-BE49-F238E27FC236}">
                <a16:creationId xmlns:a16="http://schemas.microsoft.com/office/drawing/2014/main" id="{A0807DA5-F459-AA44-AF9F-D242E230B3AC}"/>
              </a:ext>
            </a:extLst>
          </p:cNvPr>
          <p:cNvSpPr>
            <a:spLocks noGrp="1"/>
          </p:cNvSpPr>
          <p:nvPr>
            <p:ph type="pic" sz="quarter" idx="14" hasCustomPrompt="1"/>
          </p:nvPr>
        </p:nvSpPr>
        <p:spPr>
          <a:xfrm>
            <a:off x="7110333" y="873921"/>
            <a:ext cx="4304255" cy="4304254"/>
          </a:xfrm>
          <a:prstGeom prst="ellipse">
            <a:avLst/>
          </a:prstGeom>
          <a:solidFill>
            <a:schemeClr val="bg1">
              <a:lumMod val="85000"/>
            </a:schemeClr>
          </a:solidFill>
        </p:spPr>
        <p:txBody>
          <a:bodyPr anchor="ctr"/>
          <a:lstStyle>
            <a:lvl1pPr algn="ctr">
              <a:defRPr>
                <a:solidFill>
                  <a:schemeClr val="tx1"/>
                </a:solidFill>
                <a:latin typeface="+mn-lt"/>
              </a:defRPr>
            </a:lvl1pPr>
          </a:lstStyle>
          <a:p>
            <a:r>
              <a:rPr lang="en-US"/>
              <a:t>INSERT PICTURE</a:t>
            </a:r>
          </a:p>
        </p:txBody>
      </p:sp>
      <p:sp>
        <p:nvSpPr>
          <p:cNvPr id="34" name="Oval 33">
            <a:extLst>
              <a:ext uri="{FF2B5EF4-FFF2-40B4-BE49-F238E27FC236}">
                <a16:creationId xmlns:a16="http://schemas.microsoft.com/office/drawing/2014/main" id="{CB828683-E2ED-6845-B7F5-9BFBE4B86DE9}"/>
              </a:ext>
            </a:extLst>
          </p:cNvPr>
          <p:cNvSpPr/>
          <p:nvPr userDrawn="1"/>
        </p:nvSpPr>
        <p:spPr>
          <a:xfrm>
            <a:off x="10037852" y="187351"/>
            <a:ext cx="1972638" cy="1972638"/>
          </a:xfrm>
          <a:prstGeom prst="ellipse">
            <a:avLst/>
          </a:prstGeom>
          <a:solidFill>
            <a:srgbClr val="CCEDE6">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latin typeface="+mn-lt"/>
            </a:endParaRPr>
          </a:p>
        </p:txBody>
      </p:sp>
      <p:sp>
        <p:nvSpPr>
          <p:cNvPr id="8" name="Slide Number Placeholder 3">
            <a:extLst>
              <a:ext uri="{FF2B5EF4-FFF2-40B4-BE49-F238E27FC236}">
                <a16:creationId xmlns:a16="http://schemas.microsoft.com/office/drawing/2014/main" id="{FDBED76C-2582-4181-AB95-53FA23148F7C}"/>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350931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541-F72F-344E-9815-9B6F9B46F524}"/>
              </a:ext>
            </a:extLst>
          </p:cNvPr>
          <p:cNvSpPr>
            <a:spLocks noGrp="1"/>
          </p:cNvSpPr>
          <p:nvPr>
            <p:ph type="ctrTitle"/>
          </p:nvPr>
        </p:nvSpPr>
        <p:spPr>
          <a:xfrm>
            <a:off x="3222930" y="2527549"/>
            <a:ext cx="5710280" cy="1381125"/>
          </a:xfrm>
        </p:spPr>
        <p:txBody>
          <a:bodyPr anchor="t">
            <a:normAutofit/>
          </a:bodyPr>
          <a:lstStyle>
            <a:lvl1pPr algn="ctr">
              <a:defRPr sz="4400" b="1" i="0">
                <a:solidFill>
                  <a:schemeClr val="bg1"/>
                </a:solidFill>
                <a:latin typeface="+mn-lt"/>
              </a:defRPr>
            </a:lvl1pPr>
          </a:lstStyle>
          <a:p>
            <a:r>
              <a:rPr lang="en-US"/>
              <a:t>Click to edit Master title style</a:t>
            </a:r>
          </a:p>
        </p:txBody>
      </p:sp>
      <p:pic>
        <p:nvPicPr>
          <p:cNvPr id="25" name="Picture 24">
            <a:extLst>
              <a:ext uri="{FF2B5EF4-FFF2-40B4-BE49-F238E27FC236}">
                <a16:creationId xmlns:a16="http://schemas.microsoft.com/office/drawing/2014/main" id="{20FBC834-E4F8-3547-911A-032EA2456F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5" name="Slide Number Placeholder 3">
            <a:extLst>
              <a:ext uri="{FF2B5EF4-FFF2-40B4-BE49-F238E27FC236}">
                <a16:creationId xmlns:a16="http://schemas.microsoft.com/office/drawing/2014/main" id="{8F8AFA8D-CDD3-4C36-BCE3-55E38F5F18E1}"/>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822799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541-F72F-344E-9815-9B6F9B46F524}"/>
              </a:ext>
            </a:extLst>
          </p:cNvPr>
          <p:cNvSpPr>
            <a:spLocks noGrp="1"/>
          </p:cNvSpPr>
          <p:nvPr>
            <p:ph type="ctrTitle"/>
          </p:nvPr>
        </p:nvSpPr>
        <p:spPr>
          <a:xfrm>
            <a:off x="3222930" y="2527549"/>
            <a:ext cx="5710280" cy="1381125"/>
          </a:xfrm>
        </p:spPr>
        <p:txBody>
          <a:bodyPr anchor="t">
            <a:normAutofit/>
          </a:bodyPr>
          <a:lstStyle>
            <a:lvl1pPr algn="ctr">
              <a:defRPr sz="4400" b="1" i="0">
                <a:solidFill>
                  <a:schemeClr val="bg1"/>
                </a:solidFill>
                <a:latin typeface="+mn-lt"/>
              </a:defRPr>
            </a:lvl1pPr>
          </a:lstStyle>
          <a:p>
            <a:r>
              <a:rPr lang="en-US"/>
              <a:t>Click to edit Master title style</a:t>
            </a:r>
          </a:p>
        </p:txBody>
      </p:sp>
      <p:pic>
        <p:nvPicPr>
          <p:cNvPr id="25" name="Picture 24">
            <a:extLst>
              <a:ext uri="{FF2B5EF4-FFF2-40B4-BE49-F238E27FC236}">
                <a16:creationId xmlns:a16="http://schemas.microsoft.com/office/drawing/2014/main" id="{20FBC834-E4F8-3547-911A-032EA2456F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5" name="Slide Number Placeholder 3">
            <a:extLst>
              <a:ext uri="{FF2B5EF4-FFF2-40B4-BE49-F238E27FC236}">
                <a16:creationId xmlns:a16="http://schemas.microsoft.com/office/drawing/2014/main" id="{F99663AD-CF04-4825-B77B-F3315AF8CA52}"/>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0754840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8B14-D814-9848-A2A3-A1F3D8E11122}"/>
              </a:ext>
            </a:extLst>
          </p:cNvPr>
          <p:cNvSpPr>
            <a:spLocks noGrp="1"/>
          </p:cNvSpPr>
          <p:nvPr>
            <p:ph type="title"/>
          </p:nvPr>
        </p:nvSpPr>
        <p:spPr>
          <a:xfrm>
            <a:off x="685799" y="260351"/>
            <a:ext cx="11026775" cy="551307"/>
          </a:xfrm>
        </p:spPr>
        <p:txBody>
          <a:bodyPr/>
          <a:lstStyle>
            <a:lvl1pPr>
              <a:defRPr>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0F7BDB11-3E2C-0D4B-B380-7AC0DE77C347}"/>
              </a:ext>
            </a:extLst>
          </p:cNvPr>
          <p:cNvSpPr>
            <a:spLocks noGrp="1"/>
          </p:cNvSpPr>
          <p:nvPr>
            <p:ph sz="half" idx="1"/>
          </p:nvPr>
        </p:nvSpPr>
        <p:spPr>
          <a:xfrm>
            <a:off x="479425" y="1304926"/>
            <a:ext cx="11233150" cy="442046"/>
          </a:xfrm>
        </p:spPr>
        <p:txBody>
          <a:bodyPr/>
          <a:lstStyle>
            <a:lvl1pPr>
              <a:defRPr b="1" i="0">
                <a:solidFill>
                  <a:schemeClr val="tx2"/>
                </a:solidFill>
                <a:latin typeface="+mn-lt"/>
              </a:defRPr>
            </a:lvl1pPr>
          </a:lstStyle>
          <a:p>
            <a:pPr lvl="0"/>
            <a:r>
              <a:rPr lang="en-US"/>
              <a:t>Click to edit Master text styles</a:t>
            </a:r>
          </a:p>
        </p:txBody>
      </p:sp>
      <p:pic>
        <p:nvPicPr>
          <p:cNvPr id="12" name="Picture 33" descr="Picture 33">
            <a:extLst>
              <a:ext uri="{FF2B5EF4-FFF2-40B4-BE49-F238E27FC236}">
                <a16:creationId xmlns:a16="http://schemas.microsoft.com/office/drawing/2014/main" id="{3712C8ED-3ED1-F84D-95C7-DF62172E76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466" y="6159781"/>
            <a:ext cx="740859" cy="442046"/>
          </a:xfrm>
          <a:prstGeom prst="rect">
            <a:avLst/>
          </a:prstGeom>
          <a:ln w="12700">
            <a:miter lim="400000"/>
          </a:ln>
        </p:spPr>
      </p:pic>
      <p:sp>
        <p:nvSpPr>
          <p:cNvPr id="16" name="Content Placeholder 2">
            <a:extLst>
              <a:ext uri="{FF2B5EF4-FFF2-40B4-BE49-F238E27FC236}">
                <a16:creationId xmlns:a16="http://schemas.microsoft.com/office/drawing/2014/main" id="{FCC7CB49-9D08-864A-96AB-8F9CEABD4C4E}"/>
              </a:ext>
            </a:extLst>
          </p:cNvPr>
          <p:cNvSpPr>
            <a:spLocks noGrp="1"/>
          </p:cNvSpPr>
          <p:nvPr>
            <p:ph sz="half" idx="13"/>
          </p:nvPr>
        </p:nvSpPr>
        <p:spPr>
          <a:xfrm>
            <a:off x="479425" y="1765152"/>
            <a:ext cx="11233150" cy="4148285"/>
          </a:xfrm>
        </p:spPr>
        <p:txBody>
          <a:bodyPr/>
          <a:lstStyle>
            <a:lvl1pPr>
              <a:defRPr>
                <a:latin typeface="+mn-lt"/>
              </a:defRPr>
            </a:lvl1pPr>
          </a:lstStyle>
          <a:p>
            <a:pPr lvl="0"/>
            <a:r>
              <a:rPr lang="en-US"/>
              <a:t>Click to edit Master text styles</a:t>
            </a:r>
          </a:p>
        </p:txBody>
      </p:sp>
      <p:sp>
        <p:nvSpPr>
          <p:cNvPr id="8" name="Slide Number Placeholder 3">
            <a:extLst>
              <a:ext uri="{FF2B5EF4-FFF2-40B4-BE49-F238E27FC236}">
                <a16:creationId xmlns:a16="http://schemas.microsoft.com/office/drawing/2014/main" id="{86ED3115-B9E0-4999-9B2F-A8C3C80A16FD}"/>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033000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8B14-D814-9848-A2A3-A1F3D8E11122}"/>
              </a:ext>
            </a:extLst>
          </p:cNvPr>
          <p:cNvSpPr>
            <a:spLocks noGrp="1"/>
          </p:cNvSpPr>
          <p:nvPr>
            <p:ph type="title"/>
          </p:nvPr>
        </p:nvSpPr>
        <p:spPr>
          <a:xfrm>
            <a:off x="685799" y="260351"/>
            <a:ext cx="11026775" cy="551307"/>
          </a:xfrm>
        </p:spPr>
        <p:txBody>
          <a:bodyPr/>
          <a:lstStyle>
            <a:lvl1pPr>
              <a:defRPr>
                <a:latin typeface="+mn-lt"/>
              </a:defRPr>
            </a:lvl1pPr>
          </a:lstStyle>
          <a:p>
            <a:r>
              <a:rPr lang="en-US"/>
              <a:t>Click to edit Master title style</a:t>
            </a:r>
          </a:p>
        </p:txBody>
      </p:sp>
      <p:pic>
        <p:nvPicPr>
          <p:cNvPr id="12" name="Picture 33" descr="Picture 33">
            <a:extLst>
              <a:ext uri="{FF2B5EF4-FFF2-40B4-BE49-F238E27FC236}">
                <a16:creationId xmlns:a16="http://schemas.microsoft.com/office/drawing/2014/main" id="{3712C8ED-3ED1-F84D-95C7-DF62172E76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466" y="6159781"/>
            <a:ext cx="740859" cy="442046"/>
          </a:xfrm>
          <a:prstGeom prst="rect">
            <a:avLst/>
          </a:prstGeom>
          <a:ln w="12700">
            <a:miter lim="400000"/>
          </a:ln>
        </p:spPr>
      </p:pic>
      <p:sp>
        <p:nvSpPr>
          <p:cNvPr id="15" name="Content Placeholder 2">
            <a:extLst>
              <a:ext uri="{FF2B5EF4-FFF2-40B4-BE49-F238E27FC236}">
                <a16:creationId xmlns:a16="http://schemas.microsoft.com/office/drawing/2014/main" id="{B0923B5B-DC86-FD42-8980-ED10DDA4E5E2}"/>
              </a:ext>
            </a:extLst>
          </p:cNvPr>
          <p:cNvSpPr>
            <a:spLocks noGrp="1"/>
          </p:cNvSpPr>
          <p:nvPr>
            <p:ph sz="half" idx="1"/>
          </p:nvPr>
        </p:nvSpPr>
        <p:spPr>
          <a:xfrm>
            <a:off x="479425" y="1304926"/>
            <a:ext cx="5433699" cy="442046"/>
          </a:xfrm>
        </p:spPr>
        <p:txBody>
          <a:bodyPr/>
          <a:lstStyle>
            <a:lvl1pPr>
              <a:defRPr b="1" i="0">
                <a:solidFill>
                  <a:schemeClr val="tx2"/>
                </a:solidFill>
                <a:latin typeface="+mn-lt"/>
              </a:defRPr>
            </a:lvl1pPr>
          </a:lstStyle>
          <a:p>
            <a:pPr lvl="0"/>
            <a:r>
              <a:rPr lang="en-US"/>
              <a:t>Click to edit Master text styles</a:t>
            </a:r>
          </a:p>
        </p:txBody>
      </p:sp>
      <p:sp>
        <p:nvSpPr>
          <p:cNvPr id="16" name="Content Placeholder 2">
            <a:extLst>
              <a:ext uri="{FF2B5EF4-FFF2-40B4-BE49-F238E27FC236}">
                <a16:creationId xmlns:a16="http://schemas.microsoft.com/office/drawing/2014/main" id="{FE48DBB3-8289-B14F-8BC8-5B24B33035E0}"/>
              </a:ext>
            </a:extLst>
          </p:cNvPr>
          <p:cNvSpPr>
            <a:spLocks noGrp="1"/>
          </p:cNvSpPr>
          <p:nvPr>
            <p:ph sz="half" idx="13"/>
          </p:nvPr>
        </p:nvSpPr>
        <p:spPr>
          <a:xfrm>
            <a:off x="479425" y="1765152"/>
            <a:ext cx="5433699" cy="4148285"/>
          </a:xfrm>
        </p:spPr>
        <p:txBody>
          <a:bodyPr/>
          <a:lstStyle>
            <a:lvl1pPr>
              <a:defRPr>
                <a:latin typeface="+mn-lt"/>
              </a:defRPr>
            </a:lvl1pPr>
          </a:lstStyle>
          <a:p>
            <a:pPr lvl="0"/>
            <a:r>
              <a:rPr lang="en-US"/>
              <a:t>Click to edit Master text styles</a:t>
            </a:r>
          </a:p>
        </p:txBody>
      </p:sp>
      <p:sp>
        <p:nvSpPr>
          <p:cNvPr id="17" name="Content Placeholder 2">
            <a:extLst>
              <a:ext uri="{FF2B5EF4-FFF2-40B4-BE49-F238E27FC236}">
                <a16:creationId xmlns:a16="http://schemas.microsoft.com/office/drawing/2014/main" id="{299CF0E0-8A7A-7E45-B4F1-04BEB41F929E}"/>
              </a:ext>
            </a:extLst>
          </p:cNvPr>
          <p:cNvSpPr>
            <a:spLocks noGrp="1"/>
          </p:cNvSpPr>
          <p:nvPr>
            <p:ph sz="half" idx="14"/>
          </p:nvPr>
        </p:nvSpPr>
        <p:spPr>
          <a:xfrm>
            <a:off x="6286499" y="1304926"/>
            <a:ext cx="5413467" cy="442046"/>
          </a:xfrm>
        </p:spPr>
        <p:txBody>
          <a:bodyPr/>
          <a:lstStyle>
            <a:lvl1pPr>
              <a:defRPr b="1" i="0">
                <a:solidFill>
                  <a:schemeClr val="tx2"/>
                </a:solidFill>
                <a:latin typeface="+mn-lt"/>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E552EAB7-EABC-2446-A43B-D2090CF73BF9}"/>
              </a:ext>
            </a:extLst>
          </p:cNvPr>
          <p:cNvSpPr>
            <a:spLocks noGrp="1"/>
          </p:cNvSpPr>
          <p:nvPr>
            <p:ph sz="half" idx="15"/>
          </p:nvPr>
        </p:nvSpPr>
        <p:spPr>
          <a:xfrm>
            <a:off x="6286499" y="1765152"/>
            <a:ext cx="5413467" cy="4148285"/>
          </a:xfrm>
        </p:spPr>
        <p:txBody>
          <a:bodyPr/>
          <a:lstStyle>
            <a:lvl1pPr>
              <a:defRPr>
                <a:latin typeface="+mn-lt"/>
              </a:defRPr>
            </a:lvl1pPr>
          </a:lstStyle>
          <a:p>
            <a:pPr lvl="0"/>
            <a:r>
              <a:rPr lang="en-US"/>
              <a:t>Click to edit Master text styles</a:t>
            </a:r>
          </a:p>
        </p:txBody>
      </p:sp>
      <p:sp>
        <p:nvSpPr>
          <p:cNvPr id="14" name="Rectangle 13">
            <a:extLst>
              <a:ext uri="{FF2B5EF4-FFF2-40B4-BE49-F238E27FC236}">
                <a16:creationId xmlns:a16="http://schemas.microsoft.com/office/drawing/2014/main" id="{2E175BE5-07B0-CC4E-8281-BC636B39270D}"/>
              </a:ext>
            </a:extLst>
          </p:cNvPr>
          <p:cNvSpPr/>
          <p:nvPr userDrawn="1"/>
        </p:nvSpPr>
        <p:spPr>
          <a:xfrm>
            <a:off x="479425" y="342415"/>
            <a:ext cx="45719" cy="354086"/>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latin typeface="+mn-lt"/>
            </a:endParaRPr>
          </a:p>
        </p:txBody>
      </p:sp>
      <p:sp>
        <p:nvSpPr>
          <p:cNvPr id="10" name="Slide Number Placeholder 3">
            <a:extLst>
              <a:ext uri="{FF2B5EF4-FFF2-40B4-BE49-F238E27FC236}">
                <a16:creationId xmlns:a16="http://schemas.microsoft.com/office/drawing/2014/main" id="{A4B9B12E-2115-459D-A8D2-B2304AC1C999}"/>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7884050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Picture 33" descr="Picture 33">
            <a:extLst>
              <a:ext uri="{FF2B5EF4-FFF2-40B4-BE49-F238E27FC236}">
                <a16:creationId xmlns:a16="http://schemas.microsoft.com/office/drawing/2014/main" id="{9BAC9FF5-9705-1D4F-A5F0-A965D057A0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466" y="6159781"/>
            <a:ext cx="740859" cy="442046"/>
          </a:xfrm>
          <a:prstGeom prst="rect">
            <a:avLst/>
          </a:prstGeom>
          <a:ln w="12700">
            <a:miter lim="400000"/>
          </a:ln>
        </p:spPr>
      </p:pic>
      <p:sp>
        <p:nvSpPr>
          <p:cNvPr id="11" name="Title 1">
            <a:extLst>
              <a:ext uri="{FF2B5EF4-FFF2-40B4-BE49-F238E27FC236}">
                <a16:creationId xmlns:a16="http://schemas.microsoft.com/office/drawing/2014/main" id="{71CFD7B7-6C20-D14A-8309-FE5D67F522EB}"/>
              </a:ext>
            </a:extLst>
          </p:cNvPr>
          <p:cNvSpPr>
            <a:spLocks noGrp="1"/>
          </p:cNvSpPr>
          <p:nvPr>
            <p:ph type="title"/>
          </p:nvPr>
        </p:nvSpPr>
        <p:spPr>
          <a:xfrm>
            <a:off x="685799" y="260351"/>
            <a:ext cx="11026775" cy="551307"/>
          </a:xfrm>
        </p:spPr>
        <p:txBody>
          <a:bodyPr/>
          <a:lstStyle>
            <a:lvl1pPr>
              <a:defRPr>
                <a:latin typeface="+mn-lt"/>
              </a:defRPr>
            </a:lvl1pPr>
          </a:lstStyle>
          <a:p>
            <a:r>
              <a:rPr lang="en-US"/>
              <a:t>Click to edit Master title style</a:t>
            </a:r>
          </a:p>
        </p:txBody>
      </p:sp>
      <p:sp>
        <p:nvSpPr>
          <p:cNvPr id="13" name="Rectangle 12">
            <a:extLst>
              <a:ext uri="{FF2B5EF4-FFF2-40B4-BE49-F238E27FC236}">
                <a16:creationId xmlns:a16="http://schemas.microsoft.com/office/drawing/2014/main" id="{600E2566-5390-6F4B-B9A9-1C908C1392CB}"/>
              </a:ext>
            </a:extLst>
          </p:cNvPr>
          <p:cNvSpPr/>
          <p:nvPr userDrawn="1"/>
        </p:nvSpPr>
        <p:spPr>
          <a:xfrm>
            <a:off x="479425" y="342415"/>
            <a:ext cx="45719" cy="354086"/>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latin typeface="+mn-lt"/>
            </a:endParaRPr>
          </a:p>
        </p:txBody>
      </p:sp>
      <p:sp>
        <p:nvSpPr>
          <p:cNvPr id="6" name="Slide Number Placeholder 3">
            <a:extLst>
              <a:ext uri="{FF2B5EF4-FFF2-40B4-BE49-F238E27FC236}">
                <a16:creationId xmlns:a16="http://schemas.microsoft.com/office/drawing/2014/main" id="{70D09AFD-BF68-4B4C-A6F4-02B5510371BF}"/>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451254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pic>
        <p:nvPicPr>
          <p:cNvPr id="9" name="Picture 33" descr="Picture 33">
            <a:extLst>
              <a:ext uri="{FF2B5EF4-FFF2-40B4-BE49-F238E27FC236}">
                <a16:creationId xmlns:a16="http://schemas.microsoft.com/office/drawing/2014/main" id="{DA6581EC-BEC9-BF4C-AB2E-51139E54D2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466" y="6159781"/>
            <a:ext cx="740859" cy="442046"/>
          </a:xfrm>
          <a:prstGeom prst="rect">
            <a:avLst/>
          </a:prstGeom>
          <a:ln w="12700">
            <a:miter lim="400000"/>
          </a:ln>
        </p:spPr>
      </p:pic>
      <p:sp>
        <p:nvSpPr>
          <p:cNvPr id="5" name="Slide Number Placeholder 3">
            <a:extLst>
              <a:ext uri="{FF2B5EF4-FFF2-40B4-BE49-F238E27FC236}">
                <a16:creationId xmlns:a16="http://schemas.microsoft.com/office/drawing/2014/main" id="{F1082333-B025-4FF3-8FF9-F4D95DBA84A9}"/>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8425859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5933525-584D-984D-B203-07B112016C5E}"/>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167337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541-F72F-344E-9815-9B6F9B46F524}"/>
              </a:ext>
            </a:extLst>
          </p:cNvPr>
          <p:cNvSpPr>
            <a:spLocks noGrp="1"/>
          </p:cNvSpPr>
          <p:nvPr>
            <p:ph type="ctrTitle"/>
          </p:nvPr>
        </p:nvSpPr>
        <p:spPr>
          <a:xfrm>
            <a:off x="479425" y="1304925"/>
            <a:ext cx="5710280" cy="3968115"/>
          </a:xfrm>
        </p:spPr>
        <p:txBody>
          <a:bodyPr anchor="t">
            <a:normAutofit/>
          </a:bodyPr>
          <a:lstStyle>
            <a:lvl1pPr algn="l">
              <a:defRPr sz="4400" b="0" i="0">
                <a:solidFill>
                  <a:schemeClr val="bg1"/>
                </a:solidFill>
                <a:latin typeface="+mn-lt"/>
              </a:defRPr>
            </a:lvl1pPr>
          </a:lstStyle>
          <a:p>
            <a:r>
              <a:rPr lang="en-US"/>
              <a:t>Click to edit Master title style</a:t>
            </a:r>
          </a:p>
        </p:txBody>
      </p:sp>
      <p:pic>
        <p:nvPicPr>
          <p:cNvPr id="25" name="Picture 24">
            <a:extLst>
              <a:ext uri="{FF2B5EF4-FFF2-40B4-BE49-F238E27FC236}">
                <a16:creationId xmlns:a16="http://schemas.microsoft.com/office/drawing/2014/main" id="{20FBC834-E4F8-3547-911A-032EA2456F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5213" y="6149594"/>
            <a:ext cx="693853" cy="452233"/>
          </a:xfrm>
          <a:prstGeom prst="rect">
            <a:avLst/>
          </a:prstGeom>
        </p:spPr>
      </p:pic>
      <p:sp>
        <p:nvSpPr>
          <p:cNvPr id="5" name="Slide Number Placeholder 3">
            <a:extLst>
              <a:ext uri="{FF2B5EF4-FFF2-40B4-BE49-F238E27FC236}">
                <a16:creationId xmlns:a16="http://schemas.microsoft.com/office/drawing/2014/main" id="{DCC7B4D9-2B66-419A-B468-969170E50179}"/>
              </a:ext>
            </a:extLst>
          </p:cNvPr>
          <p:cNvSpPr>
            <a:spLocks noGrp="1"/>
          </p:cNvSpPr>
          <p:nvPr>
            <p:ph type="sldNum" sz="quarter" idx="12"/>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137325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1CEA0-4CFD-423A-B512-D1BE777CA4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9CCA800-5BCC-4D3F-BA3E-772DBCF356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0BC6DF-12C3-4D92-B9BA-8EB75E22D7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a:extLst>
              <a:ext uri="{FF2B5EF4-FFF2-40B4-BE49-F238E27FC236}">
                <a16:creationId xmlns:a16="http://schemas.microsoft.com/office/drawing/2014/main" id="{2CCCF732-0519-4692-B1C1-1C32DC3F3B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2ACE90-08FF-4137-9525-5E2F0B7D0993}"/>
              </a:ext>
            </a:extLst>
          </p:cNvPr>
          <p:cNvSpPr>
            <a:spLocks noGrp="1"/>
          </p:cNvSpPr>
          <p:nvPr>
            <p:ph type="sldNum" sz="quarter" idx="4"/>
          </p:nvPr>
        </p:nvSpPr>
        <p:spPr>
          <a:xfrm>
            <a:off x="9298661"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1A7E15-3B48-4B7B-BB52-54578FC31682}" type="slidenum">
              <a:rPr lang="en-GB" smtClean="0"/>
              <a:t>‹#›</a:t>
            </a:fld>
            <a:endParaRPr lang="en-GB"/>
          </a:p>
        </p:txBody>
      </p:sp>
      <p:sp>
        <p:nvSpPr>
          <p:cNvPr id="7" name="MSIPCMContentMarking" descr="{&quot;HashCode&quot;:-1264847310,&quot;Placement&quot;:&quot;Footer&quot;,&quot;Top&quot;:519.343,&quot;Left&quot;:451.105438,&quot;SlideWidth&quot;:960,&quot;SlideHeight&quot;:540}">
            <a:extLst>
              <a:ext uri="{FF2B5EF4-FFF2-40B4-BE49-F238E27FC236}">
                <a16:creationId xmlns:a16="http://schemas.microsoft.com/office/drawing/2014/main" id="{451CE297-0856-4C38-B747-56AC355982E5}"/>
              </a:ext>
            </a:extLst>
          </p:cNvPr>
          <p:cNvSpPr txBox="1"/>
          <p:nvPr userDrawn="1"/>
        </p:nvSpPr>
        <p:spPr>
          <a:xfrm>
            <a:off x="5729039" y="6595656"/>
            <a:ext cx="733923" cy="262344"/>
          </a:xfrm>
          <a:prstGeom prst="rect">
            <a:avLst/>
          </a:prstGeom>
          <a:noFill/>
        </p:spPr>
        <p:txBody>
          <a:bodyPr vert="horz" wrap="square" lIns="0" tIns="0" rIns="0" bIns="0" rtlCol="0" anchor="ctr" anchorCtr="1">
            <a:spAutoFit/>
          </a:bodyPr>
          <a:lstStyle/>
          <a:p>
            <a:pPr algn="ctr">
              <a:spcBef>
                <a:spcPts val="0"/>
              </a:spcBef>
              <a:spcAft>
                <a:spcPts val="0"/>
              </a:spcAft>
            </a:pPr>
            <a:r>
              <a:rPr lang="en-GB" sz="1000">
                <a:solidFill>
                  <a:srgbClr val="000000"/>
                </a:solidFill>
                <a:latin typeface="Calibri" panose="020F0502020204030204" pitchFamily="34" charset="0"/>
              </a:rPr>
              <a:t>OFFICIAL</a:t>
            </a:r>
          </a:p>
        </p:txBody>
      </p:sp>
    </p:spTree>
    <p:extLst>
      <p:ext uri="{BB962C8B-B14F-4D97-AF65-F5344CB8AC3E}">
        <p14:creationId xmlns:p14="http://schemas.microsoft.com/office/powerpoint/2010/main" val="758975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703" r:id="rId6"/>
    <p:sldLayoutId id="2147483655" r:id="rId7"/>
    <p:sldLayoutId id="2147483656" r:id="rId8"/>
    <p:sldLayoutId id="2147483657" r:id="rId9"/>
    <p:sldLayoutId id="2147483658" r:id="rId10"/>
    <p:sldLayoutId id="2147483659" r:id="rId11"/>
    <p:sldLayoutId id="2147483660" r:id="rId12"/>
    <p:sldLayoutId id="214748370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BFBDAF-40F8-3645-9BDC-07FC339F7170}"/>
              </a:ext>
            </a:extLst>
          </p:cNvPr>
          <p:cNvSpPr>
            <a:spLocks noGrp="1"/>
          </p:cNvSpPr>
          <p:nvPr>
            <p:ph type="title"/>
          </p:nvPr>
        </p:nvSpPr>
        <p:spPr>
          <a:xfrm>
            <a:off x="479426" y="260351"/>
            <a:ext cx="11233150" cy="8377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8D38CB-339E-9940-AA99-1D2BB21A3607}"/>
              </a:ext>
            </a:extLst>
          </p:cNvPr>
          <p:cNvSpPr>
            <a:spLocks noGrp="1"/>
          </p:cNvSpPr>
          <p:nvPr>
            <p:ph type="body" idx="1"/>
          </p:nvPr>
        </p:nvSpPr>
        <p:spPr>
          <a:xfrm>
            <a:off x="479426" y="1315133"/>
            <a:ext cx="11233149" cy="4595166"/>
          </a:xfrm>
          <a:prstGeom prst="rect">
            <a:avLst/>
          </a:prstGeom>
        </p:spPr>
        <p:txBody>
          <a:bodyPr vert="horz" lIns="91440" tIns="45720" rIns="91440" bIns="45720" rtlCol="0">
            <a:normAutofit/>
          </a:bodyPr>
          <a:lstStyle/>
          <a:p>
            <a:pPr lvl="0"/>
            <a:r>
              <a:rPr lang="en-US"/>
              <a:t>Click to edit Master text styles</a:t>
            </a:r>
          </a:p>
        </p:txBody>
      </p:sp>
      <p:sp>
        <p:nvSpPr>
          <p:cNvPr id="21" name="Oval 20">
            <a:extLst>
              <a:ext uri="{FF2B5EF4-FFF2-40B4-BE49-F238E27FC236}">
                <a16:creationId xmlns:a16="http://schemas.microsoft.com/office/drawing/2014/main" id="{3DED16FE-7C2C-FF4B-9749-9910A7EDE4BA}"/>
              </a:ext>
            </a:extLst>
          </p:cNvPr>
          <p:cNvSpPr/>
          <p:nvPr userDrawn="1"/>
        </p:nvSpPr>
        <p:spPr>
          <a:xfrm>
            <a:off x="10361762" y="-509163"/>
            <a:ext cx="146355" cy="146355"/>
          </a:xfrm>
          <a:prstGeom prst="ellipse">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2" name="Oval 21">
            <a:extLst>
              <a:ext uri="{FF2B5EF4-FFF2-40B4-BE49-F238E27FC236}">
                <a16:creationId xmlns:a16="http://schemas.microsoft.com/office/drawing/2014/main" id="{56E5AD4D-27DB-4F44-B22E-3EE5F48DB5FE}"/>
              </a:ext>
            </a:extLst>
          </p:cNvPr>
          <p:cNvSpPr/>
          <p:nvPr userDrawn="1"/>
        </p:nvSpPr>
        <p:spPr>
          <a:xfrm>
            <a:off x="10071905" y="-509163"/>
            <a:ext cx="146355" cy="14635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3" name="Oval 22">
            <a:extLst>
              <a:ext uri="{FF2B5EF4-FFF2-40B4-BE49-F238E27FC236}">
                <a16:creationId xmlns:a16="http://schemas.microsoft.com/office/drawing/2014/main" id="{47D30C39-91B0-2A44-9471-A583E441B52B}"/>
              </a:ext>
            </a:extLst>
          </p:cNvPr>
          <p:cNvSpPr/>
          <p:nvPr userDrawn="1"/>
        </p:nvSpPr>
        <p:spPr>
          <a:xfrm>
            <a:off x="10535346" y="-509163"/>
            <a:ext cx="146355" cy="146355"/>
          </a:xfrm>
          <a:prstGeom prst="ellipse">
            <a:avLst/>
          </a:prstGeom>
          <a:solidFill>
            <a:srgbClr val="7EC4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4" name="Oval 23">
            <a:extLst>
              <a:ext uri="{FF2B5EF4-FFF2-40B4-BE49-F238E27FC236}">
                <a16:creationId xmlns:a16="http://schemas.microsoft.com/office/drawing/2014/main" id="{21F49233-F056-6B46-8AC5-E7BFDF2922E7}"/>
              </a:ext>
            </a:extLst>
          </p:cNvPr>
          <p:cNvSpPr/>
          <p:nvPr userDrawn="1"/>
        </p:nvSpPr>
        <p:spPr>
          <a:xfrm>
            <a:off x="10984204" y="-509163"/>
            <a:ext cx="146355" cy="146355"/>
          </a:xfrm>
          <a:prstGeom prst="ellipse">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5" name="Oval 24">
            <a:extLst>
              <a:ext uri="{FF2B5EF4-FFF2-40B4-BE49-F238E27FC236}">
                <a16:creationId xmlns:a16="http://schemas.microsoft.com/office/drawing/2014/main" id="{DFD69C76-DBFF-7144-AF8C-2BE962278611}"/>
              </a:ext>
            </a:extLst>
          </p:cNvPr>
          <p:cNvSpPr/>
          <p:nvPr userDrawn="1"/>
        </p:nvSpPr>
        <p:spPr>
          <a:xfrm>
            <a:off x="11181613" y="-509163"/>
            <a:ext cx="146355" cy="146355"/>
          </a:xfrm>
          <a:prstGeom prst="ellipse">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6" name="Oval 25">
            <a:extLst>
              <a:ext uri="{FF2B5EF4-FFF2-40B4-BE49-F238E27FC236}">
                <a16:creationId xmlns:a16="http://schemas.microsoft.com/office/drawing/2014/main" id="{D9AD0D39-4074-AA4A-B047-D2DA7E72B3D8}"/>
              </a:ext>
            </a:extLst>
          </p:cNvPr>
          <p:cNvSpPr/>
          <p:nvPr userDrawn="1"/>
        </p:nvSpPr>
        <p:spPr>
          <a:xfrm>
            <a:off x="11375618" y="-509163"/>
            <a:ext cx="146355" cy="146355"/>
          </a:xfrm>
          <a:prstGeom prst="ellipse">
            <a:avLst/>
          </a:prstGeom>
          <a:solidFill>
            <a:srgbClr val="A3C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7" name="Oval 26">
            <a:extLst>
              <a:ext uri="{FF2B5EF4-FFF2-40B4-BE49-F238E27FC236}">
                <a16:creationId xmlns:a16="http://schemas.microsoft.com/office/drawing/2014/main" id="{9E8EB882-9A13-4643-B56F-06BD7ACCD90C}"/>
              </a:ext>
            </a:extLst>
          </p:cNvPr>
          <p:cNvSpPr/>
          <p:nvPr userDrawn="1"/>
        </p:nvSpPr>
        <p:spPr>
          <a:xfrm>
            <a:off x="11566220" y="-509163"/>
            <a:ext cx="146355" cy="146355"/>
          </a:xfrm>
          <a:prstGeom prst="ellipse">
            <a:avLst/>
          </a:prstGeom>
          <a:solidFill>
            <a:srgbClr val="CEE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8" name="Oval 27">
            <a:extLst>
              <a:ext uri="{FF2B5EF4-FFF2-40B4-BE49-F238E27FC236}">
                <a16:creationId xmlns:a16="http://schemas.microsoft.com/office/drawing/2014/main" id="{57E80B42-68EB-EF4C-B1C4-9143D603FBB9}"/>
              </a:ext>
            </a:extLst>
          </p:cNvPr>
          <p:cNvSpPr/>
          <p:nvPr userDrawn="1"/>
        </p:nvSpPr>
        <p:spPr>
          <a:xfrm>
            <a:off x="10722544" y="-509163"/>
            <a:ext cx="146355" cy="146355"/>
          </a:xfrm>
          <a:prstGeom prst="ellipse">
            <a:avLst/>
          </a:prstGeom>
          <a:solidFill>
            <a:srgbClr val="CCEC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29" name="Oval 28">
            <a:extLst>
              <a:ext uri="{FF2B5EF4-FFF2-40B4-BE49-F238E27FC236}">
                <a16:creationId xmlns:a16="http://schemas.microsoft.com/office/drawing/2014/main" id="{214B4DE1-F357-F340-80BD-A65AAE945B58}"/>
              </a:ext>
            </a:extLst>
          </p:cNvPr>
          <p:cNvSpPr/>
          <p:nvPr userDrawn="1"/>
        </p:nvSpPr>
        <p:spPr>
          <a:xfrm>
            <a:off x="9901725" y="-509163"/>
            <a:ext cx="146355" cy="146355"/>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16" name="Oval 15">
            <a:extLst>
              <a:ext uri="{FF2B5EF4-FFF2-40B4-BE49-F238E27FC236}">
                <a16:creationId xmlns:a16="http://schemas.microsoft.com/office/drawing/2014/main" id="{7744E5B4-77A0-7141-A745-20FD4258D825}"/>
              </a:ext>
            </a:extLst>
          </p:cNvPr>
          <p:cNvSpPr/>
          <p:nvPr userDrawn="1"/>
        </p:nvSpPr>
        <p:spPr>
          <a:xfrm>
            <a:off x="9712539" y="-509163"/>
            <a:ext cx="146355" cy="146355"/>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solidFill>
                <a:srgbClr val="FFFFFF"/>
              </a:solidFill>
            </a:endParaRPr>
          </a:p>
        </p:txBody>
      </p:sp>
      <p:sp>
        <p:nvSpPr>
          <p:cNvPr id="4" name="MSIPCMContentMarking" descr="{&quot;HashCode&quot;:-1264847310,&quot;Placement&quot;:&quot;Footer&quot;,&quot;Top&quot;:519.343,&quot;Left&quot;:451.105438,&quot;SlideWidth&quot;:960,&quot;SlideHeight&quot;:540}">
            <a:extLst>
              <a:ext uri="{FF2B5EF4-FFF2-40B4-BE49-F238E27FC236}">
                <a16:creationId xmlns:a16="http://schemas.microsoft.com/office/drawing/2014/main" id="{4A2FD2E8-ADDB-434F-B6C9-042BCE44E520}"/>
              </a:ext>
            </a:extLst>
          </p:cNvPr>
          <p:cNvSpPr txBox="1"/>
          <p:nvPr userDrawn="1"/>
        </p:nvSpPr>
        <p:spPr>
          <a:xfrm>
            <a:off x="5729039" y="6595656"/>
            <a:ext cx="733923" cy="262344"/>
          </a:xfrm>
          <a:prstGeom prst="rect">
            <a:avLst/>
          </a:prstGeom>
          <a:noFill/>
        </p:spPr>
        <p:txBody>
          <a:bodyPr vert="horz" wrap="square" lIns="0" tIns="0" rIns="0" bIns="0" rtlCol="0" anchor="ctr" anchorCtr="1">
            <a:spAutoFit/>
          </a:bodyPr>
          <a:lstStyle/>
          <a:p>
            <a:pPr algn="ctr">
              <a:lnSpc>
                <a:spcPct val="150000"/>
              </a:lnSpc>
              <a:spcBef>
                <a:spcPts val="0"/>
              </a:spcBef>
              <a:spcAft>
                <a:spcPts val="0"/>
              </a:spcAft>
            </a:pPr>
            <a:r>
              <a:rPr lang="en-GB" sz="1000">
                <a:solidFill>
                  <a:srgbClr val="000000"/>
                </a:solidFill>
                <a:latin typeface="Calibri" panose="020F0502020204030204" pitchFamily="34" charset="0"/>
              </a:rPr>
              <a:t>OFFICIAL</a:t>
            </a:r>
            <a:endParaRPr lang="en-GB" sz="1000" err="1">
              <a:solidFill>
                <a:srgbClr val="000000"/>
              </a:solidFill>
              <a:latin typeface="Calibri" panose="020F0502020204030204" pitchFamily="34" charset="0"/>
            </a:endParaRPr>
          </a:p>
        </p:txBody>
      </p:sp>
      <p:sp>
        <p:nvSpPr>
          <p:cNvPr id="17" name="Slide Number Placeholder 3">
            <a:extLst>
              <a:ext uri="{FF2B5EF4-FFF2-40B4-BE49-F238E27FC236}">
                <a16:creationId xmlns:a16="http://schemas.microsoft.com/office/drawing/2014/main" id="{7B213F1F-F909-4558-A315-09BE1B3381AA}"/>
              </a:ext>
            </a:extLst>
          </p:cNvPr>
          <p:cNvSpPr>
            <a:spLocks noGrp="1"/>
          </p:cNvSpPr>
          <p:nvPr>
            <p:ph type="sldNum" sz="quarter" idx="4"/>
          </p:nvPr>
        </p:nvSpPr>
        <p:spPr>
          <a:xfrm>
            <a:off x="11199775" y="6356350"/>
            <a:ext cx="843277" cy="365125"/>
          </a:xfrm>
          <a:prstGeom prst="rect">
            <a:avLst/>
          </a:prstGeom>
        </p:spPr>
        <p:txBody>
          <a:bodyPr/>
          <a:lstStyle>
            <a:lvl1pPr>
              <a:defRPr>
                <a:latin typeface="+mn-lt"/>
              </a:defRPr>
            </a:lvl1pPr>
          </a:lstStyle>
          <a:p>
            <a:fld id="{505D49E0-8A1B-064A-8359-1403606AC716}"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66971671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2600" kern="1200">
          <a:solidFill>
            <a:schemeClr val="tx1"/>
          </a:solidFill>
          <a:latin typeface="+mn-lt"/>
          <a:ea typeface="+mj-ea"/>
          <a:cs typeface="+mj-cs"/>
        </a:defRPr>
      </a:lvl1pPr>
    </p:titleStyle>
    <p:bodyStyle>
      <a:lvl1pPr marL="0" indent="0" algn="l" defTabSz="914400" rtl="0" eaLnBrk="1" latinLnBrk="0" hangingPunct="1">
        <a:lnSpc>
          <a:spcPct val="150000"/>
        </a:lnSpc>
        <a:spcBef>
          <a:spcPts val="1000"/>
        </a:spcBef>
        <a:buFontTx/>
        <a:buNone/>
        <a:defRPr sz="1600" b="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000" kern="1200">
          <a:solidFill>
            <a:schemeClr val="tx1"/>
          </a:solidFill>
          <a:latin typeface="Graphik" panose="020B0503030202060203" pitchFamily="34" charset="77"/>
          <a:ea typeface="+mn-ea"/>
          <a:cs typeface="+mn-cs"/>
        </a:defRPr>
      </a:lvl2pPr>
      <a:lvl3pPr marL="914400" indent="0" algn="l" defTabSz="914400" rtl="0" eaLnBrk="1" latinLnBrk="0" hangingPunct="1">
        <a:lnSpc>
          <a:spcPct val="90000"/>
        </a:lnSpc>
        <a:spcBef>
          <a:spcPts val="500"/>
        </a:spcBef>
        <a:buFontTx/>
        <a:buNone/>
        <a:defRPr sz="1800" kern="1200">
          <a:solidFill>
            <a:schemeClr val="tx1"/>
          </a:solidFill>
          <a:latin typeface="Graphik" panose="020B0503030202060203" pitchFamily="34" charset="77"/>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Graphik" panose="020B0503030202060203" pitchFamily="34" charset="77"/>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164">
          <p15:clr>
            <a:srgbClr val="F26B43"/>
          </p15:clr>
        </p15:guide>
        <p15:guide id="4" orient="horz" pos="3725">
          <p15:clr>
            <a:srgbClr val="F26B43"/>
          </p15:clr>
        </p15:guide>
        <p15:guide id="5" orient="horz" pos="82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blogs.ed.ac.uk/digitalcitizen/2020/03/18/digital-communities-trying-times/"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6.jpeg"/><Relationship Id="rId21" Type="http://schemas.openxmlformats.org/officeDocument/2006/relationships/image" Target="../media/image19.png"/><Relationship Id="rId7" Type="http://schemas.openxmlformats.org/officeDocument/2006/relationships/diagramColors" Target="../diagrams/colors1.xml"/><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image" Target="../media/image9.png"/><Relationship Id="rId5" Type="http://schemas.openxmlformats.org/officeDocument/2006/relationships/diagramLayout" Target="../diagrams/layout1.xml"/><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diagramData" Target="../diagrams/data1.xml"/><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diagramLayout" Target="../diagrams/layout2.xml"/><Relationship Id="rId7" Type="http://schemas.openxmlformats.org/officeDocument/2006/relationships/image" Target="../media/image7.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diagramData" Target="../diagrams/data2.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12.xml"/><Relationship Id="rId6" Type="http://schemas.microsoft.com/office/2007/relationships/diagramDrawing" Target="../diagrams/drawing2.xml"/><Relationship Id="rId11" Type="http://schemas.openxmlformats.org/officeDocument/2006/relationships/image" Target="../media/image24.png"/><Relationship Id="rId5" Type="http://schemas.openxmlformats.org/officeDocument/2006/relationships/diagramColors" Target="../diagrams/colors2.xml"/><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32.png"/><Relationship Id="rId4" Type="http://schemas.openxmlformats.org/officeDocument/2006/relationships/diagramQuickStyle" Target="../diagrams/quickStyle2.xml"/><Relationship Id="rId9" Type="http://schemas.openxmlformats.org/officeDocument/2006/relationships/image" Target="../media/image22.png"/><Relationship Id="rId14" Type="http://schemas.openxmlformats.org/officeDocument/2006/relationships/image" Target="../media/image27.sv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2.svg"/><Relationship Id="rId18" Type="http://schemas.openxmlformats.org/officeDocument/2006/relationships/image" Target="../media/image30.png"/><Relationship Id="rId3" Type="http://schemas.openxmlformats.org/officeDocument/2006/relationships/diagramData" Target="../diagrams/data3.xml"/><Relationship Id="rId21" Type="http://schemas.openxmlformats.org/officeDocument/2006/relationships/image" Target="../media/image33.svg"/><Relationship Id="rId7" Type="http://schemas.microsoft.com/office/2007/relationships/diagramDrawing" Target="../diagrams/drawing3.xml"/><Relationship Id="rId12" Type="http://schemas.openxmlformats.org/officeDocument/2006/relationships/image" Target="../media/image11.png"/><Relationship Id="rId17" Type="http://schemas.openxmlformats.org/officeDocument/2006/relationships/image" Target="../media/image29.svg"/><Relationship Id="rId2" Type="http://schemas.openxmlformats.org/officeDocument/2006/relationships/hyperlink" Target="https://developer.service.hmrc.gov.uk/guides/customs-declarations-end-to-end-service-guide/" TargetMode="Externa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diagramColors" Target="../diagrams/colors3.xml"/><Relationship Id="rId11" Type="http://schemas.openxmlformats.org/officeDocument/2006/relationships/image" Target="../media/image23.svg"/><Relationship Id="rId5" Type="http://schemas.openxmlformats.org/officeDocument/2006/relationships/diagramQuickStyle" Target="../diagrams/quickStyle3.xml"/><Relationship Id="rId15" Type="http://schemas.openxmlformats.org/officeDocument/2006/relationships/image" Target="../media/image36.svg"/><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diagramLayout" Target="../diagrams/layout3.xml"/><Relationship Id="rId9" Type="http://schemas.openxmlformats.org/officeDocument/2006/relationships/image" Target="../media/image35.svg"/><Relationship Id="rId1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13" Type="http://schemas.openxmlformats.org/officeDocument/2006/relationships/image" Target="../media/image11.png"/><Relationship Id="rId18" Type="http://schemas.openxmlformats.org/officeDocument/2006/relationships/image" Target="../media/image29.svg"/><Relationship Id="rId3" Type="http://schemas.openxmlformats.org/officeDocument/2006/relationships/hyperlink" Target="https://developer.service.hmrc.gov.uk/api-documentation/docs/api/service/api-platform-test-user/1.0" TargetMode="External"/><Relationship Id="rId21" Type="http://schemas.openxmlformats.org/officeDocument/2006/relationships/image" Target="../media/image32.png"/><Relationship Id="rId7" Type="http://schemas.openxmlformats.org/officeDocument/2006/relationships/diagramColors" Target="../diagrams/colors4.xml"/><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hyperlink" Target="https://developer.service.hmrc.gov.uk/api-documentation/docs/using-the-hub" TargetMode="External"/><Relationship Id="rId16" Type="http://schemas.openxmlformats.org/officeDocument/2006/relationships/image" Target="../media/image36.svg"/><Relationship Id="rId20" Type="http://schemas.openxmlformats.org/officeDocument/2006/relationships/image" Target="../media/image31.svg"/><Relationship Id="rId1" Type="http://schemas.openxmlformats.org/officeDocument/2006/relationships/slideLayout" Target="../slideLayouts/slideLayout12.xml"/><Relationship Id="rId6" Type="http://schemas.openxmlformats.org/officeDocument/2006/relationships/diagramQuickStyle" Target="../diagrams/quickStyle4.xml"/><Relationship Id="rId11" Type="http://schemas.openxmlformats.org/officeDocument/2006/relationships/image" Target="../media/image22.png"/><Relationship Id="rId5" Type="http://schemas.openxmlformats.org/officeDocument/2006/relationships/diagramLayout" Target="../diagrams/layout4.xml"/><Relationship Id="rId15" Type="http://schemas.openxmlformats.org/officeDocument/2006/relationships/image" Target="../media/image26.png"/><Relationship Id="rId10" Type="http://schemas.openxmlformats.org/officeDocument/2006/relationships/image" Target="../media/image35.svg"/><Relationship Id="rId19" Type="http://schemas.openxmlformats.org/officeDocument/2006/relationships/image" Target="../media/image30.png"/><Relationship Id="rId4" Type="http://schemas.openxmlformats.org/officeDocument/2006/relationships/diagramData" Target="../diagrams/data4.xml"/><Relationship Id="rId9" Type="http://schemas.openxmlformats.org/officeDocument/2006/relationships/image" Target="../media/image34.png"/><Relationship Id="rId14" Type="http://schemas.openxmlformats.org/officeDocument/2006/relationships/image" Target="../media/image12.svg"/><Relationship Id="rId22" Type="http://schemas.openxmlformats.org/officeDocument/2006/relationships/image" Target="../media/image33.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diagramData" Target="../diagrams/data5.xml"/><Relationship Id="rId18" Type="http://schemas.openxmlformats.org/officeDocument/2006/relationships/image" Target="../media/image34.png"/><Relationship Id="rId26" Type="http://schemas.openxmlformats.org/officeDocument/2006/relationships/image" Target="../media/image28.png"/><Relationship Id="rId3" Type="http://schemas.openxmlformats.org/officeDocument/2006/relationships/image" Target="../media/image37.jpeg"/><Relationship Id="rId21" Type="http://schemas.openxmlformats.org/officeDocument/2006/relationships/image" Target="../media/image23.svg"/><Relationship Id="rId7" Type="http://schemas.openxmlformats.org/officeDocument/2006/relationships/image" Target="../media/image41.svg"/><Relationship Id="rId12" Type="http://schemas.openxmlformats.org/officeDocument/2006/relationships/hyperlink" Target="https://www.gov.uk/government/publications/customs-declaration-service-communication-pack/declarant-checklist-for-exports-moving-to-the-customs-declaration-service" TargetMode="External"/><Relationship Id="rId17" Type="http://schemas.microsoft.com/office/2007/relationships/diagramDrawing" Target="../diagrams/drawing5.xml"/><Relationship Id="rId25" Type="http://schemas.openxmlformats.org/officeDocument/2006/relationships/image" Target="../media/image14.svg"/><Relationship Id="rId2" Type="http://schemas.openxmlformats.org/officeDocument/2006/relationships/notesSlide" Target="../notesSlides/notesSlide5.xml"/><Relationship Id="rId16" Type="http://schemas.openxmlformats.org/officeDocument/2006/relationships/diagramColors" Target="../diagrams/colors5.xml"/><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13.png"/><Relationship Id="rId5" Type="http://schemas.openxmlformats.org/officeDocument/2006/relationships/image" Target="../media/image39.svg"/><Relationship Id="rId15" Type="http://schemas.openxmlformats.org/officeDocument/2006/relationships/diagramQuickStyle" Target="../diagrams/quickStyle5.xml"/><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44.png"/><Relationship Id="rId19" Type="http://schemas.openxmlformats.org/officeDocument/2006/relationships/image" Target="../media/image35.svg"/><Relationship Id="rId31" Type="http://schemas.openxmlformats.org/officeDocument/2006/relationships/image" Target="../media/image33.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diagramLayout" Target="../diagrams/layout5.xml"/><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image" Target="../media/image23.svg"/><Relationship Id="rId18" Type="http://schemas.openxmlformats.org/officeDocument/2006/relationships/image" Target="../media/image28.png"/><Relationship Id="rId3" Type="http://schemas.openxmlformats.org/officeDocument/2006/relationships/slide" Target="slide11.xml"/><Relationship Id="rId21" Type="http://schemas.openxmlformats.org/officeDocument/2006/relationships/image" Target="../media/image31.svg"/><Relationship Id="rId7" Type="http://schemas.openxmlformats.org/officeDocument/2006/relationships/diagramQuickStyle" Target="../diagrams/quickStyle6.xml"/><Relationship Id="rId12" Type="http://schemas.openxmlformats.org/officeDocument/2006/relationships/image" Target="../media/image22.png"/><Relationship Id="rId17" Type="http://schemas.openxmlformats.org/officeDocument/2006/relationships/image" Target="../media/image14.svg"/><Relationship Id="rId25" Type="http://schemas.openxmlformats.org/officeDocument/2006/relationships/hyperlink" Target="https://developer.service.hmrc.gov.uk/api-documentation/docs/api/service/api-platform-test-user/1.0" TargetMode="External"/><Relationship Id="rId2" Type="http://schemas.openxmlformats.org/officeDocument/2006/relationships/notesSlide" Target="../notesSlides/notesSlide6.xml"/><Relationship Id="rId16" Type="http://schemas.openxmlformats.org/officeDocument/2006/relationships/image" Target="../media/image13.png"/><Relationship Id="rId20"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diagramLayout" Target="../diagrams/layout6.xml"/><Relationship Id="rId11" Type="http://schemas.openxmlformats.org/officeDocument/2006/relationships/image" Target="../media/image35.svg"/><Relationship Id="rId24" Type="http://schemas.openxmlformats.org/officeDocument/2006/relationships/hyperlink" Target="https://developer.service.hmrc.gov.uk/api-documentation/docs/using-the-hub" TargetMode="External"/><Relationship Id="rId5" Type="http://schemas.openxmlformats.org/officeDocument/2006/relationships/diagramData" Target="../diagrams/data6.xml"/><Relationship Id="rId15" Type="http://schemas.openxmlformats.org/officeDocument/2006/relationships/image" Target="../media/image25.svg"/><Relationship Id="rId23" Type="http://schemas.openxmlformats.org/officeDocument/2006/relationships/image" Target="../media/image33.svg"/><Relationship Id="rId10" Type="http://schemas.openxmlformats.org/officeDocument/2006/relationships/image" Target="../media/image34.png"/><Relationship Id="rId19" Type="http://schemas.openxmlformats.org/officeDocument/2006/relationships/image" Target="../media/image29.svg"/><Relationship Id="rId4" Type="http://schemas.openxmlformats.org/officeDocument/2006/relationships/hyperlink" Target="https://developer.service.hmrc.gov.uk/api-documentation/docs/api" TargetMode="External"/><Relationship Id="rId9" Type="http://schemas.microsoft.com/office/2007/relationships/diagramDrawing" Target="../diagrams/drawing6.xml"/><Relationship Id="rId14" Type="http://schemas.openxmlformats.org/officeDocument/2006/relationships/image" Target="../media/image24.png"/><Relationship Id="rId22"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5.svg"/><Relationship Id="rId18" Type="http://schemas.openxmlformats.org/officeDocument/2006/relationships/image" Target="../media/image30.png"/><Relationship Id="rId3" Type="http://schemas.openxmlformats.org/officeDocument/2006/relationships/diagramData" Target="../diagrams/data7.xml"/><Relationship Id="rId21" Type="http://schemas.openxmlformats.org/officeDocument/2006/relationships/image" Target="../media/image33.svg"/><Relationship Id="rId7" Type="http://schemas.microsoft.com/office/2007/relationships/diagramDrawing" Target="../diagrams/drawing7.xml"/><Relationship Id="rId12" Type="http://schemas.openxmlformats.org/officeDocument/2006/relationships/image" Target="../media/image24.png"/><Relationship Id="rId17" Type="http://schemas.openxmlformats.org/officeDocument/2006/relationships/image" Target="../media/image29.svg"/><Relationship Id="rId2" Type="http://schemas.openxmlformats.org/officeDocument/2006/relationships/slide" Target="slide13.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23.svg"/><Relationship Id="rId24" Type="http://schemas.openxmlformats.org/officeDocument/2006/relationships/hyperlink" Target="mailto:SDSTeam@HMRC.gov.uk" TargetMode="External"/><Relationship Id="rId5" Type="http://schemas.openxmlformats.org/officeDocument/2006/relationships/diagramQuickStyle" Target="../diagrams/quickStyle7.xml"/><Relationship Id="rId15" Type="http://schemas.openxmlformats.org/officeDocument/2006/relationships/image" Target="../media/image14.svg"/><Relationship Id="rId23" Type="http://schemas.openxmlformats.org/officeDocument/2006/relationships/hyperlink" Target="https://developer.service.hmrc.gov.uk/guides/customs-declarations-end-to-end-service-guide/documentation/set-up-developers.html#api-versioning" TargetMode="External"/><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diagramLayout" Target="../diagrams/layout7.xml"/><Relationship Id="rId9" Type="http://schemas.openxmlformats.org/officeDocument/2006/relationships/image" Target="../media/image35.svg"/><Relationship Id="rId14" Type="http://schemas.openxmlformats.org/officeDocument/2006/relationships/image" Target="../media/image13.png"/><Relationship Id="rId22" Type="http://schemas.openxmlformats.org/officeDocument/2006/relationships/hyperlink" Target="https://developer.service.hmrc.gov.uk/api-documentation/docs/api"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diagramLayout" Target="../diagrams/layout8.xml"/><Relationship Id="rId18" Type="http://schemas.openxmlformats.org/officeDocument/2006/relationships/image" Target="../media/image35.svg"/><Relationship Id="rId26" Type="http://schemas.openxmlformats.org/officeDocument/2006/relationships/image" Target="../media/image29.svg"/><Relationship Id="rId3" Type="http://schemas.openxmlformats.org/officeDocument/2006/relationships/hyperlink" Target="https://developer.service.hmrc.gov.uk/api-documentation/docs/terms-of-use" TargetMode="External"/><Relationship Id="rId21" Type="http://schemas.openxmlformats.org/officeDocument/2006/relationships/image" Target="../media/image24.png"/><Relationship Id="rId7" Type="http://schemas.openxmlformats.org/officeDocument/2006/relationships/image" Target="../media/image49.svg"/><Relationship Id="rId12" Type="http://schemas.openxmlformats.org/officeDocument/2006/relationships/diagramData" Target="../diagrams/data8.xml"/><Relationship Id="rId17" Type="http://schemas.openxmlformats.org/officeDocument/2006/relationships/image" Target="../media/image34.png"/><Relationship Id="rId25" Type="http://schemas.openxmlformats.org/officeDocument/2006/relationships/image" Target="../media/image28.png"/><Relationship Id="rId2" Type="http://schemas.openxmlformats.org/officeDocument/2006/relationships/hyperlink" Target="https://developer.service.hmrc.gov.uk/api-documentation/docs/authorisation/user-restricted-endpoints" TargetMode="External"/><Relationship Id="rId16" Type="http://schemas.microsoft.com/office/2007/relationships/diagramDrawing" Target="../diagrams/drawing8.xml"/><Relationship Id="rId20" Type="http://schemas.openxmlformats.org/officeDocument/2006/relationships/image" Target="../media/image23.sv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svg"/><Relationship Id="rId24" Type="http://schemas.openxmlformats.org/officeDocument/2006/relationships/image" Target="../media/image14.svg"/><Relationship Id="rId5" Type="http://schemas.openxmlformats.org/officeDocument/2006/relationships/image" Target="../media/image47.svg"/><Relationship Id="rId15" Type="http://schemas.openxmlformats.org/officeDocument/2006/relationships/diagramColors" Target="../diagrams/colors8.xml"/><Relationship Id="rId23" Type="http://schemas.openxmlformats.org/officeDocument/2006/relationships/image" Target="../media/image13.png"/><Relationship Id="rId28" Type="http://schemas.openxmlformats.org/officeDocument/2006/relationships/image" Target="../media/image31.svg"/><Relationship Id="rId10" Type="http://schemas.openxmlformats.org/officeDocument/2006/relationships/image" Target="../media/image52.png"/><Relationship Id="rId19" Type="http://schemas.openxmlformats.org/officeDocument/2006/relationships/image" Target="../media/image22.png"/><Relationship Id="rId4" Type="http://schemas.openxmlformats.org/officeDocument/2006/relationships/image" Target="../media/image46.png"/><Relationship Id="rId9" Type="http://schemas.openxmlformats.org/officeDocument/2006/relationships/image" Target="../media/image51.svg"/><Relationship Id="rId14" Type="http://schemas.openxmlformats.org/officeDocument/2006/relationships/diagramQuickStyle" Target="../diagrams/quickStyle8.xml"/><Relationship Id="rId22" Type="http://schemas.openxmlformats.org/officeDocument/2006/relationships/image" Target="../media/image25.svg"/><Relationship Id="rId27" Type="http://schemas.openxmlformats.org/officeDocument/2006/relationships/image" Target="../media/image30.png"/><Relationship Id="rId30" Type="http://schemas.openxmlformats.org/officeDocument/2006/relationships/image" Target="../media/image33.svg"/></Relationships>
</file>

<file path=ppt/slides/_rels/slide13.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13.png"/><Relationship Id="rId18" Type="http://schemas.openxmlformats.org/officeDocument/2006/relationships/image" Target="../media/image31.svg"/><Relationship Id="rId3" Type="http://schemas.openxmlformats.org/officeDocument/2006/relationships/diagramLayout" Target="../diagrams/layout9.xm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diagramData" Target="../diagrams/data9.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2.xml"/><Relationship Id="rId6" Type="http://schemas.microsoft.com/office/2007/relationships/diagramDrawing" Target="../diagrams/drawing9.xml"/><Relationship Id="rId11" Type="http://schemas.openxmlformats.org/officeDocument/2006/relationships/image" Target="../media/image24.png"/><Relationship Id="rId5" Type="http://schemas.openxmlformats.org/officeDocument/2006/relationships/diagramColors" Target="../diagrams/colors9.xml"/><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32.png"/><Relationship Id="rId4" Type="http://schemas.openxmlformats.org/officeDocument/2006/relationships/diagramQuickStyle" Target="../diagrams/quickStyle9.xml"/><Relationship Id="rId9" Type="http://schemas.openxmlformats.org/officeDocument/2006/relationships/image" Target="../media/image22.png"/><Relationship Id="rId14" Type="http://schemas.openxmlformats.org/officeDocument/2006/relationships/image" Target="../media/image14.svg"/></Relationships>
</file>

<file path=ppt/slides/_rels/slide14.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13.png"/><Relationship Id="rId18" Type="http://schemas.openxmlformats.org/officeDocument/2006/relationships/image" Target="../media/image31.svg"/><Relationship Id="rId3" Type="http://schemas.openxmlformats.org/officeDocument/2006/relationships/diagramLayout" Target="../diagrams/layout10.xml"/><Relationship Id="rId21" Type="http://schemas.openxmlformats.org/officeDocument/2006/relationships/image" Target="../media/image54.png"/><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diagramData" Target="../diagrams/data10.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image" Target="../media/image24.png"/><Relationship Id="rId5" Type="http://schemas.openxmlformats.org/officeDocument/2006/relationships/diagramColors" Target="../diagrams/colors10.xml"/><Relationship Id="rId15" Type="http://schemas.openxmlformats.org/officeDocument/2006/relationships/image" Target="../media/image28.png"/><Relationship Id="rId23" Type="http://schemas.openxmlformats.org/officeDocument/2006/relationships/hyperlink" Target="https://www.gov.uk/government/publications/known-error-workarounds-for-the-customs-declaration-service-cds" TargetMode="External"/><Relationship Id="rId10" Type="http://schemas.openxmlformats.org/officeDocument/2006/relationships/image" Target="../media/image23.svg"/><Relationship Id="rId19" Type="http://schemas.openxmlformats.org/officeDocument/2006/relationships/image" Target="../media/image32.png"/><Relationship Id="rId4" Type="http://schemas.openxmlformats.org/officeDocument/2006/relationships/diagramQuickStyle" Target="../diagrams/quickStyle10.xml"/><Relationship Id="rId9" Type="http://schemas.openxmlformats.org/officeDocument/2006/relationships/image" Target="../media/image22.png"/><Relationship Id="rId14" Type="http://schemas.openxmlformats.org/officeDocument/2006/relationships/image" Target="../media/image14.svg"/><Relationship Id="rId22" Type="http://schemas.openxmlformats.org/officeDocument/2006/relationships/image" Target="../media/image55.sv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5.svg"/><Relationship Id="rId18" Type="http://schemas.openxmlformats.org/officeDocument/2006/relationships/image" Target="../media/image30.png"/><Relationship Id="rId3" Type="http://schemas.openxmlformats.org/officeDocument/2006/relationships/diagramData" Target="../diagrams/data11.xml"/><Relationship Id="rId21" Type="http://schemas.openxmlformats.org/officeDocument/2006/relationships/image" Target="../media/image33.svg"/><Relationship Id="rId7" Type="http://schemas.microsoft.com/office/2007/relationships/diagramDrawing" Target="../diagrams/drawing11.xml"/><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hyperlink" Target="https://www.gov.uk/government/publications/customs-declaration-service-communication-pack" TargetMode="External"/><Relationship Id="rId2" Type="http://schemas.openxmlformats.org/officeDocument/2006/relationships/notesSlide" Target="../notesSlides/notesSlide8.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diagramColors" Target="../diagrams/colors11.xml"/><Relationship Id="rId11" Type="http://schemas.openxmlformats.org/officeDocument/2006/relationships/image" Target="../media/image10.svg"/><Relationship Id="rId24" Type="http://schemas.openxmlformats.org/officeDocument/2006/relationships/hyperlink" Target="https://www.gov.uk/government/publications/uk-trade-tariff-cds-volume-3-export-declaration-completion-guide/general-notes-on-reading-data-element-completion-rules" TargetMode="External"/><Relationship Id="rId5" Type="http://schemas.openxmlformats.org/officeDocument/2006/relationships/diagramQuickStyle" Target="../diagrams/quickStyle11.xml"/><Relationship Id="rId15" Type="http://schemas.openxmlformats.org/officeDocument/2006/relationships/image" Target="../media/image27.svg"/><Relationship Id="rId23" Type="http://schemas.openxmlformats.org/officeDocument/2006/relationships/hyperlink" Target="https://www.gov.uk/guidance/navigate-the-uk-trade-tariff-cds-volume-3-for-exports" TargetMode="External"/><Relationship Id="rId10" Type="http://schemas.openxmlformats.org/officeDocument/2006/relationships/image" Target="../media/image9.png"/><Relationship Id="rId19" Type="http://schemas.openxmlformats.org/officeDocument/2006/relationships/image" Target="../media/image31.svg"/><Relationship Id="rId4" Type="http://schemas.openxmlformats.org/officeDocument/2006/relationships/diagramLayout" Target="../diagrams/layout11.xml"/><Relationship Id="rId9" Type="http://schemas.openxmlformats.org/officeDocument/2006/relationships/image" Target="../media/image35.svg"/><Relationship Id="rId14" Type="http://schemas.openxmlformats.org/officeDocument/2006/relationships/image" Target="../media/image26.png"/><Relationship Id="rId22" Type="http://schemas.openxmlformats.org/officeDocument/2006/relationships/hyperlink" Target="https://www.gov.uk/guidance/navigate-the-uk-trade-tariff-cds-volume-3-for-imports"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diagramLayout" Target="../diagrams/layout12.xml"/><Relationship Id="rId21" Type="http://schemas.openxmlformats.org/officeDocument/2006/relationships/hyperlink" Target="https://www.gov.uk/government/publications/customs-declaration-service-communication-pack/key-differences-between-chief-and-the-customs-declaration-service" TargetMode="Externa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30.png"/><Relationship Id="rId25" Type="http://schemas.openxmlformats.org/officeDocument/2006/relationships/image" Target="../media/image59.svg"/><Relationship Id="rId2" Type="http://schemas.openxmlformats.org/officeDocument/2006/relationships/diagramData" Target="../diagrams/data12.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image" Target="../media/image24.png"/><Relationship Id="rId24" Type="http://schemas.openxmlformats.org/officeDocument/2006/relationships/image" Target="../media/image58.png"/><Relationship Id="rId5" Type="http://schemas.openxmlformats.org/officeDocument/2006/relationships/diagramColors" Target="../diagrams/colors12.xml"/><Relationship Id="rId15" Type="http://schemas.openxmlformats.org/officeDocument/2006/relationships/image" Target="../media/image28.png"/><Relationship Id="rId23" Type="http://schemas.openxmlformats.org/officeDocument/2006/relationships/image" Target="../media/image57.svg"/><Relationship Id="rId10" Type="http://schemas.openxmlformats.org/officeDocument/2006/relationships/image" Target="../media/image10.svg"/><Relationship Id="rId19" Type="http://schemas.openxmlformats.org/officeDocument/2006/relationships/image" Target="../media/image32.png"/><Relationship Id="rId4" Type="http://schemas.openxmlformats.org/officeDocument/2006/relationships/diagramQuickStyle" Target="../diagrams/quickStyle12.xml"/><Relationship Id="rId9" Type="http://schemas.openxmlformats.org/officeDocument/2006/relationships/image" Target="../media/image9.png"/><Relationship Id="rId14" Type="http://schemas.openxmlformats.org/officeDocument/2006/relationships/image" Target="../media/image27.svg"/><Relationship Id="rId22" Type="http://schemas.openxmlformats.org/officeDocument/2006/relationships/image" Target="../media/image56.png"/></Relationships>
</file>

<file path=ppt/slides/_rels/slide18.xml.rels><?xml version="1.0" encoding="UTF-8" standalone="yes"?>
<Relationships xmlns="http://schemas.openxmlformats.org/package/2006/relationships"><Relationship Id="rId8" Type="http://schemas.microsoft.com/office/2007/relationships/diagramDrawing" Target="../diagrams/drawing13.xml"/><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hyperlink" Target="https://developer.service.hmrc.gov.uk/api-documentation" TargetMode="External"/><Relationship Id="rId21" Type="http://schemas.openxmlformats.org/officeDocument/2006/relationships/image" Target="../media/image32.png"/><Relationship Id="rId7" Type="http://schemas.openxmlformats.org/officeDocument/2006/relationships/diagramColors" Target="../diagrams/colors13.xml"/><Relationship Id="rId12" Type="http://schemas.openxmlformats.org/officeDocument/2006/relationships/image" Target="../media/image10.svg"/><Relationship Id="rId17" Type="http://schemas.openxmlformats.org/officeDocument/2006/relationships/image" Target="../media/image28.png"/><Relationship Id="rId2" Type="http://schemas.openxmlformats.org/officeDocument/2006/relationships/notesSlide" Target="../notesSlides/notesSlide9.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slideLayout" Target="../slideLayouts/slideLayout12.xml"/><Relationship Id="rId6" Type="http://schemas.openxmlformats.org/officeDocument/2006/relationships/diagramQuickStyle" Target="../diagrams/quickStyle13.xml"/><Relationship Id="rId11" Type="http://schemas.openxmlformats.org/officeDocument/2006/relationships/image" Target="../media/image9.png"/><Relationship Id="rId5" Type="http://schemas.openxmlformats.org/officeDocument/2006/relationships/diagramLayout" Target="../diagrams/layout13.xml"/><Relationship Id="rId15" Type="http://schemas.openxmlformats.org/officeDocument/2006/relationships/image" Target="../media/image26.png"/><Relationship Id="rId10" Type="http://schemas.openxmlformats.org/officeDocument/2006/relationships/image" Target="../media/image35.svg"/><Relationship Id="rId19" Type="http://schemas.openxmlformats.org/officeDocument/2006/relationships/image" Target="../media/image30.png"/><Relationship Id="rId4" Type="http://schemas.openxmlformats.org/officeDocument/2006/relationships/diagramData" Target="../diagrams/data13.xml"/><Relationship Id="rId9" Type="http://schemas.openxmlformats.org/officeDocument/2006/relationships/image" Target="../media/image34.png"/><Relationship Id="rId14" Type="http://schemas.openxmlformats.org/officeDocument/2006/relationships/image" Target="../media/image25.svg"/><Relationship Id="rId22" Type="http://schemas.openxmlformats.org/officeDocument/2006/relationships/image" Target="../media/image33.svg"/></Relationships>
</file>

<file path=ppt/slides/_rels/slide19.xml.rels><?xml version="1.0" encoding="UTF-8" standalone="yes"?>
<Relationships xmlns="http://schemas.openxmlformats.org/package/2006/relationships"><Relationship Id="rId8" Type="http://schemas.openxmlformats.org/officeDocument/2006/relationships/image" Target="../media/image65.sv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svg"/><Relationship Id="rId17" Type="http://schemas.openxmlformats.org/officeDocument/2006/relationships/image" Target="../media/image73.svg"/><Relationship Id="rId2" Type="http://schemas.openxmlformats.org/officeDocument/2006/relationships/notesSlide" Target="../notesSlides/notesSlide10.xml"/><Relationship Id="rId16"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hyperlink" Target="https://www.gov.uk/government/publications/customs-declaration-service-communication-pack/key-differences-between-chief-and-the-customs-declaration-service--2" TargetMode="External"/><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sv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4.xml"/><Relationship Id="rId13" Type="http://schemas.openxmlformats.org/officeDocument/2006/relationships/image" Target="../media/image35.svg"/><Relationship Id="rId18" Type="http://schemas.openxmlformats.org/officeDocument/2006/relationships/image" Target="../media/image26.png"/><Relationship Id="rId26" Type="http://schemas.openxmlformats.org/officeDocument/2006/relationships/hyperlink" Target="https://developer.service.hmrc.gov.uk/api-documentation" TargetMode="External"/><Relationship Id="rId3" Type="http://schemas.openxmlformats.org/officeDocument/2006/relationships/hyperlink" Target="https://developer.service.hmrc.gov.uk/api-documentation/docs/api" TargetMode="External"/><Relationship Id="rId21" Type="http://schemas.openxmlformats.org/officeDocument/2006/relationships/image" Target="../media/image16.svg"/><Relationship Id="rId7" Type="http://schemas.openxmlformats.org/officeDocument/2006/relationships/diagramData" Target="../diagrams/data14.xml"/><Relationship Id="rId12" Type="http://schemas.openxmlformats.org/officeDocument/2006/relationships/image" Target="../media/image34.png"/><Relationship Id="rId17" Type="http://schemas.openxmlformats.org/officeDocument/2006/relationships/image" Target="../media/image25.svg"/><Relationship Id="rId25" Type="http://schemas.openxmlformats.org/officeDocument/2006/relationships/image" Target="../media/image33.svg"/><Relationship Id="rId2" Type="http://schemas.openxmlformats.org/officeDocument/2006/relationships/hyperlink" Target="https://developer.service.hmrc.gov.uk/guides/customs-declarations-end-to-end-service-guide/" TargetMode="External"/><Relationship Id="rId16" Type="http://schemas.openxmlformats.org/officeDocument/2006/relationships/image" Target="../media/image24.png"/><Relationship Id="rId20"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hyperlink" Target="https://oauth.net/2/" TargetMode="External"/><Relationship Id="rId11" Type="http://schemas.microsoft.com/office/2007/relationships/diagramDrawing" Target="../diagrams/drawing14.xml"/><Relationship Id="rId24" Type="http://schemas.openxmlformats.org/officeDocument/2006/relationships/image" Target="../media/image32.png"/><Relationship Id="rId5" Type="http://schemas.openxmlformats.org/officeDocument/2006/relationships/hyperlink" Target="https://developer.service.hmrc.gov.uk/api-documentation/docs/authorisation" TargetMode="External"/><Relationship Id="rId15" Type="http://schemas.openxmlformats.org/officeDocument/2006/relationships/image" Target="../media/image74.svg"/><Relationship Id="rId23" Type="http://schemas.openxmlformats.org/officeDocument/2006/relationships/image" Target="../media/image31.svg"/><Relationship Id="rId10" Type="http://schemas.openxmlformats.org/officeDocument/2006/relationships/diagramColors" Target="../diagrams/colors14.xml"/><Relationship Id="rId19" Type="http://schemas.openxmlformats.org/officeDocument/2006/relationships/image" Target="../media/image27.svg"/><Relationship Id="rId4" Type="http://schemas.openxmlformats.org/officeDocument/2006/relationships/hyperlink" Target="https://developer.service.hmrc.gov.uk/api-documentation/docs/terms-of-use" TargetMode="External"/><Relationship Id="rId9" Type="http://schemas.openxmlformats.org/officeDocument/2006/relationships/diagramQuickStyle" Target="../diagrams/quickStyle14.xml"/><Relationship Id="rId14" Type="http://schemas.openxmlformats.org/officeDocument/2006/relationships/image" Target="../media/image22.png"/><Relationship Id="rId22"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hyperlink" Target="https://www.gov.uk/government/publications/authorisation-type-codes-for-data-element-339-of-the-customs-declaration-service" TargetMode="External"/><Relationship Id="rId3" Type="http://schemas.openxmlformats.org/officeDocument/2006/relationships/diagramData" Target="../diagrams/data15.xml"/><Relationship Id="rId21" Type="http://schemas.openxmlformats.org/officeDocument/2006/relationships/image" Target="../media/image33.svg"/><Relationship Id="rId7" Type="http://schemas.microsoft.com/office/2007/relationships/diagramDrawing" Target="../diagrams/drawing15.xml"/><Relationship Id="rId12" Type="http://schemas.openxmlformats.org/officeDocument/2006/relationships/image" Target="../media/image24.png"/><Relationship Id="rId17" Type="http://schemas.openxmlformats.org/officeDocument/2006/relationships/image" Target="../media/image16.svg"/><Relationship Id="rId25" Type="http://schemas.openxmlformats.org/officeDocument/2006/relationships/hyperlink" Target="https://www.gov.uk/government/collections/data-element-23-documents-and-other-reference-codes-of-the-customs-declaration-service-cds" TargetMode="External"/><Relationship Id="rId2" Type="http://schemas.openxmlformats.org/officeDocument/2006/relationships/notesSlide" Target="../notesSlides/notesSlide12.xml"/><Relationship Id="rId16" Type="http://schemas.openxmlformats.org/officeDocument/2006/relationships/image" Target="../media/image15.png"/><Relationship Id="rId20" Type="http://schemas.openxmlformats.org/officeDocument/2006/relationships/image" Target="../media/image32.png"/><Relationship Id="rId29" Type="http://schemas.openxmlformats.org/officeDocument/2006/relationships/hyperlink" Target="https://www.trade-tariff.service.gov.uk/find_commodity" TargetMode="External"/><Relationship Id="rId1" Type="http://schemas.openxmlformats.org/officeDocument/2006/relationships/slideLayout" Target="../slideLayouts/slideLayout13.xml"/><Relationship Id="rId6" Type="http://schemas.openxmlformats.org/officeDocument/2006/relationships/diagramColors" Target="../diagrams/colors15.xml"/><Relationship Id="rId11" Type="http://schemas.openxmlformats.org/officeDocument/2006/relationships/image" Target="../media/image23.svg"/><Relationship Id="rId24" Type="http://schemas.openxmlformats.org/officeDocument/2006/relationships/image" Target="../media/image76.png"/><Relationship Id="rId32" Type="http://schemas.openxmlformats.org/officeDocument/2006/relationships/hyperlink" Target="https://www.gov.uk/trade-tariff" TargetMode="External"/><Relationship Id="rId5" Type="http://schemas.openxmlformats.org/officeDocument/2006/relationships/diagramQuickStyle" Target="../diagrams/quickStyle15.xml"/><Relationship Id="rId15" Type="http://schemas.openxmlformats.org/officeDocument/2006/relationships/image" Target="../media/image27.svg"/><Relationship Id="rId23" Type="http://schemas.openxmlformats.org/officeDocument/2006/relationships/image" Target="../media/image75.png"/><Relationship Id="rId28" Type="http://schemas.openxmlformats.org/officeDocument/2006/relationships/hyperlink" Target="https://www.gov.uk/government/publications/appendix-22-declaration-category-data-sets-landing-page-and-introductory-text--2" TargetMode="External"/><Relationship Id="rId10" Type="http://schemas.openxmlformats.org/officeDocument/2006/relationships/image" Target="../media/image22.png"/><Relationship Id="rId19" Type="http://schemas.openxmlformats.org/officeDocument/2006/relationships/image" Target="../media/image31.svg"/><Relationship Id="rId31" Type="http://schemas.openxmlformats.org/officeDocument/2006/relationships/hyperlink" Target="https://www.gov.uk/guidance/additional-information-ai-statement-codes-for-data-element-22-of-the-customs-declaration-service-cds" TargetMode="External"/><Relationship Id="rId4" Type="http://schemas.openxmlformats.org/officeDocument/2006/relationships/diagramLayout" Target="../diagrams/layout15.xml"/><Relationship Id="rId9" Type="http://schemas.openxmlformats.org/officeDocument/2006/relationships/image" Target="../media/image35.svg"/><Relationship Id="rId14" Type="http://schemas.openxmlformats.org/officeDocument/2006/relationships/image" Target="../media/image26.png"/><Relationship Id="rId22" Type="http://schemas.openxmlformats.org/officeDocument/2006/relationships/hyperlink" Target="https://www.gov.uk/government/collections/uk-trade-tariff-volume-3-for-cds--2" TargetMode="External"/><Relationship Id="rId27" Type="http://schemas.openxmlformats.org/officeDocument/2006/relationships/hyperlink" Target="https://www.gov.uk/government/publications/appendix-21-import-declaration-category-data-sets" TargetMode="External"/><Relationship Id="rId30" Type="http://schemas.openxmlformats.org/officeDocument/2006/relationships/hyperlink" Target="https://www.gov.uk/government/publications/appendix-1-de-110-requested-and-previous-procedure-codes-of-the-customs-declaration-service-cd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hyperlink" Target="https://www.gov.uk/government/publications/uk-trade-tariff-cds-volume-3-export-declaration-completion-guide/general-notes-on-reading-data-element-completion-rules" TargetMode="External"/><Relationship Id="rId3" Type="http://schemas.openxmlformats.org/officeDocument/2006/relationships/diagramData" Target="../diagrams/data16.xml"/><Relationship Id="rId21" Type="http://schemas.openxmlformats.org/officeDocument/2006/relationships/image" Target="../media/image33.svg"/><Relationship Id="rId7" Type="http://schemas.microsoft.com/office/2007/relationships/diagramDrawing" Target="../diagrams/drawing16.xml"/><Relationship Id="rId12" Type="http://schemas.openxmlformats.org/officeDocument/2006/relationships/image" Target="../media/image24.png"/><Relationship Id="rId17" Type="http://schemas.openxmlformats.org/officeDocument/2006/relationships/image" Target="../media/image16.svg"/><Relationship Id="rId25" Type="http://schemas.openxmlformats.org/officeDocument/2006/relationships/hyperlink" Target="https://www.gov.uk/government/publications/cds-uk-trade-tariff-volume-3-import-declaration-completion-guide/uk-trade-tariff-cds-volume-3-import-declaration-completion-guide" TargetMode="External"/><Relationship Id="rId2" Type="http://schemas.openxmlformats.org/officeDocument/2006/relationships/notesSlide" Target="../notesSlides/notesSlide13.xml"/><Relationship Id="rId16" Type="http://schemas.openxmlformats.org/officeDocument/2006/relationships/image" Target="../media/image15.png"/><Relationship Id="rId20"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diagramColors" Target="../diagrams/colors16.xml"/><Relationship Id="rId11" Type="http://schemas.openxmlformats.org/officeDocument/2006/relationships/image" Target="../media/image23.svg"/><Relationship Id="rId24" Type="http://schemas.openxmlformats.org/officeDocument/2006/relationships/hyperlink" Target="https://www.gov.uk/export-goods" TargetMode="External"/><Relationship Id="rId5" Type="http://schemas.openxmlformats.org/officeDocument/2006/relationships/diagramQuickStyle" Target="../diagrams/quickStyle16.xml"/><Relationship Id="rId15" Type="http://schemas.openxmlformats.org/officeDocument/2006/relationships/image" Target="../media/image27.svg"/><Relationship Id="rId23" Type="http://schemas.openxmlformats.org/officeDocument/2006/relationships/hyperlink" Target="https://www.gov.uk/import-goods-into-uk" TargetMode="External"/><Relationship Id="rId28" Type="http://schemas.openxmlformats.org/officeDocument/2006/relationships/hyperlink" Target="https://www.gov.uk/government/publications/customs-declaration-service-communication-pack" TargetMode="External"/><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diagramLayout" Target="../diagrams/layout16.xml"/><Relationship Id="rId9" Type="http://schemas.openxmlformats.org/officeDocument/2006/relationships/image" Target="../media/image35.svg"/><Relationship Id="rId14" Type="http://schemas.openxmlformats.org/officeDocument/2006/relationships/image" Target="../media/image26.png"/><Relationship Id="rId22" Type="http://schemas.openxmlformats.org/officeDocument/2006/relationships/hyperlink" Target="https://www.gov.uk/government/collections/customs-declaration-service" TargetMode="External"/><Relationship Id="rId27" Type="http://schemas.openxmlformats.org/officeDocument/2006/relationships/hyperlink" Target="https://www.gov.uk/guidance/get-help-using-example-declarations-for-imports-to-great-britain-from-the-rest-of-the-world"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31.svg"/><Relationship Id="rId26" Type="http://schemas.openxmlformats.org/officeDocument/2006/relationships/image" Target="../media/image80.png"/><Relationship Id="rId3" Type="http://schemas.openxmlformats.org/officeDocument/2006/relationships/diagramLayout" Target="../diagrams/layout17.xml"/><Relationship Id="rId21" Type="http://schemas.openxmlformats.org/officeDocument/2006/relationships/hyperlink" Target="https://www.gov.uk/government/collections/customs-declaration-service" TargetMode="External"/><Relationship Id="rId34" Type="http://schemas.openxmlformats.org/officeDocument/2006/relationships/hyperlink" Target="https://developer.service.hmrc.gov.uk/api-documentation/docs/tutorials" TargetMode="Externa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30.png"/><Relationship Id="rId25" Type="http://schemas.openxmlformats.org/officeDocument/2006/relationships/image" Target="../media/image79.svg"/><Relationship Id="rId33" Type="http://schemas.openxmlformats.org/officeDocument/2006/relationships/hyperlink" Target="https://www.gov.uk/government/publications/customs-declaration-service-error-codes" TargetMode="External"/><Relationship Id="rId2" Type="http://schemas.openxmlformats.org/officeDocument/2006/relationships/diagramData" Target="../diagrams/data17.xml"/><Relationship Id="rId16" Type="http://schemas.openxmlformats.org/officeDocument/2006/relationships/image" Target="../media/image16.svg"/><Relationship Id="rId20" Type="http://schemas.openxmlformats.org/officeDocument/2006/relationships/image" Target="../media/image33.svg"/><Relationship Id="rId29" Type="http://schemas.openxmlformats.org/officeDocument/2006/relationships/image" Target="../media/image83.svg"/><Relationship Id="rId1" Type="http://schemas.openxmlformats.org/officeDocument/2006/relationships/slideLayout" Target="../slideLayouts/slideLayout13.xml"/><Relationship Id="rId6" Type="http://schemas.microsoft.com/office/2007/relationships/diagramDrawing" Target="../diagrams/drawing17.xml"/><Relationship Id="rId11" Type="http://schemas.openxmlformats.org/officeDocument/2006/relationships/image" Target="../media/image24.png"/><Relationship Id="rId24" Type="http://schemas.openxmlformats.org/officeDocument/2006/relationships/image" Target="../media/image78.svg"/><Relationship Id="rId32" Type="http://schemas.openxmlformats.org/officeDocument/2006/relationships/image" Target="../media/image86.svg"/><Relationship Id="rId5" Type="http://schemas.openxmlformats.org/officeDocument/2006/relationships/diagramColors" Target="../diagrams/colors17.xml"/><Relationship Id="rId15" Type="http://schemas.openxmlformats.org/officeDocument/2006/relationships/image" Target="../media/image15.png"/><Relationship Id="rId23" Type="http://schemas.openxmlformats.org/officeDocument/2006/relationships/image" Target="../media/image77.png"/><Relationship Id="rId28" Type="http://schemas.openxmlformats.org/officeDocument/2006/relationships/image" Target="../media/image82.png"/><Relationship Id="rId10" Type="http://schemas.openxmlformats.org/officeDocument/2006/relationships/image" Target="../media/image74.svg"/><Relationship Id="rId19" Type="http://schemas.openxmlformats.org/officeDocument/2006/relationships/image" Target="../media/image32.png"/><Relationship Id="rId31" Type="http://schemas.openxmlformats.org/officeDocument/2006/relationships/image" Target="../media/image85.svg"/><Relationship Id="rId4" Type="http://schemas.openxmlformats.org/officeDocument/2006/relationships/diagramQuickStyle" Target="../diagrams/quickStyle17.xml"/><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hyperlink" Target="https://www.gov.uk/government/publications/customs-declaration-service-communication-pack/customs-declaration-service-toolkit" TargetMode="External"/><Relationship Id="rId27" Type="http://schemas.openxmlformats.org/officeDocument/2006/relationships/image" Target="../media/image81.svg"/><Relationship Id="rId30" Type="http://schemas.openxmlformats.org/officeDocument/2006/relationships/image" Target="../media/image84.png"/></Relationships>
</file>

<file path=ppt/slides/_rels/slide25.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diagramColors" Target="../diagrams/colors18.xml"/><Relationship Id="rId18" Type="http://schemas.openxmlformats.org/officeDocument/2006/relationships/image" Target="../media/image74.svg"/><Relationship Id="rId26" Type="http://schemas.openxmlformats.org/officeDocument/2006/relationships/image" Target="../media/image31.svg"/><Relationship Id="rId3" Type="http://schemas.openxmlformats.org/officeDocument/2006/relationships/hyperlink" Target="https://www.youtube.com/watch?v=JdfV_sPeFvA" TargetMode="External"/><Relationship Id="rId21" Type="http://schemas.openxmlformats.org/officeDocument/2006/relationships/image" Target="../media/image26.png"/><Relationship Id="rId7" Type="http://schemas.openxmlformats.org/officeDocument/2006/relationships/hyperlink" Target="https://www.youtube.com/playlist?list=PL8EcnheDt1zhW5s7DTPei0h91MHY05EbK" TargetMode="External"/><Relationship Id="rId12" Type="http://schemas.openxmlformats.org/officeDocument/2006/relationships/diagramQuickStyle" Target="../diagrams/quickStyle18.xml"/><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hyperlink" Target="https://www.youtube.com/playlist?list=PL8EcnheDt1ziBi8oID_QmjGifDVAAZUpp" TargetMode="External"/><Relationship Id="rId16" Type="http://schemas.openxmlformats.org/officeDocument/2006/relationships/image" Target="../media/image35.svg"/><Relationship Id="rId20"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hyperlink" Target="https://www.youtube.com/playlist?list=PL8EcnheDt1zjp-sa4jyB3aIhZ6kxwA5oO" TargetMode="External"/><Relationship Id="rId11" Type="http://schemas.openxmlformats.org/officeDocument/2006/relationships/diagramLayout" Target="../diagrams/layout18.xml"/><Relationship Id="rId24" Type="http://schemas.openxmlformats.org/officeDocument/2006/relationships/image" Target="../media/image16.svg"/><Relationship Id="rId5" Type="http://schemas.openxmlformats.org/officeDocument/2006/relationships/hyperlink" Target="https://www.youtube.com/watch?v=UBeBust_Ruc" TargetMode="External"/><Relationship Id="rId15" Type="http://schemas.openxmlformats.org/officeDocument/2006/relationships/image" Target="../media/image34.png"/><Relationship Id="rId23" Type="http://schemas.openxmlformats.org/officeDocument/2006/relationships/image" Target="../media/image15.png"/><Relationship Id="rId28" Type="http://schemas.openxmlformats.org/officeDocument/2006/relationships/image" Target="../media/image33.svg"/><Relationship Id="rId10" Type="http://schemas.openxmlformats.org/officeDocument/2006/relationships/diagramData" Target="../diagrams/data18.xml"/><Relationship Id="rId19" Type="http://schemas.openxmlformats.org/officeDocument/2006/relationships/image" Target="../media/image24.png"/><Relationship Id="rId4" Type="http://schemas.openxmlformats.org/officeDocument/2006/relationships/hyperlink" Target="https://www.youtube.com/watch?v=RS2ITzvH3H8" TargetMode="External"/><Relationship Id="rId9" Type="http://schemas.openxmlformats.org/officeDocument/2006/relationships/image" Target="../media/image88.png"/><Relationship Id="rId14" Type="http://schemas.microsoft.com/office/2007/relationships/diagramDrawing" Target="../diagrams/drawing18.xml"/><Relationship Id="rId22" Type="http://schemas.openxmlformats.org/officeDocument/2006/relationships/image" Target="../media/image27.svg"/><Relationship Id="rId27"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5.svg"/><Relationship Id="rId18" Type="http://schemas.openxmlformats.org/officeDocument/2006/relationships/image" Target="../media/image30.png"/><Relationship Id="rId3" Type="http://schemas.openxmlformats.org/officeDocument/2006/relationships/diagramData" Target="../diagrams/data19.xml"/><Relationship Id="rId21" Type="http://schemas.openxmlformats.org/officeDocument/2006/relationships/image" Target="../media/image20.svg"/><Relationship Id="rId7" Type="http://schemas.microsoft.com/office/2007/relationships/diagramDrawing" Target="../diagrams/drawing19.xml"/><Relationship Id="rId12" Type="http://schemas.openxmlformats.org/officeDocument/2006/relationships/image" Target="../media/image24.png"/><Relationship Id="rId17" Type="http://schemas.openxmlformats.org/officeDocument/2006/relationships/image" Target="../media/image89.svg"/><Relationship Id="rId25" Type="http://schemas.openxmlformats.org/officeDocument/2006/relationships/hyperlink" Target="https://www.gov.uk/guidance/report-a-problem-using-the-customs-declaration-service" TargetMode="External"/><Relationship Id="rId2" Type="http://schemas.openxmlformats.org/officeDocument/2006/relationships/notesSlide" Target="../notesSlides/notesSlide15.xml"/><Relationship Id="rId16" Type="http://schemas.openxmlformats.org/officeDocument/2006/relationships/image" Target="../media/image28.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diagramColors" Target="../diagrams/colors19.xml"/><Relationship Id="rId11" Type="http://schemas.openxmlformats.org/officeDocument/2006/relationships/image" Target="../media/image74.svg"/><Relationship Id="rId24" Type="http://schemas.openxmlformats.org/officeDocument/2006/relationships/hyperlink" Target="mailto:cds.operations@hmrc.gov.uk" TargetMode="External"/><Relationship Id="rId5" Type="http://schemas.openxmlformats.org/officeDocument/2006/relationships/diagramQuickStyle" Target="../diagrams/quickStyle19.xml"/><Relationship Id="rId15" Type="http://schemas.openxmlformats.org/officeDocument/2006/relationships/image" Target="../media/image27.svg"/><Relationship Id="rId23" Type="http://schemas.openxmlformats.org/officeDocument/2006/relationships/hyperlink" Target="mailto:tdrcommunications@hmrc.gov.uk" TargetMode="External"/><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diagramLayout" Target="../diagrams/layout19.xml"/><Relationship Id="rId9" Type="http://schemas.openxmlformats.org/officeDocument/2006/relationships/image" Target="../media/image35.svg"/><Relationship Id="rId14" Type="http://schemas.openxmlformats.org/officeDocument/2006/relationships/image" Target="../media/image26.png"/><Relationship Id="rId22" Type="http://schemas.openxmlformats.org/officeDocument/2006/relationships/hyperlink" Target="mailto:SDSTeam@hmrc.gov.u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18.svg"/><Relationship Id="rId3" Type="http://schemas.openxmlformats.org/officeDocument/2006/relationships/diagramLayout" Target="../diagrams/layout20.xm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17.png"/><Relationship Id="rId2" Type="http://schemas.openxmlformats.org/officeDocument/2006/relationships/diagramData" Target="../diagrams/data20.xml"/><Relationship Id="rId16" Type="http://schemas.openxmlformats.org/officeDocument/2006/relationships/image" Target="../media/image89.svg"/><Relationship Id="rId20" Type="http://schemas.openxmlformats.org/officeDocument/2006/relationships/image" Target="../media/image33.svg"/><Relationship Id="rId1" Type="http://schemas.openxmlformats.org/officeDocument/2006/relationships/slideLayout" Target="../slideLayouts/slideLayout19.xml"/><Relationship Id="rId6" Type="http://schemas.microsoft.com/office/2007/relationships/diagramDrawing" Target="../diagrams/drawing20.xml"/><Relationship Id="rId11" Type="http://schemas.openxmlformats.org/officeDocument/2006/relationships/image" Target="../media/image24.png"/><Relationship Id="rId5" Type="http://schemas.openxmlformats.org/officeDocument/2006/relationships/diagramColors" Target="../diagrams/colors20.xml"/><Relationship Id="rId15" Type="http://schemas.openxmlformats.org/officeDocument/2006/relationships/image" Target="../media/image28.png"/><Relationship Id="rId10" Type="http://schemas.openxmlformats.org/officeDocument/2006/relationships/image" Target="../media/image74.svg"/><Relationship Id="rId19" Type="http://schemas.openxmlformats.org/officeDocument/2006/relationships/image" Target="../media/image32.png"/><Relationship Id="rId4" Type="http://schemas.openxmlformats.org/officeDocument/2006/relationships/diagramQuickStyle" Target="../diagrams/quickStyle20.xml"/><Relationship Id="rId9" Type="http://schemas.openxmlformats.org/officeDocument/2006/relationships/image" Target="../media/image22.png"/><Relationship Id="rId14" Type="http://schemas.openxmlformats.org/officeDocument/2006/relationships/image" Target="../media/image27.svg"/></Relationships>
</file>

<file path=ppt/slides/_rels/slide30.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18.svg"/><Relationship Id="rId3" Type="http://schemas.openxmlformats.org/officeDocument/2006/relationships/diagramLayout" Target="../diagrams/layout21.xm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17.png"/><Relationship Id="rId2" Type="http://schemas.openxmlformats.org/officeDocument/2006/relationships/diagramData" Target="../diagrams/data21.xml"/><Relationship Id="rId16" Type="http://schemas.openxmlformats.org/officeDocument/2006/relationships/image" Target="../media/image89.svg"/><Relationship Id="rId20" Type="http://schemas.openxmlformats.org/officeDocument/2006/relationships/image" Target="../media/image33.svg"/><Relationship Id="rId1" Type="http://schemas.openxmlformats.org/officeDocument/2006/relationships/slideLayout" Target="../slideLayouts/slideLayout19.xml"/><Relationship Id="rId6" Type="http://schemas.microsoft.com/office/2007/relationships/diagramDrawing" Target="../diagrams/drawing21.xml"/><Relationship Id="rId11" Type="http://schemas.openxmlformats.org/officeDocument/2006/relationships/image" Target="../media/image24.png"/><Relationship Id="rId5" Type="http://schemas.openxmlformats.org/officeDocument/2006/relationships/diagramColors" Target="../diagrams/colors21.xml"/><Relationship Id="rId15" Type="http://schemas.openxmlformats.org/officeDocument/2006/relationships/image" Target="../media/image28.png"/><Relationship Id="rId10" Type="http://schemas.openxmlformats.org/officeDocument/2006/relationships/image" Target="../media/image74.svg"/><Relationship Id="rId19" Type="http://schemas.openxmlformats.org/officeDocument/2006/relationships/image" Target="../media/image32.png"/><Relationship Id="rId4" Type="http://schemas.openxmlformats.org/officeDocument/2006/relationships/diagramQuickStyle" Target="../diagrams/quickStyle21.xml"/><Relationship Id="rId9" Type="http://schemas.openxmlformats.org/officeDocument/2006/relationships/image" Target="../media/image22.png"/><Relationship Id="rId14" Type="http://schemas.openxmlformats.org/officeDocument/2006/relationships/image" Target="../media/image27.svg"/></Relationships>
</file>

<file path=ppt/slides/_rels/slide31.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18.svg"/><Relationship Id="rId3" Type="http://schemas.openxmlformats.org/officeDocument/2006/relationships/diagramLayout" Target="../diagrams/layout22.xm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17.png"/><Relationship Id="rId2" Type="http://schemas.openxmlformats.org/officeDocument/2006/relationships/diagramData" Target="../diagrams/data22.xml"/><Relationship Id="rId16" Type="http://schemas.openxmlformats.org/officeDocument/2006/relationships/image" Target="../media/image89.svg"/><Relationship Id="rId20" Type="http://schemas.openxmlformats.org/officeDocument/2006/relationships/image" Target="../media/image33.svg"/><Relationship Id="rId1" Type="http://schemas.openxmlformats.org/officeDocument/2006/relationships/slideLayout" Target="../slideLayouts/slideLayout19.xml"/><Relationship Id="rId6" Type="http://schemas.microsoft.com/office/2007/relationships/diagramDrawing" Target="../diagrams/drawing22.xml"/><Relationship Id="rId11" Type="http://schemas.openxmlformats.org/officeDocument/2006/relationships/image" Target="../media/image24.png"/><Relationship Id="rId5" Type="http://schemas.openxmlformats.org/officeDocument/2006/relationships/diagramColors" Target="../diagrams/colors22.xml"/><Relationship Id="rId15" Type="http://schemas.openxmlformats.org/officeDocument/2006/relationships/image" Target="../media/image28.png"/><Relationship Id="rId10" Type="http://schemas.openxmlformats.org/officeDocument/2006/relationships/image" Target="../media/image74.svg"/><Relationship Id="rId19" Type="http://schemas.openxmlformats.org/officeDocument/2006/relationships/image" Target="../media/image32.png"/><Relationship Id="rId4" Type="http://schemas.openxmlformats.org/officeDocument/2006/relationships/diagramQuickStyle" Target="../diagrams/quickStyle22.xml"/><Relationship Id="rId9" Type="http://schemas.openxmlformats.org/officeDocument/2006/relationships/image" Target="../media/image22.png"/><Relationship Id="rId14" Type="http://schemas.openxmlformats.org/officeDocument/2006/relationships/image" Target="../media/image27.svg"/></Relationships>
</file>

<file path=ppt/slides/_rels/slide32.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26.png"/><Relationship Id="rId18" Type="http://schemas.openxmlformats.org/officeDocument/2006/relationships/image" Target="../media/image18.svg"/><Relationship Id="rId3" Type="http://schemas.openxmlformats.org/officeDocument/2006/relationships/diagramLayout" Target="../diagrams/layout23.xml"/><Relationship Id="rId7" Type="http://schemas.openxmlformats.org/officeDocument/2006/relationships/image" Target="../media/image34.png"/><Relationship Id="rId12" Type="http://schemas.openxmlformats.org/officeDocument/2006/relationships/image" Target="../media/image25.svg"/><Relationship Id="rId17" Type="http://schemas.openxmlformats.org/officeDocument/2006/relationships/image" Target="../media/image17.png"/><Relationship Id="rId2" Type="http://schemas.openxmlformats.org/officeDocument/2006/relationships/diagramData" Target="../diagrams/data23.xml"/><Relationship Id="rId16" Type="http://schemas.openxmlformats.org/officeDocument/2006/relationships/image" Target="../media/image89.svg"/><Relationship Id="rId20" Type="http://schemas.openxmlformats.org/officeDocument/2006/relationships/image" Target="../media/image33.svg"/><Relationship Id="rId1" Type="http://schemas.openxmlformats.org/officeDocument/2006/relationships/slideLayout" Target="../slideLayouts/slideLayout19.xml"/><Relationship Id="rId6" Type="http://schemas.microsoft.com/office/2007/relationships/diagramDrawing" Target="../diagrams/drawing23.xml"/><Relationship Id="rId11" Type="http://schemas.openxmlformats.org/officeDocument/2006/relationships/image" Target="../media/image24.png"/><Relationship Id="rId5" Type="http://schemas.openxmlformats.org/officeDocument/2006/relationships/diagramColors" Target="../diagrams/colors23.xml"/><Relationship Id="rId15" Type="http://schemas.openxmlformats.org/officeDocument/2006/relationships/image" Target="../media/image28.png"/><Relationship Id="rId10" Type="http://schemas.openxmlformats.org/officeDocument/2006/relationships/image" Target="../media/image74.svg"/><Relationship Id="rId19" Type="http://schemas.openxmlformats.org/officeDocument/2006/relationships/image" Target="../media/image32.png"/><Relationship Id="rId4" Type="http://schemas.openxmlformats.org/officeDocument/2006/relationships/diagramQuickStyle" Target="../diagrams/quickStyle23.xml"/><Relationship Id="rId9" Type="http://schemas.openxmlformats.org/officeDocument/2006/relationships/image" Target="../media/image22.png"/><Relationship Id="rId1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1815BCC3-F8FF-4DAF-A9D5-A6FF2755C8FC}"/>
              </a:ext>
            </a:extLst>
          </p:cNvPr>
          <p:cNvPicPr>
            <a:picLocks noChangeAspect="1" noChangeArrowheads="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416" r="19416"/>
          <a:stretch/>
        </p:blipFill>
        <p:spPr bwMode="auto">
          <a:xfrm flipH="1">
            <a:off x="4214" y="0"/>
            <a:ext cx="8340851" cy="685799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27F21D62-9E97-425F-90D8-E3F88AD503B1}"/>
              </a:ext>
            </a:extLst>
          </p:cNvPr>
          <p:cNvSpPr txBox="1">
            <a:spLocks/>
          </p:cNvSpPr>
          <p:nvPr/>
        </p:nvSpPr>
        <p:spPr>
          <a:xfrm>
            <a:off x="8345065" y="1512540"/>
            <a:ext cx="3290268" cy="2251046"/>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4000">
                <a:latin typeface="+mn-lt"/>
              </a:rPr>
              <a:t>HMRC </a:t>
            </a:r>
            <a:br>
              <a:rPr lang="en-GB" sz="4000">
                <a:latin typeface="+mn-lt"/>
              </a:rPr>
            </a:br>
            <a:r>
              <a:rPr lang="en-GB" sz="4000">
                <a:latin typeface="+mn-lt"/>
              </a:rPr>
              <a:t>Customs Declaration Service (CDS)</a:t>
            </a:r>
          </a:p>
        </p:txBody>
      </p:sp>
      <p:cxnSp>
        <p:nvCxnSpPr>
          <p:cNvPr id="7" name="Straight Connector 6">
            <a:extLst>
              <a:ext uri="{FF2B5EF4-FFF2-40B4-BE49-F238E27FC236}">
                <a16:creationId xmlns:a16="http://schemas.microsoft.com/office/drawing/2014/main" id="{FDFFB49E-9D28-4058-96A7-3DA970EF596B}"/>
              </a:ext>
            </a:extLst>
          </p:cNvPr>
          <p:cNvCxnSpPr>
            <a:cxnSpLocks/>
          </p:cNvCxnSpPr>
          <p:nvPr/>
        </p:nvCxnSpPr>
        <p:spPr>
          <a:xfrm>
            <a:off x="11901657" y="618462"/>
            <a:ext cx="0" cy="4039203"/>
          </a:xfrm>
          <a:prstGeom prst="line">
            <a:avLst/>
          </a:prstGeom>
          <a:ln w="57150">
            <a:solidFill>
              <a:srgbClr val="00928C"/>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6376C7B-E767-4647-83E9-7C41EB63F158}"/>
              </a:ext>
            </a:extLst>
          </p:cNvPr>
          <p:cNvSpPr txBox="1"/>
          <p:nvPr/>
        </p:nvSpPr>
        <p:spPr>
          <a:xfrm>
            <a:off x="8401095" y="3917887"/>
            <a:ext cx="3284804" cy="1692771"/>
          </a:xfrm>
          <a:prstGeom prst="rect">
            <a:avLst/>
          </a:prstGeom>
          <a:noFill/>
        </p:spPr>
        <p:txBody>
          <a:bodyPr wrap="square" lIns="91440" tIns="45720" rIns="91440" bIns="45720" rtlCol="0" anchor="t">
            <a:spAutoFit/>
          </a:bodyPr>
          <a:lstStyle/>
          <a:p>
            <a:pPr algn="r">
              <a:defRPr/>
            </a:pPr>
            <a:r>
              <a:rPr lang="sv-SE" sz="2400" b="1" dirty="0">
                <a:solidFill>
                  <a:schemeClr val="tx1">
                    <a:lumMod val="50000"/>
                  </a:schemeClr>
                </a:solidFill>
                <a:latin typeface="Calibri" panose="020F0502020204030204"/>
                <a:cs typeface="Calibri" panose="020F0502020204030204"/>
              </a:rPr>
              <a:t>Software </a:t>
            </a:r>
            <a:r>
              <a:rPr lang="en-GB" sz="2400" b="1" dirty="0">
                <a:solidFill>
                  <a:schemeClr val="tx1">
                    <a:lumMod val="50000"/>
                  </a:schemeClr>
                </a:solidFill>
                <a:latin typeface="Calibri" panose="020F0502020204030204"/>
                <a:cs typeface="Calibri" panose="020F0502020204030204"/>
              </a:rPr>
              <a:t>Developer</a:t>
            </a:r>
          </a:p>
          <a:p>
            <a:pPr algn="r">
              <a:defRPr/>
            </a:pPr>
            <a:r>
              <a:rPr lang="sv-SE" sz="2400" b="1" dirty="0">
                <a:solidFill>
                  <a:schemeClr val="tx1">
                    <a:lumMod val="50000"/>
                  </a:schemeClr>
                </a:solidFill>
                <a:latin typeface="Calibri" panose="020F0502020204030204"/>
                <a:cs typeface="Calibri" panose="020F0502020204030204"/>
              </a:rPr>
              <a:t>Runbook</a:t>
            </a:r>
            <a:endParaRPr lang="sv-SE" sz="2400" b="1" dirty="0">
              <a:solidFill>
                <a:schemeClr val="tx1">
                  <a:lumMod val="50000"/>
                </a:schemeClr>
              </a:solidFill>
              <a:latin typeface="Calibri" panose="020F0502020204030204"/>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sv-SE"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algn="r">
              <a:defRPr/>
            </a:pPr>
            <a:r>
              <a:rPr lang="sv-SE" sz="1600" dirty="0">
                <a:latin typeface="Calibri" panose="020F0502020204030204"/>
              </a:rPr>
              <a:t>February 2024</a:t>
            </a:r>
            <a:endParaRPr lang="sv-SE" sz="1600" b="0" i="0" u="none" strike="noStrike" kern="1200" cap="none" spc="0" normalizeH="0" baseline="0" noProof="0" dirty="0">
              <a:ln>
                <a:noFill/>
              </a:ln>
              <a:effectLst/>
              <a:uLnTx/>
              <a:uFillTx/>
              <a:latin typeface="Calibri" panose="020F0502020204030204"/>
              <a:cs typeface="Calibri"/>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effectLst/>
                <a:uLnTx/>
                <a:uFillTx/>
                <a:latin typeface="Calibri" panose="020F0502020204030204"/>
                <a:ea typeface="+mn-ea"/>
                <a:cs typeface="+mn-cs"/>
              </a:rPr>
              <a:t>Version 4.3</a:t>
            </a:r>
            <a:endParaRPr lang="sv-SE" sz="1600" b="0" i="0" u="none" strike="noStrike" kern="1200" cap="none" spc="0" normalizeH="0" baseline="0" noProof="0" dirty="0">
              <a:ln>
                <a:noFill/>
              </a:ln>
              <a:effectLst/>
              <a:uLnTx/>
              <a:uFillTx/>
              <a:latin typeface="Calibri" panose="020F0502020204030204"/>
              <a:cs typeface="Calibri"/>
            </a:endParaRPr>
          </a:p>
        </p:txBody>
      </p:sp>
      <p:pic>
        <p:nvPicPr>
          <p:cNvPr id="9" name="Picture 2" descr="See the source image">
            <a:extLst>
              <a:ext uri="{FF2B5EF4-FFF2-40B4-BE49-F238E27FC236}">
                <a16:creationId xmlns:a16="http://schemas.microsoft.com/office/drawing/2014/main" id="{A61D69AB-12DA-4C45-B74E-D747B34400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60785" y="618461"/>
            <a:ext cx="666021" cy="666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649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 descr="red and blue cargo ship on body of water during daytime">
            <a:extLst>
              <a:ext uri="{FF2B5EF4-FFF2-40B4-BE49-F238E27FC236}">
                <a16:creationId xmlns:a16="http://schemas.microsoft.com/office/drawing/2014/main" id="{9B34CA53-9ED8-46D7-8D45-2885224F85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667"/>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1909AE0-7DC8-4F8D-B2A1-425321D3D697}"/>
              </a:ext>
            </a:extLst>
          </p:cNvPr>
          <p:cNvSpPr/>
          <p:nvPr/>
        </p:nvSpPr>
        <p:spPr>
          <a:xfrm>
            <a:off x="0" y="1376039"/>
            <a:ext cx="12192000" cy="4136993"/>
          </a:xfrm>
          <a:prstGeom prst="rect">
            <a:avLst/>
          </a:prstGeom>
          <a:solidFill>
            <a:srgbClr val="000000">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 name="Diagram 2">
            <a:extLst>
              <a:ext uri="{FF2B5EF4-FFF2-40B4-BE49-F238E27FC236}">
                <a16:creationId xmlns:a16="http://schemas.microsoft.com/office/drawing/2014/main" id="{3E5BB6BE-F9D2-4FCB-AA32-D3262A2FF70E}"/>
              </a:ext>
            </a:extLst>
          </p:cNvPr>
          <p:cNvGraphicFramePr/>
          <p:nvPr>
            <p:extLst>
              <p:ext uri="{D42A27DB-BD31-4B8C-83A1-F6EECF244321}">
                <p14:modId xmlns:p14="http://schemas.microsoft.com/office/powerpoint/2010/main" val="3669968772"/>
              </p:ext>
            </p:extLst>
          </p:nvPr>
        </p:nvGraphicFramePr>
        <p:xfrm>
          <a:off x="670892" y="3151309"/>
          <a:ext cx="11108339" cy="17737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28D3CA7E-EFAB-46EF-9B03-989701866CB6}"/>
              </a:ext>
            </a:extLst>
          </p:cNvPr>
          <p:cNvSpPr txBox="1"/>
          <p:nvPr/>
        </p:nvSpPr>
        <p:spPr>
          <a:xfrm>
            <a:off x="542257" y="4391480"/>
            <a:ext cx="1599651" cy="338554"/>
          </a:xfrm>
          <a:prstGeom prst="rect">
            <a:avLst/>
          </a:prstGeom>
          <a:noFill/>
        </p:spPr>
        <p:txBody>
          <a:bodyPr wrap="square" rtlCol="0">
            <a:spAutoFit/>
          </a:bodyPr>
          <a:lstStyle/>
          <a:p>
            <a:pPr algn="ctr"/>
            <a:r>
              <a:rPr lang="en-GB" sz="1600" b="1">
                <a:solidFill>
                  <a:schemeClr val="bg1"/>
                </a:solidFill>
              </a:rPr>
              <a:t>Introduction</a:t>
            </a:r>
          </a:p>
        </p:txBody>
      </p:sp>
      <p:sp>
        <p:nvSpPr>
          <p:cNvPr id="13" name="TextBox 12">
            <a:extLst>
              <a:ext uri="{FF2B5EF4-FFF2-40B4-BE49-F238E27FC236}">
                <a16:creationId xmlns:a16="http://schemas.microsoft.com/office/drawing/2014/main" id="{A25328D3-04B9-4B21-B05C-D650B5DFF319}"/>
              </a:ext>
            </a:extLst>
          </p:cNvPr>
          <p:cNvSpPr txBox="1"/>
          <p:nvPr/>
        </p:nvSpPr>
        <p:spPr>
          <a:xfrm>
            <a:off x="2335855" y="4391480"/>
            <a:ext cx="1276318" cy="584775"/>
          </a:xfrm>
          <a:prstGeom prst="rect">
            <a:avLst/>
          </a:prstGeom>
          <a:noFill/>
        </p:spPr>
        <p:txBody>
          <a:bodyPr wrap="square" rtlCol="0">
            <a:spAutoFit/>
          </a:bodyPr>
          <a:lstStyle/>
          <a:p>
            <a:pPr algn="ctr"/>
            <a:r>
              <a:rPr lang="en-GB" sz="1600" b="1" dirty="0">
                <a:solidFill>
                  <a:schemeClr val="bg1"/>
                </a:solidFill>
              </a:rPr>
              <a:t>Trade Test (TT)</a:t>
            </a:r>
          </a:p>
        </p:txBody>
      </p:sp>
      <p:sp>
        <p:nvSpPr>
          <p:cNvPr id="15" name="TextBox 14">
            <a:extLst>
              <a:ext uri="{FF2B5EF4-FFF2-40B4-BE49-F238E27FC236}">
                <a16:creationId xmlns:a16="http://schemas.microsoft.com/office/drawing/2014/main" id="{6D87E949-5170-4733-8BFE-5F201381C172}"/>
              </a:ext>
            </a:extLst>
          </p:cNvPr>
          <p:cNvSpPr txBox="1"/>
          <p:nvPr/>
        </p:nvSpPr>
        <p:spPr>
          <a:xfrm>
            <a:off x="3730268" y="4391480"/>
            <a:ext cx="1599651" cy="830997"/>
          </a:xfrm>
          <a:prstGeom prst="rect">
            <a:avLst/>
          </a:prstGeom>
          <a:noFill/>
        </p:spPr>
        <p:txBody>
          <a:bodyPr wrap="square" rtlCol="0">
            <a:spAutoFit/>
          </a:bodyPr>
          <a:lstStyle/>
          <a:p>
            <a:pPr algn="ctr"/>
            <a:r>
              <a:rPr lang="en-GB" sz="1600" b="1">
                <a:solidFill>
                  <a:schemeClr val="bg1"/>
                </a:solidFill>
              </a:rPr>
              <a:t>Trader Dress Rehearsal (TDR)</a:t>
            </a:r>
          </a:p>
        </p:txBody>
      </p:sp>
      <p:sp>
        <p:nvSpPr>
          <p:cNvPr id="16" name="TextBox 15">
            <a:extLst>
              <a:ext uri="{FF2B5EF4-FFF2-40B4-BE49-F238E27FC236}">
                <a16:creationId xmlns:a16="http://schemas.microsoft.com/office/drawing/2014/main" id="{24C95170-40E2-48C9-8829-FD9AE04F86F5}"/>
              </a:ext>
            </a:extLst>
          </p:cNvPr>
          <p:cNvSpPr txBox="1"/>
          <p:nvPr/>
        </p:nvSpPr>
        <p:spPr>
          <a:xfrm>
            <a:off x="5272705" y="4391480"/>
            <a:ext cx="1599651" cy="338554"/>
          </a:xfrm>
          <a:prstGeom prst="rect">
            <a:avLst/>
          </a:prstGeom>
          <a:noFill/>
        </p:spPr>
        <p:txBody>
          <a:bodyPr wrap="square" rtlCol="0">
            <a:spAutoFit/>
          </a:bodyPr>
          <a:lstStyle/>
          <a:p>
            <a:pPr algn="ctr"/>
            <a:r>
              <a:rPr lang="en-GB" sz="1600" b="1">
                <a:solidFill>
                  <a:schemeClr val="bg1"/>
                </a:solidFill>
              </a:rPr>
              <a:t>CDS Live</a:t>
            </a:r>
          </a:p>
        </p:txBody>
      </p:sp>
      <p:sp>
        <p:nvSpPr>
          <p:cNvPr id="17" name="TextBox 16">
            <a:extLst>
              <a:ext uri="{FF2B5EF4-FFF2-40B4-BE49-F238E27FC236}">
                <a16:creationId xmlns:a16="http://schemas.microsoft.com/office/drawing/2014/main" id="{4CDD2512-24DA-4654-AF4C-8A14E9AE0D90}"/>
              </a:ext>
            </a:extLst>
          </p:cNvPr>
          <p:cNvSpPr txBox="1"/>
          <p:nvPr/>
        </p:nvSpPr>
        <p:spPr>
          <a:xfrm>
            <a:off x="6798359" y="4391480"/>
            <a:ext cx="1599651" cy="584775"/>
          </a:xfrm>
          <a:prstGeom prst="rect">
            <a:avLst/>
          </a:prstGeom>
          <a:noFill/>
        </p:spPr>
        <p:txBody>
          <a:bodyPr wrap="square" rtlCol="0">
            <a:spAutoFit/>
          </a:bodyPr>
          <a:lstStyle/>
          <a:p>
            <a:pPr algn="ctr"/>
            <a:r>
              <a:rPr lang="en-GB" sz="1600" b="1">
                <a:solidFill>
                  <a:schemeClr val="bg1"/>
                </a:solidFill>
              </a:rPr>
              <a:t>Help &amp; Support</a:t>
            </a:r>
          </a:p>
        </p:txBody>
      </p:sp>
      <p:sp>
        <p:nvSpPr>
          <p:cNvPr id="19" name="TextBox 18">
            <a:extLst>
              <a:ext uri="{FF2B5EF4-FFF2-40B4-BE49-F238E27FC236}">
                <a16:creationId xmlns:a16="http://schemas.microsoft.com/office/drawing/2014/main" id="{569A2BFA-2068-402A-9947-0BE6CA1CDA77}"/>
              </a:ext>
            </a:extLst>
          </p:cNvPr>
          <p:cNvSpPr txBox="1"/>
          <p:nvPr/>
        </p:nvSpPr>
        <p:spPr>
          <a:xfrm>
            <a:off x="8478251" y="4391480"/>
            <a:ext cx="1421250" cy="338554"/>
          </a:xfrm>
          <a:prstGeom prst="rect">
            <a:avLst/>
          </a:prstGeom>
          <a:noFill/>
        </p:spPr>
        <p:txBody>
          <a:bodyPr wrap="square" rtlCol="0">
            <a:spAutoFit/>
          </a:bodyPr>
          <a:lstStyle/>
          <a:p>
            <a:pPr algn="ctr"/>
            <a:r>
              <a:rPr lang="en-GB" sz="1600" b="1">
                <a:solidFill>
                  <a:schemeClr val="bg1"/>
                </a:solidFill>
              </a:rPr>
              <a:t>Query Process</a:t>
            </a:r>
          </a:p>
        </p:txBody>
      </p:sp>
      <p:sp>
        <p:nvSpPr>
          <p:cNvPr id="20" name="TextBox 19">
            <a:extLst>
              <a:ext uri="{FF2B5EF4-FFF2-40B4-BE49-F238E27FC236}">
                <a16:creationId xmlns:a16="http://schemas.microsoft.com/office/drawing/2014/main" id="{97B8DD09-2694-48E0-81A9-D596C4E071C1}"/>
              </a:ext>
            </a:extLst>
          </p:cNvPr>
          <p:cNvSpPr txBox="1"/>
          <p:nvPr/>
        </p:nvSpPr>
        <p:spPr>
          <a:xfrm>
            <a:off x="9902298" y="4391480"/>
            <a:ext cx="1599651" cy="338554"/>
          </a:xfrm>
          <a:prstGeom prst="rect">
            <a:avLst/>
          </a:prstGeom>
          <a:noFill/>
        </p:spPr>
        <p:txBody>
          <a:bodyPr wrap="square" rtlCol="0">
            <a:spAutoFit/>
          </a:bodyPr>
          <a:lstStyle/>
          <a:p>
            <a:pPr algn="ctr"/>
            <a:r>
              <a:rPr lang="en-GB" sz="1600" b="1">
                <a:solidFill>
                  <a:schemeClr val="bg1"/>
                </a:solidFill>
              </a:rPr>
              <a:t>Glossary</a:t>
            </a:r>
          </a:p>
        </p:txBody>
      </p:sp>
      <p:pic>
        <p:nvPicPr>
          <p:cNvPr id="6" name="Graphic 5" descr="Clapper board with solid fill">
            <a:extLst>
              <a:ext uri="{FF2B5EF4-FFF2-40B4-BE49-F238E27FC236}">
                <a16:creationId xmlns:a16="http://schemas.microsoft.com/office/drawing/2014/main" id="{BCC47F04-8018-494D-A8A0-A122801EF22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8349" y="2840369"/>
            <a:ext cx="794143" cy="794143"/>
          </a:xfrm>
          <a:prstGeom prst="rect">
            <a:avLst/>
          </a:prstGeom>
        </p:spPr>
      </p:pic>
      <p:pic>
        <p:nvPicPr>
          <p:cNvPr id="8" name="Graphic 7" descr="Plugged Unplugged with solid fill">
            <a:extLst>
              <a:ext uri="{FF2B5EF4-FFF2-40B4-BE49-F238E27FC236}">
                <a16:creationId xmlns:a16="http://schemas.microsoft.com/office/drawing/2014/main" id="{2DEC9698-7EB9-4879-8BAB-5F727AE23DF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45277" y="2840369"/>
            <a:ext cx="794142" cy="794142"/>
          </a:xfrm>
          <a:prstGeom prst="rect">
            <a:avLst/>
          </a:prstGeom>
        </p:spPr>
      </p:pic>
      <p:pic>
        <p:nvPicPr>
          <p:cNvPr id="11" name="Graphic 10" descr="Internet Of Things with solid fill">
            <a:extLst>
              <a:ext uri="{FF2B5EF4-FFF2-40B4-BE49-F238E27FC236}">
                <a16:creationId xmlns:a16="http://schemas.microsoft.com/office/drawing/2014/main" id="{844849C3-8C76-405A-834A-583B0DAD3EE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560659" y="2840369"/>
            <a:ext cx="794142" cy="794142"/>
          </a:xfrm>
          <a:prstGeom prst="rect">
            <a:avLst/>
          </a:prstGeom>
        </p:spPr>
      </p:pic>
      <p:pic>
        <p:nvPicPr>
          <p:cNvPr id="24" name="Graphic 23" descr="Ui Ux with solid fill">
            <a:extLst>
              <a:ext uri="{FF2B5EF4-FFF2-40B4-BE49-F238E27FC236}">
                <a16:creationId xmlns:a16="http://schemas.microsoft.com/office/drawing/2014/main" id="{B8F522EE-3874-4F4B-A3EA-E844B19E37F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102968" y="2840369"/>
            <a:ext cx="794142" cy="794142"/>
          </a:xfrm>
          <a:prstGeom prst="rect">
            <a:avLst/>
          </a:prstGeom>
        </p:spPr>
      </p:pic>
      <p:pic>
        <p:nvPicPr>
          <p:cNvPr id="27" name="Graphic 26" descr="Open hand with plant with solid fill">
            <a:extLst>
              <a:ext uri="{FF2B5EF4-FFF2-40B4-BE49-F238E27FC236}">
                <a16:creationId xmlns:a16="http://schemas.microsoft.com/office/drawing/2014/main" id="{D352C2B4-E1A7-4FAF-8228-4E3A9DEB82D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187586" y="2840369"/>
            <a:ext cx="826989" cy="826989"/>
          </a:xfrm>
          <a:prstGeom prst="rect">
            <a:avLst/>
          </a:prstGeom>
        </p:spPr>
      </p:pic>
      <p:pic>
        <p:nvPicPr>
          <p:cNvPr id="31" name="Graphic 30" descr="Books with solid fill">
            <a:extLst>
              <a:ext uri="{FF2B5EF4-FFF2-40B4-BE49-F238E27FC236}">
                <a16:creationId xmlns:a16="http://schemas.microsoft.com/office/drawing/2014/main" id="{613D199D-6687-4295-8032-F195ABEBD22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305052" y="2840369"/>
            <a:ext cx="794142" cy="794142"/>
          </a:xfrm>
          <a:prstGeom prst="rect">
            <a:avLst/>
          </a:prstGeom>
        </p:spPr>
      </p:pic>
      <p:pic>
        <p:nvPicPr>
          <p:cNvPr id="29697" name="Graphic 29696" descr="Questions with solid fill">
            <a:extLst>
              <a:ext uri="{FF2B5EF4-FFF2-40B4-BE49-F238E27FC236}">
                <a16:creationId xmlns:a16="http://schemas.microsoft.com/office/drawing/2014/main" id="{2A478781-29B0-46C1-BB15-3170F3ECF6B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762742" y="2840369"/>
            <a:ext cx="794142" cy="794142"/>
          </a:xfrm>
          <a:prstGeom prst="rect">
            <a:avLst/>
          </a:prstGeom>
        </p:spPr>
      </p:pic>
      <p:sp>
        <p:nvSpPr>
          <p:cNvPr id="35" name="Rectangle: Diagonal Corners Rounded 34">
            <a:extLst>
              <a:ext uri="{FF2B5EF4-FFF2-40B4-BE49-F238E27FC236}">
                <a16:creationId xmlns:a16="http://schemas.microsoft.com/office/drawing/2014/main" id="{2CD6A081-BD67-4B1A-A800-26BA77F5593C}"/>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Contents</a:t>
            </a:r>
            <a:endParaRPr kumimoji="0" lang="en-GB" i="0" strike="noStrike" kern="1200" cap="none" spc="0" normalizeH="0" baseline="0" noProof="0">
              <a:ln>
                <a:noFill/>
              </a:ln>
              <a:solidFill>
                <a:prstClr val="white"/>
              </a:solidFill>
              <a:effectLst/>
              <a:uLnTx/>
              <a:uFillTx/>
              <a:cs typeface="Arial" panose="020B0604020202020204" pitchFamily="34" charset="0"/>
            </a:endParaRPr>
          </a:p>
        </p:txBody>
      </p:sp>
      <p:sp>
        <p:nvSpPr>
          <p:cNvPr id="5" name="TextBox 4">
            <a:extLst>
              <a:ext uri="{FF2B5EF4-FFF2-40B4-BE49-F238E27FC236}">
                <a16:creationId xmlns:a16="http://schemas.microsoft.com/office/drawing/2014/main" id="{7C1C986A-7EF7-4EDC-AABC-D3E633EE1712}"/>
              </a:ext>
            </a:extLst>
          </p:cNvPr>
          <p:cNvSpPr txBox="1"/>
          <p:nvPr/>
        </p:nvSpPr>
        <p:spPr>
          <a:xfrm>
            <a:off x="370255" y="1542451"/>
            <a:ext cx="11010507" cy="1070871"/>
          </a:xfrm>
          <a:prstGeom prst="rect">
            <a:avLst/>
          </a:prstGeom>
          <a:noFill/>
        </p:spPr>
        <p:txBody>
          <a:bodyPr wrap="square" rtlCol="0">
            <a:spAutoFit/>
          </a:bodyPr>
          <a:lstStyle/>
          <a:p>
            <a:pPr algn="ctr">
              <a:lnSpc>
                <a:spcPct val="107000"/>
              </a:lnSpc>
              <a:spcAft>
                <a:spcPts val="800"/>
              </a:spcAft>
            </a:pPr>
            <a:r>
              <a:rPr lang="en-GB" sz="1800">
                <a:solidFill>
                  <a:schemeClr val="bg1"/>
                </a:solidFill>
                <a:effectLst/>
                <a:latin typeface="Calibri"/>
                <a:ea typeface="Calibri" panose="020F0502020204030204" pitchFamily="34" charset="0"/>
                <a:cs typeface="Times New Roman"/>
              </a:rPr>
              <a:t>This Runbook has been designed to help </a:t>
            </a:r>
            <a:r>
              <a:rPr lang="en-GB" sz="1800" b="1">
                <a:solidFill>
                  <a:srgbClr val="008680"/>
                </a:solidFill>
                <a:effectLst/>
                <a:latin typeface="Calibri"/>
                <a:ea typeface="Calibri" panose="020F0502020204030204" pitchFamily="34" charset="0"/>
                <a:cs typeface="Times New Roman"/>
              </a:rPr>
              <a:t>Software Developers </a:t>
            </a:r>
            <a:r>
              <a:rPr lang="en-GB" sz="1800">
                <a:solidFill>
                  <a:schemeClr val="bg1"/>
                </a:solidFill>
                <a:effectLst/>
                <a:latin typeface="Calibri"/>
                <a:ea typeface="Calibri" panose="020F0502020204030204" pitchFamily="34" charset="0"/>
                <a:cs typeface="Times New Roman"/>
              </a:rPr>
              <a:t>(both independent or in-house) and </a:t>
            </a:r>
            <a:r>
              <a:rPr lang="en-GB" sz="1800" b="1">
                <a:solidFill>
                  <a:srgbClr val="008680"/>
                </a:solidFill>
                <a:effectLst/>
                <a:latin typeface="Calibri"/>
                <a:ea typeface="Calibri" panose="020F0502020204030204" pitchFamily="34" charset="0"/>
                <a:cs typeface="Times New Roman"/>
              </a:rPr>
              <a:t>Declarants</a:t>
            </a:r>
            <a:r>
              <a:rPr lang="en-GB" sz="1800">
                <a:solidFill>
                  <a:schemeClr val="bg1"/>
                </a:solidFill>
                <a:latin typeface="Calibri"/>
                <a:ea typeface="Calibri" panose="020F0502020204030204" pitchFamily="34" charset="0"/>
                <a:cs typeface="Times New Roman"/>
              </a:rPr>
              <a:t>. </a:t>
            </a:r>
          </a:p>
          <a:p>
            <a:pPr algn="ctr">
              <a:lnSpc>
                <a:spcPct val="107000"/>
              </a:lnSpc>
              <a:spcAft>
                <a:spcPts val="800"/>
              </a:spcAft>
            </a:pPr>
            <a:r>
              <a:rPr lang="en-GB" sz="1800">
                <a:solidFill>
                  <a:schemeClr val="bg1"/>
                </a:solidFill>
                <a:latin typeface="Calibri"/>
                <a:ea typeface="Calibri" panose="020F0502020204030204" pitchFamily="34" charset="0"/>
                <a:cs typeface="Times New Roman"/>
              </a:rPr>
              <a:t>It will also support </a:t>
            </a:r>
            <a:r>
              <a:rPr lang="en-GB" sz="1800" b="1">
                <a:solidFill>
                  <a:srgbClr val="008680"/>
                </a:solidFill>
                <a:effectLst/>
                <a:latin typeface="Calibri"/>
                <a:ea typeface="Calibri" panose="020F0502020204030204" pitchFamily="34" charset="0"/>
                <a:cs typeface="Times New Roman"/>
              </a:rPr>
              <a:t>Traders and Intermediaries such as Brokers &amp;</a:t>
            </a:r>
            <a:r>
              <a:rPr lang="en-GB" sz="1800" b="1">
                <a:solidFill>
                  <a:schemeClr val="bg1"/>
                </a:solidFill>
                <a:effectLst/>
                <a:latin typeface="Calibri"/>
                <a:ea typeface="Calibri" panose="020F0502020204030204" pitchFamily="34" charset="0"/>
                <a:cs typeface="Times New Roman"/>
              </a:rPr>
              <a:t> </a:t>
            </a:r>
            <a:r>
              <a:rPr lang="en-GB" sz="1800" b="1">
                <a:solidFill>
                  <a:srgbClr val="008680"/>
                </a:solidFill>
                <a:effectLst/>
                <a:latin typeface="Calibri"/>
                <a:ea typeface="Calibri" panose="020F0502020204030204" pitchFamily="34" charset="0"/>
                <a:cs typeface="Times New Roman"/>
              </a:rPr>
              <a:t>Community System Providers </a:t>
            </a:r>
            <a:r>
              <a:rPr lang="en-GB" sz="1800">
                <a:solidFill>
                  <a:schemeClr val="bg1"/>
                </a:solidFill>
                <a:effectLst/>
                <a:latin typeface="Calibri"/>
                <a:ea typeface="Calibri" panose="020F0502020204030204" pitchFamily="34" charset="0"/>
                <a:cs typeface="Times New Roman"/>
              </a:rPr>
              <a:t>(CSPs) who are involved in both the Import and Export of goods from the UK.</a:t>
            </a:r>
          </a:p>
        </p:txBody>
      </p:sp>
      <p:sp>
        <p:nvSpPr>
          <p:cNvPr id="9" name="Slide Number Placeholder 8">
            <a:extLst>
              <a:ext uri="{FF2B5EF4-FFF2-40B4-BE49-F238E27FC236}">
                <a16:creationId xmlns:a16="http://schemas.microsoft.com/office/drawing/2014/main" id="{8196C4EB-E1E2-44C0-A455-A6E79D79890C}"/>
              </a:ext>
            </a:extLst>
          </p:cNvPr>
          <p:cNvSpPr>
            <a:spLocks noGrp="1"/>
          </p:cNvSpPr>
          <p:nvPr>
            <p:ph type="sldNum" sz="quarter" idx="12"/>
          </p:nvPr>
        </p:nvSpPr>
        <p:spPr/>
        <p:txBody>
          <a:bodyPr/>
          <a:lstStyle/>
          <a:p>
            <a:fld id="{831A7E15-3B48-4B7B-BB52-54578FC31682}" type="slidenum">
              <a:rPr lang="en-GB" smtClean="0"/>
              <a:t>2</a:t>
            </a:fld>
            <a:endParaRPr lang="en-GB"/>
          </a:p>
        </p:txBody>
      </p:sp>
    </p:spTree>
    <p:extLst>
      <p:ext uri="{BB962C8B-B14F-4D97-AF65-F5344CB8AC3E}">
        <p14:creationId xmlns:p14="http://schemas.microsoft.com/office/powerpoint/2010/main" val="3962025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a:solidFill>
                  <a:schemeClr val="tx1"/>
                </a:solidFill>
              </a:rPr>
              <a:t>Runbook</a:t>
            </a:r>
            <a:endParaRPr lang="en-US">
              <a:solidFill>
                <a:schemeClr val="tx1"/>
              </a:solidFill>
            </a:endParaRPr>
          </a:p>
        </p:txBody>
      </p:sp>
    </p:spTree>
    <p:extLst>
      <p:ext uri="{BB962C8B-B14F-4D97-AF65-F5344CB8AC3E}">
        <p14:creationId xmlns:p14="http://schemas.microsoft.com/office/powerpoint/2010/main" val="959776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22B585-E1EC-4138-AD42-A66D72198C07}"/>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4</a:t>
            </a:fld>
            <a:endParaRPr lang="en-US">
              <a:solidFill>
                <a:srgbClr val="000000">
                  <a:tint val="75000"/>
                </a:srgbClr>
              </a:solidFill>
            </a:endParaRPr>
          </a:p>
        </p:txBody>
      </p:sp>
      <p:grpSp>
        <p:nvGrpSpPr>
          <p:cNvPr id="18" name="Group 17">
            <a:extLst>
              <a:ext uri="{FF2B5EF4-FFF2-40B4-BE49-F238E27FC236}">
                <a16:creationId xmlns:a16="http://schemas.microsoft.com/office/drawing/2014/main" id="{7D0089D5-E749-41EE-9A7D-CAC6A341375B}"/>
              </a:ext>
            </a:extLst>
          </p:cNvPr>
          <p:cNvGrpSpPr/>
          <p:nvPr/>
        </p:nvGrpSpPr>
        <p:grpSpPr>
          <a:xfrm>
            <a:off x="399707" y="2745536"/>
            <a:ext cx="3112930" cy="698180"/>
            <a:chOff x="422091" y="3027476"/>
            <a:chExt cx="3112930" cy="698180"/>
          </a:xfrm>
        </p:grpSpPr>
        <p:sp>
          <p:nvSpPr>
            <p:cNvPr id="19" name="Rectangle 18">
              <a:extLst>
                <a:ext uri="{FF2B5EF4-FFF2-40B4-BE49-F238E27FC236}">
                  <a16:creationId xmlns:a16="http://schemas.microsoft.com/office/drawing/2014/main" id="{3505451D-C5E9-4B3B-B045-D69D09629938}"/>
                </a:ext>
              </a:extLst>
            </p:cNvPr>
            <p:cNvSpPr/>
            <p:nvPr/>
          </p:nvSpPr>
          <p:spPr>
            <a:xfrm>
              <a:off x="422091" y="3027476"/>
              <a:ext cx="698180" cy="698180"/>
            </a:xfrm>
            <a:prstGeom prst="rect">
              <a:avLst/>
            </a:prstGeom>
            <a:solidFill>
              <a:srgbClr val="A3C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20" name="Rectangle 19">
              <a:extLst>
                <a:ext uri="{FF2B5EF4-FFF2-40B4-BE49-F238E27FC236}">
                  <a16:creationId xmlns:a16="http://schemas.microsoft.com/office/drawing/2014/main" id="{7A8ABAFE-4099-472C-A4C8-EBD48AC4D9EA}"/>
                </a:ext>
              </a:extLst>
            </p:cNvPr>
            <p:cNvSpPr/>
            <p:nvPr/>
          </p:nvSpPr>
          <p:spPr>
            <a:xfrm>
              <a:off x="1120271" y="3027476"/>
              <a:ext cx="2414750" cy="6981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7AFC3"/>
                  </a:solidFill>
                </a:rPr>
                <a:t>Trade Test</a:t>
              </a:r>
            </a:p>
            <a:p>
              <a:pPr algn="ctr"/>
              <a:r>
                <a:rPr lang="en-GB" sz="1200" dirty="0">
                  <a:solidFill>
                    <a:srgbClr val="77AFC3"/>
                  </a:solidFill>
                </a:rPr>
                <a:t>Software Developers Only</a:t>
              </a:r>
            </a:p>
          </p:txBody>
        </p:sp>
      </p:grpSp>
      <p:grpSp>
        <p:nvGrpSpPr>
          <p:cNvPr id="21" name="Group 20">
            <a:extLst>
              <a:ext uri="{FF2B5EF4-FFF2-40B4-BE49-F238E27FC236}">
                <a16:creationId xmlns:a16="http://schemas.microsoft.com/office/drawing/2014/main" id="{41E85A6A-E176-4B47-9683-E38B27626825}"/>
              </a:ext>
            </a:extLst>
          </p:cNvPr>
          <p:cNvGrpSpPr/>
          <p:nvPr/>
        </p:nvGrpSpPr>
        <p:grpSpPr>
          <a:xfrm>
            <a:off x="399707" y="3783605"/>
            <a:ext cx="3112930" cy="698180"/>
            <a:chOff x="422091" y="3844602"/>
            <a:chExt cx="3112930" cy="698180"/>
          </a:xfrm>
        </p:grpSpPr>
        <p:sp>
          <p:nvSpPr>
            <p:cNvPr id="22" name="Rectangle 21">
              <a:extLst>
                <a:ext uri="{FF2B5EF4-FFF2-40B4-BE49-F238E27FC236}">
                  <a16:creationId xmlns:a16="http://schemas.microsoft.com/office/drawing/2014/main" id="{D7572431-7F8B-4203-8CA1-D2A5872111F6}"/>
                </a:ext>
              </a:extLst>
            </p:cNvPr>
            <p:cNvSpPr/>
            <p:nvPr/>
          </p:nvSpPr>
          <p:spPr>
            <a:xfrm>
              <a:off x="422091" y="3844602"/>
              <a:ext cx="698180" cy="698180"/>
            </a:xfrm>
            <a:prstGeom prst="rect">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23" name="Rectangle 22">
              <a:extLst>
                <a:ext uri="{FF2B5EF4-FFF2-40B4-BE49-F238E27FC236}">
                  <a16:creationId xmlns:a16="http://schemas.microsoft.com/office/drawing/2014/main" id="{E53AD5DB-A6E6-43FD-A2A2-2D43FCA6AAD9}"/>
                </a:ext>
              </a:extLst>
            </p:cNvPr>
            <p:cNvSpPr/>
            <p:nvPr/>
          </p:nvSpPr>
          <p:spPr>
            <a:xfrm>
              <a:off x="1120271" y="3844602"/>
              <a:ext cx="2414750" cy="6981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2C627A"/>
                  </a:solidFill>
                </a:rPr>
                <a:t>Trader Dress Rehearsal</a:t>
              </a:r>
            </a:p>
            <a:p>
              <a:pPr algn="ctr"/>
              <a:r>
                <a:rPr lang="en-GB" sz="1200" dirty="0">
                  <a:solidFill>
                    <a:srgbClr val="2C627A"/>
                  </a:solidFill>
                </a:rPr>
                <a:t>Software Developers &amp; Declarants</a:t>
              </a:r>
            </a:p>
          </p:txBody>
        </p:sp>
      </p:grpSp>
      <p:grpSp>
        <p:nvGrpSpPr>
          <p:cNvPr id="24" name="Group 23">
            <a:extLst>
              <a:ext uri="{FF2B5EF4-FFF2-40B4-BE49-F238E27FC236}">
                <a16:creationId xmlns:a16="http://schemas.microsoft.com/office/drawing/2014/main" id="{8933009F-F726-4A72-9DE1-7535ECDCFA39}"/>
              </a:ext>
            </a:extLst>
          </p:cNvPr>
          <p:cNvGrpSpPr/>
          <p:nvPr/>
        </p:nvGrpSpPr>
        <p:grpSpPr>
          <a:xfrm>
            <a:off x="399707" y="4821674"/>
            <a:ext cx="3112930" cy="698180"/>
            <a:chOff x="422091" y="4661728"/>
            <a:chExt cx="3112930" cy="698180"/>
          </a:xfrm>
        </p:grpSpPr>
        <p:sp>
          <p:nvSpPr>
            <p:cNvPr id="25" name="Rectangle 24">
              <a:extLst>
                <a:ext uri="{FF2B5EF4-FFF2-40B4-BE49-F238E27FC236}">
                  <a16:creationId xmlns:a16="http://schemas.microsoft.com/office/drawing/2014/main" id="{1AC30536-6A03-46D2-9909-F1E4E2E4B756}"/>
                </a:ext>
              </a:extLst>
            </p:cNvPr>
            <p:cNvSpPr/>
            <p:nvPr/>
          </p:nvSpPr>
          <p:spPr>
            <a:xfrm>
              <a:off x="422091" y="4661728"/>
              <a:ext cx="698180" cy="698180"/>
            </a:xfrm>
            <a:prstGeom prst="rect">
              <a:avLst/>
            </a:prstGeom>
            <a:solidFill>
              <a:srgbClr val="008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26" name="Rectangle 25">
              <a:extLst>
                <a:ext uri="{FF2B5EF4-FFF2-40B4-BE49-F238E27FC236}">
                  <a16:creationId xmlns:a16="http://schemas.microsoft.com/office/drawing/2014/main" id="{AA4D948C-E021-4012-AF63-7A9114D1F9B4}"/>
                </a:ext>
              </a:extLst>
            </p:cNvPr>
            <p:cNvSpPr/>
            <p:nvPr/>
          </p:nvSpPr>
          <p:spPr>
            <a:xfrm>
              <a:off x="1120271" y="4661728"/>
              <a:ext cx="2414750" cy="6981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rgbClr val="008680"/>
                  </a:solidFill>
                </a:rPr>
                <a:t>CDS Live</a:t>
              </a:r>
            </a:p>
            <a:p>
              <a:pPr algn="ctr"/>
              <a:r>
                <a:rPr lang="en-GB" sz="1200">
                  <a:solidFill>
                    <a:srgbClr val="008680"/>
                  </a:solidFill>
                </a:rPr>
                <a:t>Software Developers &amp; Declarants</a:t>
              </a:r>
            </a:p>
          </p:txBody>
        </p:sp>
      </p:grpSp>
      <p:sp>
        <p:nvSpPr>
          <p:cNvPr id="27" name="TextBox 26">
            <a:extLst>
              <a:ext uri="{FF2B5EF4-FFF2-40B4-BE49-F238E27FC236}">
                <a16:creationId xmlns:a16="http://schemas.microsoft.com/office/drawing/2014/main" id="{9E04AFE7-7156-4C79-8201-C1357C1C8A33}"/>
              </a:ext>
            </a:extLst>
          </p:cNvPr>
          <p:cNvSpPr txBox="1"/>
          <p:nvPr/>
        </p:nvSpPr>
        <p:spPr>
          <a:xfrm>
            <a:off x="265256" y="2151340"/>
            <a:ext cx="3424543" cy="375552"/>
          </a:xfrm>
          <a:prstGeom prst="rect">
            <a:avLst/>
          </a:prstGeom>
          <a:noFill/>
        </p:spPr>
        <p:txBody>
          <a:bodyPr wrap="square">
            <a:spAutoFit/>
          </a:bodyPr>
          <a:lstStyle/>
          <a:p>
            <a:pPr>
              <a:lnSpc>
                <a:spcPct val="107000"/>
              </a:lnSpc>
              <a:spcAft>
                <a:spcPts val="800"/>
              </a:spcAft>
            </a:pPr>
            <a:r>
              <a:rPr lang="en-GB" sz="1800">
                <a:effectLst/>
                <a:latin typeface="Calibri"/>
                <a:ea typeface="Calibri" panose="020F0502020204030204" pitchFamily="34" charset="0"/>
                <a:cs typeface="Times New Roman"/>
              </a:rPr>
              <a:t>There are 3 </a:t>
            </a:r>
            <a:r>
              <a:rPr lang="en-GB" b="1">
                <a:solidFill>
                  <a:srgbClr val="008680"/>
                </a:solidFill>
                <a:latin typeface="Calibri"/>
                <a:ea typeface="Calibri" panose="020F0502020204030204" pitchFamily="34" charset="0"/>
                <a:cs typeface="Times New Roman"/>
              </a:rPr>
              <a:t>s</a:t>
            </a:r>
            <a:r>
              <a:rPr lang="en-GB" sz="1800" b="1">
                <a:solidFill>
                  <a:srgbClr val="008680"/>
                </a:solidFill>
                <a:effectLst/>
                <a:latin typeface="Calibri"/>
                <a:ea typeface="Calibri" panose="020F0502020204030204" pitchFamily="34" charset="0"/>
                <a:cs typeface="Times New Roman"/>
              </a:rPr>
              <a:t>tages</a:t>
            </a:r>
            <a:r>
              <a:rPr lang="en-GB" sz="1800">
                <a:effectLst/>
                <a:latin typeface="Calibri"/>
                <a:ea typeface="Calibri" panose="020F0502020204030204" pitchFamily="34" charset="0"/>
                <a:cs typeface="Times New Roman"/>
              </a:rPr>
              <a:t> to the journey:</a:t>
            </a:r>
          </a:p>
        </p:txBody>
      </p:sp>
      <p:sp>
        <p:nvSpPr>
          <p:cNvPr id="28" name="TextBox 27">
            <a:extLst>
              <a:ext uri="{FF2B5EF4-FFF2-40B4-BE49-F238E27FC236}">
                <a16:creationId xmlns:a16="http://schemas.microsoft.com/office/drawing/2014/main" id="{DDCAA3BF-CCFF-4D33-A0F8-4E8824E14F32}"/>
              </a:ext>
            </a:extLst>
          </p:cNvPr>
          <p:cNvSpPr txBox="1"/>
          <p:nvPr/>
        </p:nvSpPr>
        <p:spPr>
          <a:xfrm>
            <a:off x="4019411" y="1991628"/>
            <a:ext cx="7772882" cy="4282134"/>
          </a:xfrm>
          <a:prstGeom prst="rect">
            <a:avLst/>
          </a:prstGeom>
          <a:noFill/>
        </p:spPr>
        <p:txBody>
          <a:bodyPr wrap="square">
            <a:spAutoFit/>
          </a:bodyPr>
          <a:lstStyle/>
          <a:p>
            <a:pPr>
              <a:lnSpc>
                <a:spcPct val="107000"/>
              </a:lnSpc>
              <a:spcAft>
                <a:spcPts val="800"/>
              </a:spcAft>
            </a:pPr>
            <a:r>
              <a:rPr lang="en-GB" sz="1600" dirty="0">
                <a:effectLst/>
                <a:latin typeface="Calibri"/>
                <a:ea typeface="Calibri" panose="020F0502020204030204" pitchFamily="34" charset="0"/>
                <a:cs typeface="Times New Roman"/>
              </a:rPr>
              <a:t>Each of the </a:t>
            </a:r>
            <a:r>
              <a:rPr lang="en-GB" sz="1600" b="1" dirty="0">
                <a:solidFill>
                  <a:srgbClr val="008680"/>
                </a:solidFill>
                <a:latin typeface="Calibri"/>
                <a:ea typeface="Calibri" panose="020F0502020204030204" pitchFamily="34" charset="0"/>
                <a:cs typeface="Times New Roman"/>
              </a:rPr>
              <a:t>s</a:t>
            </a:r>
            <a:r>
              <a:rPr lang="en-GB" sz="1600" b="1" dirty="0">
                <a:solidFill>
                  <a:srgbClr val="008680"/>
                </a:solidFill>
                <a:effectLst/>
                <a:latin typeface="Calibri"/>
                <a:ea typeface="Calibri" panose="020F0502020204030204" pitchFamily="34" charset="0"/>
                <a:cs typeface="Times New Roman"/>
              </a:rPr>
              <a:t>tages </a:t>
            </a:r>
            <a:r>
              <a:rPr lang="en-GB" sz="1600" dirty="0">
                <a:effectLst/>
                <a:latin typeface="Calibri"/>
                <a:ea typeface="Calibri" panose="020F0502020204030204" pitchFamily="34" charset="0"/>
                <a:cs typeface="Times New Roman"/>
              </a:rPr>
              <a:t>outlined on th</a:t>
            </a:r>
            <a:r>
              <a:rPr lang="en-GB" sz="1600" dirty="0">
                <a:latin typeface="Calibri"/>
                <a:ea typeface="Calibri" panose="020F0502020204030204" pitchFamily="34" charset="0"/>
                <a:cs typeface="Times New Roman"/>
              </a:rPr>
              <a:t>e left a</a:t>
            </a:r>
            <a:r>
              <a:rPr lang="en-GB" sz="1600" dirty="0">
                <a:effectLst/>
                <a:latin typeface="Calibri"/>
                <a:ea typeface="Calibri" panose="020F0502020204030204" pitchFamily="34" charset="0"/>
                <a:cs typeface="Times New Roman"/>
              </a:rPr>
              <a:t>re made up of several smaller </a:t>
            </a:r>
            <a:r>
              <a:rPr lang="en-GB" sz="1600" b="1" dirty="0">
                <a:solidFill>
                  <a:srgbClr val="00928D"/>
                </a:solidFill>
                <a:effectLst/>
                <a:latin typeface="Calibri"/>
                <a:ea typeface="Calibri" panose="020F0502020204030204" pitchFamily="34" charset="0"/>
                <a:cs typeface="Times New Roman"/>
              </a:rPr>
              <a:t>steps</a:t>
            </a:r>
            <a:r>
              <a:rPr lang="en-GB" sz="1600" dirty="0">
                <a:solidFill>
                  <a:srgbClr val="00928D"/>
                </a:solidFill>
                <a:effectLst/>
                <a:latin typeface="Calibri"/>
                <a:ea typeface="Calibri" panose="020F0502020204030204" pitchFamily="34" charset="0"/>
                <a:cs typeface="Times New Roman"/>
              </a:rPr>
              <a:t> </a:t>
            </a:r>
            <a:r>
              <a:rPr lang="en-GB" sz="1600" dirty="0">
                <a:effectLst/>
                <a:latin typeface="Calibri"/>
                <a:ea typeface="Calibri" panose="020F0502020204030204" pitchFamily="34" charset="0"/>
                <a:cs typeface="Times New Roman"/>
              </a:rPr>
              <a:t>which must be completed to ensure smooth access to CDS Live.</a:t>
            </a:r>
          </a:p>
          <a:p>
            <a:pPr>
              <a:lnSpc>
                <a:spcPct val="107000"/>
              </a:lnSpc>
              <a:spcAft>
                <a:spcPts val="800"/>
              </a:spcAft>
            </a:pPr>
            <a:r>
              <a:rPr lang="en-GB" sz="1600" dirty="0">
                <a:effectLst/>
                <a:latin typeface="Calibri"/>
                <a:ea typeface="Calibri" panose="020F0502020204030204" pitchFamily="34" charset="0"/>
                <a:cs typeface="Times New Roman"/>
              </a:rPr>
              <a:t>While the process has been designed to be completed in sequential steps, some Software Developers will find it helpful to maintain ongoing, simultaneous access to all 3 environments as this will offer flexibility to quickly incorporate future developments.</a:t>
            </a:r>
          </a:p>
          <a:p>
            <a:pPr>
              <a:lnSpc>
                <a:spcPct val="107000"/>
              </a:lnSpc>
              <a:spcAft>
                <a:spcPts val="800"/>
              </a:spcAft>
            </a:pPr>
            <a:r>
              <a:rPr lang="en-GB" sz="1600" dirty="0">
                <a:effectLst/>
                <a:latin typeface="Calibri"/>
                <a:ea typeface="Calibri" panose="020F0502020204030204" pitchFamily="34" charset="0"/>
                <a:cs typeface="Times New Roman"/>
              </a:rPr>
              <a:t>Equally, some may wish to work in each environment independently and at different points of their development and testing cycles.</a:t>
            </a:r>
          </a:p>
          <a:p>
            <a:pPr>
              <a:lnSpc>
                <a:spcPct val="107000"/>
              </a:lnSpc>
              <a:spcAft>
                <a:spcPts val="800"/>
              </a:spcAft>
            </a:pPr>
            <a:r>
              <a:rPr lang="en-GB" sz="1600" dirty="0">
                <a:effectLst/>
                <a:latin typeface="Calibri"/>
                <a:ea typeface="Calibri" panose="020F0502020204030204" pitchFamily="34" charset="0"/>
                <a:cs typeface="Times New Roman"/>
              </a:rPr>
              <a:t>It is important to recognise all stages will require close collaboration between </a:t>
            </a:r>
            <a:r>
              <a:rPr lang="en-GB" sz="1600" b="1" dirty="0">
                <a:solidFill>
                  <a:srgbClr val="008680"/>
                </a:solidFill>
                <a:effectLst/>
                <a:latin typeface="Calibri"/>
                <a:ea typeface="Calibri" panose="020F0502020204030204" pitchFamily="34" charset="0"/>
                <a:cs typeface="Times New Roman"/>
              </a:rPr>
              <a:t>Software Developers, Declarants</a:t>
            </a:r>
            <a:r>
              <a:rPr lang="en-GB" sz="1600" dirty="0">
                <a:effectLst/>
                <a:latin typeface="Calibri"/>
                <a:ea typeface="Calibri" panose="020F0502020204030204" pitchFamily="34" charset="0"/>
                <a:cs typeface="Times New Roman"/>
              </a:rPr>
              <a:t> and </a:t>
            </a:r>
            <a:r>
              <a:rPr lang="en-GB" sz="1600" b="1" dirty="0">
                <a:solidFill>
                  <a:srgbClr val="008680"/>
                </a:solidFill>
                <a:effectLst/>
                <a:latin typeface="Calibri"/>
                <a:ea typeface="Calibri" panose="020F0502020204030204" pitchFamily="34" charset="0"/>
                <a:cs typeface="Times New Roman"/>
              </a:rPr>
              <a:t>HMRC</a:t>
            </a:r>
            <a:r>
              <a:rPr lang="en-GB" sz="1600" dirty="0">
                <a:effectLst/>
                <a:latin typeface="Calibri"/>
                <a:ea typeface="Calibri" panose="020F0502020204030204" pitchFamily="34" charset="0"/>
                <a:cs typeface="Times New Roman"/>
              </a:rPr>
              <a:t>.</a:t>
            </a:r>
            <a:endParaRPr lang="en-GB" sz="1600" dirty="0">
              <a:effectLst/>
              <a:latin typeface="Calibri"/>
              <a:ea typeface="Calibri" panose="020F0502020204030204" pitchFamily="34" charset="0"/>
              <a:cs typeface="Times New Roman" panose="02020603050405020304" pitchFamily="18" charset="0"/>
            </a:endParaRPr>
          </a:p>
          <a:p>
            <a:pPr>
              <a:lnSpc>
                <a:spcPct val="107000"/>
              </a:lnSpc>
              <a:spcAft>
                <a:spcPts val="800"/>
              </a:spcAft>
            </a:pPr>
            <a:r>
              <a:rPr lang="en-GB" sz="1600" dirty="0">
                <a:effectLst/>
                <a:latin typeface="Calibri"/>
                <a:ea typeface="Calibri" panose="020F0502020204030204" pitchFamily="34" charset="0"/>
                <a:cs typeface="Times New Roman"/>
              </a:rPr>
              <a:t>Before a Declarant can authorise a Software Developer’s application to begin making declarations on their behalf, they must </a:t>
            </a:r>
            <a:r>
              <a:rPr lang="en-GB" sz="1600" dirty="0">
                <a:latin typeface="Calibri"/>
                <a:ea typeface="Calibri" panose="020F0502020204030204" pitchFamily="34" charset="0"/>
                <a:cs typeface="Times New Roman"/>
              </a:rPr>
              <a:t>sign-in to</a:t>
            </a:r>
            <a:r>
              <a:rPr lang="en-GB" sz="1600" dirty="0">
                <a:effectLst/>
                <a:latin typeface="Calibri"/>
                <a:ea typeface="Calibri" panose="020F0502020204030204" pitchFamily="34" charset="0"/>
                <a:cs typeface="Times New Roman"/>
              </a:rPr>
              <a:t> the authorisation page </a:t>
            </a:r>
            <a:r>
              <a:rPr lang="en-GB" sz="1600" dirty="0">
                <a:latin typeface="Calibri"/>
                <a:ea typeface="Calibri" panose="020F0502020204030204" pitchFamily="34" charset="0"/>
                <a:cs typeface="Times New Roman"/>
              </a:rPr>
              <a:t>using their </a:t>
            </a:r>
            <a:r>
              <a:rPr lang="en-GB" sz="1600" b="1" dirty="0">
                <a:solidFill>
                  <a:srgbClr val="008680"/>
                </a:solidFill>
                <a:effectLst/>
                <a:latin typeface="Calibri"/>
                <a:ea typeface="Calibri" panose="020F0502020204030204" pitchFamily="34" charset="0"/>
                <a:cs typeface="Times New Roman"/>
              </a:rPr>
              <a:t>Government Gateway </a:t>
            </a:r>
            <a:r>
              <a:rPr lang="en-GB" sz="1600" b="1" dirty="0">
                <a:solidFill>
                  <a:srgbClr val="008680"/>
                </a:solidFill>
                <a:latin typeface="Calibri"/>
                <a:ea typeface="Calibri" panose="020F0502020204030204" pitchFamily="34" charset="0"/>
                <a:cs typeface="Times New Roman"/>
              </a:rPr>
              <a:t>account </a:t>
            </a:r>
            <a:r>
              <a:rPr lang="en-GB" sz="1600" dirty="0">
                <a:effectLst/>
                <a:latin typeface="Calibri"/>
                <a:ea typeface="Calibri" panose="020F0502020204030204" pitchFamily="34" charset="0"/>
                <a:cs typeface="Times New Roman"/>
              </a:rPr>
              <a:t>and grant the application authority to access certain scopes.</a:t>
            </a:r>
          </a:p>
          <a:p>
            <a:pPr>
              <a:lnSpc>
                <a:spcPct val="107000"/>
              </a:lnSpc>
              <a:spcAft>
                <a:spcPts val="800"/>
              </a:spcAft>
            </a:pPr>
            <a:r>
              <a:rPr lang="en-GB" sz="1600" dirty="0">
                <a:effectLst/>
                <a:latin typeface="Calibri"/>
                <a:ea typeface="Calibri" panose="020F0502020204030204" pitchFamily="34" charset="0"/>
                <a:cs typeface="Times New Roman"/>
              </a:rPr>
              <a:t>Declarants who do not correctly set up or maintain their Government Gateway ID details may experience delays or be unable to access the service.</a:t>
            </a:r>
            <a:endParaRPr lang="en-GB" sz="1600" b="1" dirty="0">
              <a:solidFill>
                <a:srgbClr val="008680"/>
              </a:solidFill>
              <a:effectLst/>
              <a:latin typeface="Calibri"/>
              <a:ea typeface="Calibri" panose="020F0502020204030204" pitchFamily="34" charset="0"/>
              <a:cs typeface="Times New Roman"/>
            </a:endParaRPr>
          </a:p>
        </p:txBody>
      </p:sp>
      <p:sp>
        <p:nvSpPr>
          <p:cNvPr id="29" name="Rectangle: Diagonal Corners Rounded 28">
            <a:extLst>
              <a:ext uri="{FF2B5EF4-FFF2-40B4-BE49-F238E27FC236}">
                <a16:creationId xmlns:a16="http://schemas.microsoft.com/office/drawing/2014/main" id="{80436460-2EF6-4D6B-B240-C62714B13514}"/>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Introduction</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30" name="Rectangle: Diagonal Corners Snipped 29">
            <a:extLst>
              <a:ext uri="{FF2B5EF4-FFF2-40B4-BE49-F238E27FC236}">
                <a16:creationId xmlns:a16="http://schemas.microsoft.com/office/drawing/2014/main" id="{D0A62003-DED2-4720-8F08-AE38C73E34CB}"/>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kumimoji="0" lang="en-GB" sz="1800" b="0" i="0" u="none" strike="noStrike" kern="0" cap="none" spc="0" normalizeH="0" baseline="0" noProof="0">
                <a:ln>
                  <a:noFill/>
                </a:ln>
                <a:solidFill>
                  <a:prstClr val="white"/>
                </a:solidFill>
                <a:effectLst/>
                <a:uLnTx/>
                <a:uFillTx/>
                <a:latin typeface="Calibri (Headings)"/>
              </a:rPr>
              <a:t>Here you will find </a:t>
            </a:r>
            <a:r>
              <a:rPr kumimoji="0" lang="en-GB" sz="1800" b="1" i="0" u="none" strike="noStrike" kern="0" cap="none" spc="0" normalizeH="0" baseline="0" noProof="0">
                <a:ln>
                  <a:noFill/>
                </a:ln>
                <a:solidFill>
                  <a:prstClr val="white"/>
                </a:solidFill>
                <a:effectLst/>
                <a:uLnTx/>
                <a:uFillTx/>
                <a:latin typeface="Calibri (Headings)"/>
              </a:rPr>
              <a:t>best practice guidance</a:t>
            </a:r>
            <a:r>
              <a:rPr kumimoji="0" lang="en-GB" sz="1800" b="0" i="0" u="none" strike="noStrike" kern="0" cap="none" spc="0" normalizeH="0" baseline="0" noProof="0">
                <a:ln>
                  <a:noFill/>
                </a:ln>
                <a:solidFill>
                  <a:prstClr val="white"/>
                </a:solidFill>
                <a:effectLst/>
                <a:uLnTx/>
                <a:uFillTx/>
                <a:latin typeface="Calibri (Headings)"/>
              </a:rPr>
              <a:t> for </a:t>
            </a:r>
            <a:r>
              <a:rPr kumimoji="0" lang="en-GB" sz="1800" b="1" i="0" u="none" strike="noStrike" kern="0" cap="none" spc="0" normalizeH="0" baseline="0" noProof="0">
                <a:ln>
                  <a:noFill/>
                </a:ln>
                <a:solidFill>
                  <a:prstClr val="white"/>
                </a:solidFill>
                <a:effectLst/>
                <a:uLnTx/>
                <a:uFillTx/>
                <a:latin typeface="Calibri (Headings)"/>
              </a:rPr>
              <a:t>Software Developers</a:t>
            </a:r>
            <a:r>
              <a:rPr kumimoji="0" lang="en-GB" sz="1800" b="0" i="0" u="none" strike="noStrike" kern="0" cap="none" spc="0" normalizeH="0" baseline="0" noProof="0">
                <a:ln>
                  <a:noFill/>
                </a:ln>
                <a:solidFill>
                  <a:prstClr val="white"/>
                </a:solidFill>
                <a:effectLst/>
                <a:uLnTx/>
                <a:uFillTx/>
                <a:latin typeface="Calibri (Headings)"/>
              </a:rPr>
              <a:t> who are creating their own Customs application.</a:t>
            </a:r>
          </a:p>
        </p:txBody>
      </p:sp>
      <p:grpSp>
        <p:nvGrpSpPr>
          <p:cNvPr id="31" name="Group 30">
            <a:extLst>
              <a:ext uri="{FF2B5EF4-FFF2-40B4-BE49-F238E27FC236}">
                <a16:creationId xmlns:a16="http://schemas.microsoft.com/office/drawing/2014/main" id="{7618C2A4-AB32-4972-94C5-59DCD291878E}"/>
              </a:ext>
            </a:extLst>
          </p:cNvPr>
          <p:cNvGrpSpPr/>
          <p:nvPr/>
        </p:nvGrpSpPr>
        <p:grpSpPr>
          <a:xfrm>
            <a:off x="5162406" y="-63328"/>
            <a:ext cx="6841472" cy="910091"/>
            <a:chOff x="5162406" y="-63328"/>
            <a:chExt cx="6841472" cy="910091"/>
          </a:xfrm>
        </p:grpSpPr>
        <p:graphicFrame>
          <p:nvGraphicFramePr>
            <p:cNvPr id="32" name="Diagram 31">
              <a:extLst>
                <a:ext uri="{FF2B5EF4-FFF2-40B4-BE49-F238E27FC236}">
                  <a16:creationId xmlns:a16="http://schemas.microsoft.com/office/drawing/2014/main" id="{B684F218-5274-4FA8-AF31-F4B9D02F7024}"/>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 name="Graphic 32" descr="Clapper board with solid fill">
              <a:extLst>
                <a:ext uri="{FF2B5EF4-FFF2-40B4-BE49-F238E27FC236}">
                  <a16:creationId xmlns:a16="http://schemas.microsoft.com/office/drawing/2014/main" id="{0B1E8E53-4721-4EFE-9BDA-2A3DBDC7609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34" name="Graphic 33" descr="Plugged Unplugged with solid fill">
              <a:extLst>
                <a:ext uri="{FF2B5EF4-FFF2-40B4-BE49-F238E27FC236}">
                  <a16:creationId xmlns:a16="http://schemas.microsoft.com/office/drawing/2014/main" id="{522BE87B-7C52-4FA7-8C74-47127F1C645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35" name="Graphic 34" descr="Internet Of Things with solid fill">
              <a:extLst>
                <a:ext uri="{FF2B5EF4-FFF2-40B4-BE49-F238E27FC236}">
                  <a16:creationId xmlns:a16="http://schemas.microsoft.com/office/drawing/2014/main" id="{FE3EA0D8-0290-44E8-9718-1E328EFB66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36" name="Graphic 35" descr="Ui Ux with solid fill">
              <a:extLst>
                <a:ext uri="{FF2B5EF4-FFF2-40B4-BE49-F238E27FC236}">
                  <a16:creationId xmlns:a16="http://schemas.microsoft.com/office/drawing/2014/main" id="{4C3C0DA4-3E49-4E68-B1E6-44500C2E92C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37" name="Graphic 36" descr="Open hand with plant with solid fill">
              <a:extLst>
                <a:ext uri="{FF2B5EF4-FFF2-40B4-BE49-F238E27FC236}">
                  <a16:creationId xmlns:a16="http://schemas.microsoft.com/office/drawing/2014/main" id="{C7A08ABD-DB4F-4480-B15B-BACAE10B105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38" name="Graphic 37" descr="Books with solid fill">
              <a:extLst>
                <a:ext uri="{FF2B5EF4-FFF2-40B4-BE49-F238E27FC236}">
                  <a16:creationId xmlns:a16="http://schemas.microsoft.com/office/drawing/2014/main" id="{91C68714-352A-44ED-B788-BEE4771AA82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39" name="Graphic 38" descr="Questions with solid fill">
              <a:extLst>
                <a:ext uri="{FF2B5EF4-FFF2-40B4-BE49-F238E27FC236}">
                  <a16:creationId xmlns:a16="http://schemas.microsoft.com/office/drawing/2014/main" id="{E6FB3588-8D4C-4F46-9255-14323496C7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Tree>
    <p:extLst>
      <p:ext uri="{BB962C8B-B14F-4D97-AF65-F5344CB8AC3E}">
        <p14:creationId xmlns:p14="http://schemas.microsoft.com/office/powerpoint/2010/main" val="918050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39178"/>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dirty="0">
                <a:solidFill>
                  <a:schemeClr val="tx1"/>
                </a:solidFill>
              </a:rPr>
              <a:t>Welcome to Trade Test</a:t>
            </a:r>
            <a:endParaRPr lang="en-US" dirty="0">
              <a:solidFill>
                <a:schemeClr val="tx1"/>
              </a:solidFill>
            </a:endParaRPr>
          </a:p>
        </p:txBody>
      </p:sp>
    </p:spTree>
    <p:extLst>
      <p:ext uri="{BB962C8B-B14F-4D97-AF65-F5344CB8AC3E}">
        <p14:creationId xmlns:p14="http://schemas.microsoft.com/office/powerpoint/2010/main" val="215681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20B803-A682-41D9-A4E7-72F6650662D8}"/>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6</a:t>
            </a:fld>
            <a:endParaRPr lang="en-US">
              <a:solidFill>
                <a:srgbClr val="000000">
                  <a:tint val="75000"/>
                </a:srgbClr>
              </a:solidFill>
            </a:endParaRPr>
          </a:p>
        </p:txBody>
      </p:sp>
      <p:sp>
        <p:nvSpPr>
          <p:cNvPr id="14" name="Rectangle 13">
            <a:extLst>
              <a:ext uri="{FF2B5EF4-FFF2-40B4-BE49-F238E27FC236}">
                <a16:creationId xmlns:a16="http://schemas.microsoft.com/office/drawing/2014/main" id="{B236A8F1-9473-4735-BF3C-A2D4B1D4DEBD}"/>
              </a:ext>
            </a:extLst>
          </p:cNvPr>
          <p:cNvSpPr/>
          <p:nvPr/>
        </p:nvSpPr>
        <p:spPr>
          <a:xfrm>
            <a:off x="7308096" y="1642751"/>
            <a:ext cx="4883904" cy="5215249"/>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endParaRPr lang="en-GB"/>
          </a:p>
          <a:p>
            <a:pPr algn="ctr"/>
            <a:endParaRPr lang="en-GB"/>
          </a:p>
        </p:txBody>
      </p:sp>
      <p:sp>
        <p:nvSpPr>
          <p:cNvPr id="15" name="TextBox 14">
            <a:extLst>
              <a:ext uri="{FF2B5EF4-FFF2-40B4-BE49-F238E27FC236}">
                <a16:creationId xmlns:a16="http://schemas.microsoft.com/office/drawing/2014/main" id="{4A147D13-985F-4D32-89A8-536AADE389FE}"/>
              </a:ext>
            </a:extLst>
          </p:cNvPr>
          <p:cNvSpPr txBox="1"/>
          <p:nvPr/>
        </p:nvSpPr>
        <p:spPr>
          <a:xfrm>
            <a:off x="7708362" y="2396640"/>
            <a:ext cx="4083371" cy="4278094"/>
          </a:xfrm>
          <a:prstGeom prst="rect">
            <a:avLst/>
          </a:prstGeom>
          <a:noFill/>
        </p:spPr>
        <p:txBody>
          <a:bodyPr wrap="square">
            <a:spAutoFit/>
          </a:bodyPr>
          <a:lstStyle/>
          <a:p>
            <a:pPr marL="742950" lvl="1" indent="-285750">
              <a:buFont typeface="Arial" panose="020B0604020202020204" pitchFamily="34" charset="0"/>
              <a:buChar char="•"/>
            </a:pPr>
            <a:r>
              <a:rPr lang="en-GB" sz="1600">
                <a:solidFill>
                  <a:schemeClr val="bg1"/>
                </a:solidFill>
                <a:cs typeface="Calibri"/>
              </a:rPr>
              <a:t>Test Trader and account data.</a:t>
            </a:r>
          </a:p>
          <a:p>
            <a:pPr marL="742950" lvl="1" indent="-285750">
              <a:buFont typeface="Arial" panose="020B0604020202020204" pitchFamily="34" charset="0"/>
              <a:buChar char="•"/>
            </a:pPr>
            <a:endParaRPr lang="en-GB" sz="1600">
              <a:solidFill>
                <a:schemeClr val="bg1"/>
              </a:solidFill>
              <a:cs typeface="Calibri"/>
            </a:endParaRPr>
          </a:p>
          <a:p>
            <a:pPr marL="742950" lvl="1" indent="-285750">
              <a:buFont typeface="Arial" panose="020B0604020202020204" pitchFamily="34" charset="0"/>
              <a:buChar char="•"/>
            </a:pPr>
            <a:r>
              <a:rPr lang="en-GB" sz="1600">
                <a:solidFill>
                  <a:schemeClr val="bg1"/>
                </a:solidFill>
                <a:cs typeface="Calibri"/>
              </a:rPr>
              <a:t>Process all declaration types and procedures.</a:t>
            </a:r>
          </a:p>
          <a:p>
            <a:pPr marL="742950" lvl="1" indent="-285750">
              <a:buFont typeface="Arial" panose="020B0604020202020204" pitchFamily="34" charset="0"/>
              <a:buChar char="•"/>
            </a:pPr>
            <a:endParaRPr lang="en-GB" sz="1600">
              <a:solidFill>
                <a:schemeClr val="bg1"/>
              </a:solidFill>
              <a:cs typeface="Calibri"/>
            </a:endParaRPr>
          </a:p>
          <a:p>
            <a:pPr marL="742950" lvl="1" indent="-285750">
              <a:buFont typeface="Arial" panose="020B0604020202020204" pitchFamily="34" charset="0"/>
              <a:buChar char="•"/>
            </a:pPr>
            <a:r>
              <a:rPr lang="en-GB" sz="1600">
                <a:solidFill>
                  <a:schemeClr val="bg1"/>
                </a:solidFill>
                <a:cs typeface="Calibri"/>
              </a:rPr>
              <a:t>Integration testing for all APIs. </a:t>
            </a:r>
          </a:p>
          <a:p>
            <a:pPr marL="742950" lvl="1" indent="-285750">
              <a:buFont typeface="Arial" panose="020B0604020202020204" pitchFamily="34" charset="0"/>
              <a:buChar char="•"/>
            </a:pPr>
            <a:endParaRPr lang="en-GB" sz="1600">
              <a:solidFill>
                <a:schemeClr val="bg1"/>
              </a:solidFill>
              <a:cs typeface="Calibri"/>
            </a:endParaRPr>
          </a:p>
          <a:p>
            <a:pPr marL="742950" lvl="1" indent="-285750">
              <a:buFont typeface="Arial" panose="020B0604020202020204" pitchFamily="34" charset="0"/>
              <a:buChar char="•"/>
            </a:pPr>
            <a:r>
              <a:rPr lang="en-GB" sz="1600">
                <a:solidFill>
                  <a:schemeClr val="bg1"/>
                </a:solidFill>
                <a:cs typeface="Calibri"/>
              </a:rPr>
              <a:t>Scripts to facilitate testing of software developer’s environment build.</a:t>
            </a:r>
          </a:p>
          <a:p>
            <a:pPr marL="742950" lvl="1" indent="-285750">
              <a:buFont typeface="Arial" panose="020B0604020202020204" pitchFamily="34" charset="0"/>
              <a:buChar char="•"/>
            </a:pPr>
            <a:endParaRPr lang="en-GB" sz="1600">
              <a:solidFill>
                <a:schemeClr val="bg1"/>
              </a:solidFill>
              <a:cs typeface="Calibri"/>
            </a:endParaRPr>
          </a:p>
          <a:p>
            <a:pPr marL="742950" lvl="1" indent="-285750">
              <a:buFont typeface="Arial" panose="020B0604020202020204" pitchFamily="34" charset="0"/>
              <a:buChar char="•"/>
            </a:pPr>
            <a:r>
              <a:rPr lang="en-GB" sz="1600">
                <a:solidFill>
                  <a:schemeClr val="bg1"/>
                </a:solidFill>
                <a:cs typeface="Calibri"/>
              </a:rPr>
              <a:t>Exports inventory linking, including dual running arrivals via CHIEF (HMUT).</a:t>
            </a:r>
          </a:p>
          <a:p>
            <a:pPr marL="742950" lvl="1" indent="-285750">
              <a:buFont typeface="Arial" panose="020B0604020202020204" pitchFamily="34" charset="0"/>
              <a:buChar char="•"/>
            </a:pPr>
            <a:endParaRPr lang="en-GB" sz="1600">
              <a:solidFill>
                <a:schemeClr val="bg1"/>
              </a:solidFill>
              <a:cs typeface="Calibri"/>
            </a:endParaRPr>
          </a:p>
          <a:p>
            <a:pPr marL="742950" lvl="1" indent="-285750">
              <a:buFont typeface="Arial" panose="020B0604020202020204" pitchFamily="34" charset="0"/>
              <a:buChar char="•"/>
            </a:pPr>
            <a:r>
              <a:rPr lang="en-GB" sz="1600">
                <a:solidFill>
                  <a:schemeClr val="bg1"/>
                </a:solidFill>
                <a:cs typeface="Calibri"/>
              </a:rPr>
              <a:t>Simulated controls, management of tariff quotas, quantities and periods &amp; immediate payments services.</a:t>
            </a:r>
          </a:p>
        </p:txBody>
      </p:sp>
      <p:sp>
        <p:nvSpPr>
          <p:cNvPr id="16" name="TextBox 15">
            <a:extLst>
              <a:ext uri="{FF2B5EF4-FFF2-40B4-BE49-F238E27FC236}">
                <a16:creationId xmlns:a16="http://schemas.microsoft.com/office/drawing/2014/main" id="{96803765-B650-4894-A208-4E6CD8D16FA5}"/>
              </a:ext>
            </a:extLst>
          </p:cNvPr>
          <p:cNvSpPr txBox="1"/>
          <p:nvPr/>
        </p:nvSpPr>
        <p:spPr>
          <a:xfrm>
            <a:off x="425130" y="1976695"/>
            <a:ext cx="6401195" cy="4018664"/>
          </a:xfrm>
          <a:prstGeom prst="rect">
            <a:avLst/>
          </a:prstGeom>
          <a:noFill/>
        </p:spPr>
        <p:txBody>
          <a:bodyPr wrap="square" lIns="91440" tIns="45720" rIns="91440" bIns="45720" rtlCol="0" anchor="t">
            <a:spAutoFit/>
          </a:bodyPr>
          <a:lstStyle/>
          <a:p>
            <a:pPr>
              <a:lnSpc>
                <a:spcPct val="107000"/>
              </a:lnSpc>
              <a:spcAft>
                <a:spcPts val="800"/>
              </a:spcAft>
            </a:pP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Trade Test (TT) </a:t>
            </a:r>
            <a:r>
              <a:rPr lang="en-GB" sz="1600" dirty="0">
                <a:effectLst/>
                <a:latin typeface="Calibri" panose="020F0502020204030204" pitchFamily="34" charset="0"/>
                <a:ea typeface="Calibri" panose="020F0502020204030204" pitchFamily="34" charset="0"/>
                <a:cs typeface="Times New Roman" panose="02020603050405020304" pitchFamily="18" charset="0"/>
              </a:rPr>
              <a:t>enables initial environment building.</a:t>
            </a:r>
          </a:p>
          <a:p>
            <a:pPr>
              <a:lnSpc>
                <a:spcPct val="107000"/>
              </a:lnSpc>
              <a:spcAft>
                <a:spcPts val="80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Unlike Trader Dress Rehearsal (TDR) &amp; CDS Live, it is </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only accessible to Software Developers</a:t>
            </a:r>
            <a:r>
              <a:rPr lang="en-GB" sz="1600"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Trade Test </a:t>
            </a:r>
            <a:r>
              <a:rPr lang="en-GB" sz="1600" dirty="0">
                <a:effectLst/>
                <a:latin typeface="Calibri" panose="020F0502020204030204" pitchFamily="34" charset="0"/>
                <a:ea typeface="Calibri" panose="020F0502020204030204" pitchFamily="34" charset="0"/>
                <a:cs typeface="Times New Roman" panose="02020603050405020304" pitchFamily="18" charset="0"/>
              </a:rPr>
              <a:t>provides a functional test platform where Developers are able to assure their software against CDS APIs and a CDS back-end for all core declaration processes and notification types</a:t>
            </a:r>
            <a:r>
              <a:rPr lang="en-GB" sz="1600" dirty="0">
                <a:latin typeface="Calibri" panose="020F0502020204030204" pitchFamily="34" charset="0"/>
                <a:ea typeface="Calibri" panose="020F0502020204030204" pitchFamily="34" charset="0"/>
                <a:cs typeface="Times New Roman" panose="02020603050405020304" pitchFamily="18" charset="0"/>
              </a:rPr>
              <a: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While Trade Test represents the first milestone on the journey to CDS Live, it is important to note that it </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may also be used as an ongoing build environment</a:t>
            </a:r>
            <a:r>
              <a:rPr lang="en-GB" sz="1600"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 </a:t>
            </a:r>
            <a:r>
              <a:rPr lang="en-GB" sz="1600" dirty="0">
                <a:effectLst/>
                <a:latin typeface="Calibri" panose="020F0502020204030204" pitchFamily="34" charset="0"/>
                <a:ea typeface="Calibri" panose="020F0502020204030204" pitchFamily="34" charset="0"/>
                <a:cs typeface="Times New Roman" panose="02020603050405020304" pitchFamily="18" charset="0"/>
              </a:rPr>
              <a:t>used to test functionality of future releases.</a:t>
            </a:r>
          </a:p>
          <a:p>
            <a:pPr>
              <a:lnSpc>
                <a:spcPct val="107000"/>
              </a:lnSpc>
              <a:spcAft>
                <a:spcPts val="80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Only </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test data </a:t>
            </a:r>
            <a:r>
              <a:rPr lang="en-GB" sz="1600" dirty="0">
                <a:effectLst/>
                <a:latin typeface="Calibri" panose="020F0502020204030204" pitchFamily="34" charset="0"/>
                <a:ea typeface="Calibri" panose="020F0502020204030204" pitchFamily="34" charset="0"/>
                <a:cs typeface="Times New Roman" panose="02020603050405020304" pitchFamily="18" charset="0"/>
              </a:rPr>
              <a:t>should be used in </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Trade Test</a:t>
            </a:r>
            <a:r>
              <a:rPr lang="en-GB" sz="1600" dirty="0">
                <a:effectLst/>
                <a:latin typeface="Calibri" panose="020F0502020204030204" pitchFamily="34" charset="0"/>
                <a:ea typeface="Calibri" panose="020F0502020204030204" pitchFamily="34" charset="0"/>
                <a:cs typeface="Times New Roman" panose="02020603050405020304" pitchFamily="18" charset="0"/>
              </a:rPr>
              <a:t>, as it is not the CDS Live environment. Importantly, Software Developers will also need to create a </a:t>
            </a:r>
            <a:r>
              <a:rPr lang="en-GB" sz="1600" b="1" dirty="0">
                <a:solidFill>
                  <a:srgbClr val="00928D"/>
                </a:solidFill>
                <a:latin typeface="Calibri" panose="020F0502020204030204" pitchFamily="34" charset="0"/>
                <a:ea typeface="Calibri" panose="020F0502020204030204" pitchFamily="34" charset="0"/>
                <a:cs typeface="Times New Roman" panose="02020603050405020304" pitchFamily="18" charset="0"/>
              </a:rPr>
              <a:t>t</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est </a:t>
            </a:r>
            <a:r>
              <a:rPr lang="en-GB" sz="1600" b="1" dirty="0">
                <a:solidFill>
                  <a:srgbClr val="00928D"/>
                </a:solidFill>
                <a:latin typeface="Calibri" panose="020F0502020204030204" pitchFamily="34" charset="0"/>
                <a:ea typeface="Calibri" panose="020F0502020204030204" pitchFamily="34" charset="0"/>
                <a:cs typeface="Times New Roman" panose="02020603050405020304" pitchFamily="18" charset="0"/>
              </a:rPr>
              <a:t>u</a:t>
            </a:r>
            <a:r>
              <a:rPr lang="en-GB" sz="1600" b="1"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ser a</a:t>
            </a:r>
            <a:r>
              <a:rPr lang="en-GB" sz="1600" b="1" dirty="0">
                <a:solidFill>
                  <a:srgbClr val="00928D"/>
                </a:solidFill>
                <a:latin typeface="Calibri" panose="020F0502020204030204" pitchFamily="34" charset="0"/>
                <a:ea typeface="Calibri" panose="020F0502020204030204" pitchFamily="34" charset="0"/>
                <a:cs typeface="Times New Roman" panose="02020603050405020304" pitchFamily="18" charset="0"/>
              </a:rPr>
              <a:t>ccount</a:t>
            </a:r>
            <a:r>
              <a:rPr lang="en-GB" sz="1600"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For more information visit </a:t>
            </a:r>
            <a:r>
              <a:rPr lang="en-GB" sz="1600" b="1" u="sng"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Developer Hub: Technical Documentation</a:t>
            </a:r>
            <a:r>
              <a:rPr lang="en-GB" sz="1600" b="1" u="sng"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6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lide Number Placeholder 2">
            <a:extLst>
              <a:ext uri="{FF2B5EF4-FFF2-40B4-BE49-F238E27FC236}">
                <a16:creationId xmlns:a16="http://schemas.microsoft.com/office/drawing/2014/main" id="{C488D1A2-190F-440A-B562-791ADCAC3DE4}"/>
              </a:ext>
            </a:extLst>
          </p:cNvPr>
          <p:cNvSpPr txBox="1">
            <a:spLocks/>
          </p:cNvSpPr>
          <p:nvPr/>
        </p:nvSpPr>
        <p:spPr>
          <a:xfrm>
            <a:off x="9298661"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5D49E0-8A1B-064A-8359-1403606AC716}" type="slidenum">
              <a:rPr lang="en-US" smtClean="0">
                <a:solidFill>
                  <a:srgbClr val="000000">
                    <a:tint val="75000"/>
                  </a:srgbClr>
                </a:solidFill>
              </a:rPr>
              <a:pPr/>
              <a:t>6</a:t>
            </a:fld>
            <a:endParaRPr lang="en-US">
              <a:solidFill>
                <a:srgbClr val="000000">
                  <a:tint val="75000"/>
                </a:srgbClr>
              </a:solidFill>
            </a:endParaRPr>
          </a:p>
        </p:txBody>
      </p:sp>
      <p:sp>
        <p:nvSpPr>
          <p:cNvPr id="18" name="TextBox 17">
            <a:extLst>
              <a:ext uri="{FF2B5EF4-FFF2-40B4-BE49-F238E27FC236}">
                <a16:creationId xmlns:a16="http://schemas.microsoft.com/office/drawing/2014/main" id="{A2665504-B5F3-4C48-8A50-28856B5F2A29}"/>
              </a:ext>
            </a:extLst>
          </p:cNvPr>
          <p:cNvSpPr txBox="1"/>
          <p:nvPr/>
        </p:nvSpPr>
        <p:spPr>
          <a:xfrm>
            <a:off x="7308096" y="1903979"/>
            <a:ext cx="4883904" cy="369332"/>
          </a:xfrm>
          <a:prstGeom prst="rect">
            <a:avLst/>
          </a:prstGeom>
          <a:noFill/>
        </p:spPr>
        <p:txBody>
          <a:bodyPr wrap="square">
            <a:spAutoFit/>
          </a:bodyPr>
          <a:lstStyle/>
          <a:p>
            <a:pPr algn="ctr"/>
            <a:r>
              <a:rPr lang="en-GB" b="1" dirty="0">
                <a:solidFill>
                  <a:schemeClr val="bg1"/>
                </a:solidFill>
              </a:rPr>
              <a:t>Trade Test Functionality</a:t>
            </a:r>
          </a:p>
        </p:txBody>
      </p:sp>
      <p:sp>
        <p:nvSpPr>
          <p:cNvPr id="19" name="Rectangle: Diagonal Corners Rounded 18">
            <a:extLst>
              <a:ext uri="{FF2B5EF4-FFF2-40B4-BE49-F238E27FC236}">
                <a16:creationId xmlns:a16="http://schemas.microsoft.com/office/drawing/2014/main" id="{5E804031-F407-4BE0-A069-F7093038245D}"/>
              </a:ext>
            </a:extLst>
          </p:cNvPr>
          <p:cNvSpPr/>
          <p:nvPr/>
        </p:nvSpPr>
        <p:spPr>
          <a:xfrm>
            <a:off x="-2" y="-242"/>
            <a:ext cx="4996249"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strike="noStrike" kern="1200" cap="none" spc="0" normalizeH="0" baseline="0" noProof="0" dirty="0">
                <a:ln>
                  <a:noFill/>
                </a:ln>
                <a:solidFill>
                  <a:prstClr val="white"/>
                </a:solidFill>
                <a:effectLst/>
                <a:uLnTx/>
                <a:uFillTx/>
                <a:cs typeface="Arial" panose="020B0604020202020204" pitchFamily="34" charset="0"/>
              </a:rPr>
              <a:t>Introduction to Trade Test </a:t>
            </a:r>
            <a:endParaRPr kumimoji="0" lang="en-GB" b="1" i="0" strike="noStrike" kern="1200" cap="none" spc="0" normalizeH="0" baseline="0" noProof="0" dirty="0">
              <a:ln>
                <a:noFill/>
              </a:ln>
              <a:solidFill>
                <a:prstClr val="white"/>
              </a:solidFill>
              <a:effectLst/>
              <a:uLnTx/>
              <a:uFillTx/>
              <a:cs typeface="Arial" panose="020B0604020202020204" pitchFamily="34" charset="0"/>
            </a:endParaRPr>
          </a:p>
        </p:txBody>
      </p:sp>
      <p:sp>
        <p:nvSpPr>
          <p:cNvPr id="20" name="Rectangle: Diagonal Corners Snipped 19">
            <a:extLst>
              <a:ext uri="{FF2B5EF4-FFF2-40B4-BE49-F238E27FC236}">
                <a16:creationId xmlns:a16="http://schemas.microsoft.com/office/drawing/2014/main" id="{03A92A08-4255-4A6D-BD21-4D61CF5EE7B3}"/>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Trade Test</a:t>
            </a:r>
            <a:r>
              <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rPr>
              <a:t> offers </a:t>
            </a: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Software Developers</a:t>
            </a:r>
            <a:r>
              <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rPr>
              <a:t> an environment where they can test their application</a:t>
            </a:r>
            <a:r>
              <a:rPr lang="en-GB" kern="0" dirty="0">
                <a:solidFill>
                  <a:prstClr val="white"/>
                </a:solidFill>
                <a:latin typeface="Calibri" panose="020F0502020204030204"/>
              </a:rPr>
              <a:t>. </a:t>
            </a: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520A952A-FEE7-4452-952F-8C775CA398BF}"/>
              </a:ext>
            </a:extLst>
          </p:cNvPr>
          <p:cNvGrpSpPr/>
          <p:nvPr/>
        </p:nvGrpSpPr>
        <p:grpSpPr>
          <a:xfrm>
            <a:off x="5162406" y="-63328"/>
            <a:ext cx="6841472" cy="910091"/>
            <a:chOff x="5162406" y="-63328"/>
            <a:chExt cx="6841472" cy="910091"/>
          </a:xfrm>
        </p:grpSpPr>
        <p:graphicFrame>
          <p:nvGraphicFramePr>
            <p:cNvPr id="22" name="Diagram 21">
              <a:extLst>
                <a:ext uri="{FF2B5EF4-FFF2-40B4-BE49-F238E27FC236}">
                  <a16:creationId xmlns:a16="http://schemas.microsoft.com/office/drawing/2014/main" id="{4CDBDF7D-2BC3-445D-A2ED-F1E3BCA5C80A}"/>
                </a:ext>
              </a:extLst>
            </p:cNvPr>
            <p:cNvGraphicFramePr/>
            <p:nvPr>
              <p:extLst>
                <p:ext uri="{D42A27DB-BD31-4B8C-83A1-F6EECF244321}">
                  <p14:modId xmlns:p14="http://schemas.microsoft.com/office/powerpoint/2010/main" val="3953139361"/>
                </p:ext>
              </p:extLst>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3" name="Graphic 22" descr="Clapper board with solid fill">
              <a:extLst>
                <a:ext uri="{FF2B5EF4-FFF2-40B4-BE49-F238E27FC236}">
                  <a16:creationId xmlns:a16="http://schemas.microsoft.com/office/drawing/2014/main" id="{16F7BF19-40C7-4975-9A81-D3D803FB0AF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24" name="Graphic 23" descr="Plugged Unplugged with solid fill">
              <a:extLst>
                <a:ext uri="{FF2B5EF4-FFF2-40B4-BE49-F238E27FC236}">
                  <a16:creationId xmlns:a16="http://schemas.microsoft.com/office/drawing/2014/main" id="{2235BF4E-8300-4C4A-960B-3822A19B02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25" name="Graphic 24" descr="Internet Of Things with solid fill">
              <a:extLst>
                <a:ext uri="{FF2B5EF4-FFF2-40B4-BE49-F238E27FC236}">
                  <a16:creationId xmlns:a16="http://schemas.microsoft.com/office/drawing/2014/main" id="{861B2B72-2CA5-4D85-B41C-EE3AD46B137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26" name="Graphic 25" descr="Ui Ux with solid fill">
              <a:extLst>
                <a:ext uri="{FF2B5EF4-FFF2-40B4-BE49-F238E27FC236}">
                  <a16:creationId xmlns:a16="http://schemas.microsoft.com/office/drawing/2014/main" id="{CF0C4D1E-F745-4012-88D3-AF2D36D453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27" name="Graphic 26" descr="Open hand with plant with solid fill">
              <a:extLst>
                <a:ext uri="{FF2B5EF4-FFF2-40B4-BE49-F238E27FC236}">
                  <a16:creationId xmlns:a16="http://schemas.microsoft.com/office/drawing/2014/main" id="{BA7722FA-72E3-4E61-9D14-A19AA2E0DFB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28" name="Graphic 27" descr="Books with solid fill">
              <a:extLst>
                <a:ext uri="{FF2B5EF4-FFF2-40B4-BE49-F238E27FC236}">
                  <a16:creationId xmlns:a16="http://schemas.microsoft.com/office/drawing/2014/main" id="{95C90697-1B53-40F4-ACBF-517186B3497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29" name="Graphic 28" descr="Questions with solid fill">
              <a:extLst>
                <a:ext uri="{FF2B5EF4-FFF2-40B4-BE49-F238E27FC236}">
                  <a16:creationId xmlns:a16="http://schemas.microsoft.com/office/drawing/2014/main" id="{668BC6A5-52A9-44C5-9281-4F487F65ED3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spTree>
    <p:extLst>
      <p:ext uri="{BB962C8B-B14F-4D97-AF65-F5344CB8AC3E}">
        <p14:creationId xmlns:p14="http://schemas.microsoft.com/office/powerpoint/2010/main" val="136237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BEE916E-B069-4242-B36F-5DCA322E7428}"/>
              </a:ext>
            </a:extLst>
          </p:cNvPr>
          <p:cNvSpPr/>
          <p:nvPr/>
        </p:nvSpPr>
        <p:spPr>
          <a:xfrm>
            <a:off x="0" y="5809785"/>
            <a:ext cx="12191372" cy="1055302"/>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928D"/>
                </a:solidFill>
                <a:effectLst/>
                <a:uLnTx/>
                <a:uFillTx/>
                <a:latin typeface="Calibri"/>
                <a:ea typeface="+mn-ea"/>
                <a:cs typeface="Arial"/>
              </a:rPr>
              <a:t>Trade Test </a:t>
            </a:r>
            <a:r>
              <a:rPr kumimoji="0" lang="en-GB" sz="1600" i="0" u="none" strike="noStrike" kern="1200" cap="none" spc="0" normalizeH="0" baseline="0" noProof="0" dirty="0">
                <a:ln>
                  <a:noFill/>
                </a:ln>
                <a:solidFill>
                  <a:schemeClr val="tx1"/>
                </a:solidFill>
                <a:effectLst/>
                <a:uLnTx/>
                <a:uFillTx/>
                <a:latin typeface="Calibri"/>
                <a:ea typeface="+mn-ea"/>
                <a:cs typeface="Arial"/>
              </a:rPr>
              <a:t>can be used as an </a:t>
            </a:r>
            <a:r>
              <a:rPr kumimoji="0" lang="en-GB" sz="1600" b="1" i="0" u="none" strike="noStrike" kern="1200" cap="none" spc="0" normalizeH="0" baseline="0" noProof="0" dirty="0">
                <a:ln>
                  <a:noFill/>
                </a:ln>
                <a:solidFill>
                  <a:srgbClr val="00928D"/>
                </a:solidFill>
                <a:effectLst/>
                <a:uLnTx/>
                <a:uFillTx/>
                <a:latin typeface="Calibri"/>
                <a:ea typeface="+mn-ea"/>
                <a:cs typeface="Arial"/>
              </a:rPr>
              <a:t>ongoing build environment to test functionality for future releases.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i="0" u="none" strike="noStrike" kern="1200" cap="none" spc="0" normalizeH="0" baseline="0" noProof="0" dirty="0">
                <a:ln>
                  <a:noFill/>
                </a:ln>
                <a:solidFill>
                  <a:schemeClr val="tx1"/>
                </a:solidFill>
                <a:effectLst/>
                <a:uLnTx/>
                <a:uFillTx/>
                <a:latin typeface="Calibri"/>
                <a:ea typeface="+mn-ea"/>
                <a:cs typeface="Arial"/>
              </a:rPr>
              <a:t>Software Developers must have proven their software in Trade Test before it can be used in </a:t>
            </a:r>
            <a:r>
              <a:rPr lang="en-GB" sz="1600">
                <a:solidFill>
                  <a:schemeClr val="tx1"/>
                </a:solidFill>
                <a:latin typeface="Calibri"/>
                <a:cs typeface="Arial"/>
              </a:rPr>
              <a:t>Trader Dress </a:t>
            </a:r>
            <a:r>
              <a:rPr lang="en-GB" sz="1600" dirty="0">
                <a:solidFill>
                  <a:schemeClr val="tx1"/>
                </a:solidFill>
                <a:latin typeface="Calibri"/>
                <a:cs typeface="Arial"/>
              </a:rPr>
              <a:t>Rehearsal</a:t>
            </a:r>
            <a:r>
              <a:rPr kumimoji="0" lang="en-GB" sz="1600" i="0" u="none" strike="noStrike" kern="1200" cap="none" spc="0" normalizeH="0" baseline="0" noProof="0" dirty="0">
                <a:ln>
                  <a:noFill/>
                </a:ln>
                <a:solidFill>
                  <a:schemeClr val="tx1"/>
                </a:solidFill>
                <a:effectLst/>
                <a:uLnTx/>
                <a:uFillTx/>
                <a:latin typeface="Calibri"/>
                <a:ea typeface="+mn-ea"/>
                <a:cs typeface="Arial"/>
              </a:rPr>
              <a:t>.</a:t>
            </a:r>
            <a:r>
              <a:rPr kumimoji="0" lang="en-GB" sz="1600" b="0" i="0" u="none" strike="noStrike" kern="1200" cap="none" spc="0" normalizeH="0" baseline="0" noProof="0" dirty="0">
                <a:ln>
                  <a:noFill/>
                </a:ln>
                <a:solidFill>
                  <a:srgbClr val="0B0C0C"/>
                </a:solidFill>
                <a:effectLst/>
                <a:uLnTx/>
                <a:uFillTx/>
                <a:latin typeface="Calibri"/>
                <a:ea typeface="+mn-ea"/>
                <a:cs typeface="+mn-cs"/>
              </a:rPr>
              <a:t>	</a:t>
            </a:r>
            <a:r>
              <a:rPr kumimoji="0" lang="en-GB" sz="1600" b="0" i="0" u="none" strike="noStrike" kern="1200" cap="none" spc="0" normalizeH="0" baseline="0" noProof="0" dirty="0">
                <a:ln>
                  <a:noFill/>
                </a:ln>
                <a:solidFill>
                  <a:srgbClr val="000000"/>
                </a:solidFill>
                <a:effectLst/>
                <a:uLnTx/>
                <a:uFillTx/>
                <a:latin typeface="Calibri"/>
                <a:ea typeface="+mn-ea"/>
                <a:cs typeface="+mn-cs"/>
              </a:rPr>
              <a:t> </a:t>
            </a:r>
            <a:endParaRPr kumimoji="0" lang="en-GB" sz="16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C9CFFA2C-0C86-44BB-AEEF-9A0763AF8417}"/>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7</a:t>
            </a:fld>
            <a:endParaRPr lang="en-US">
              <a:solidFill>
                <a:srgbClr val="000000">
                  <a:tint val="75000"/>
                </a:srgbClr>
              </a:solidFill>
            </a:endParaRPr>
          </a:p>
        </p:txBody>
      </p:sp>
      <p:sp>
        <p:nvSpPr>
          <p:cNvPr id="6" name="Rectangle 5">
            <a:extLst>
              <a:ext uri="{FF2B5EF4-FFF2-40B4-BE49-F238E27FC236}">
                <a16:creationId xmlns:a16="http://schemas.microsoft.com/office/drawing/2014/main" id="{10ACA650-9F93-408B-B963-B9A986CA12A8}"/>
              </a:ext>
            </a:extLst>
          </p:cNvPr>
          <p:cNvSpPr/>
          <p:nvPr/>
        </p:nvSpPr>
        <p:spPr>
          <a:xfrm>
            <a:off x="764760" y="1260389"/>
            <a:ext cx="3476847" cy="4106049"/>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807F9A8-5D8B-45A5-A77F-B56854CE1853}"/>
              </a:ext>
            </a:extLst>
          </p:cNvPr>
          <p:cNvSpPr txBox="1"/>
          <p:nvPr/>
        </p:nvSpPr>
        <p:spPr>
          <a:xfrm>
            <a:off x="1034973" y="1604752"/>
            <a:ext cx="2917576" cy="3344826"/>
          </a:xfrm>
          <a:prstGeom prst="rect">
            <a:avLst/>
          </a:prstGeom>
          <a:noFill/>
        </p:spPr>
        <p:txBody>
          <a:bodyPr wrap="square" lIns="91440" tIns="45720" rIns="91440" bIns="45720" rtlCol="0" anchor="t">
            <a:spAutoFit/>
          </a:bodyPr>
          <a:lstStyle/>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Once a Software Developer has created an </a:t>
            </a:r>
            <a:r>
              <a:rPr lang="en-GB" sz="1600" dirty="0">
                <a:solidFill>
                  <a:schemeClr val="bg1"/>
                </a:solidFill>
                <a:latin typeface="Calibri (Headings)"/>
                <a:ea typeface="Calibri" panose="020F0502020204030204" pitchFamily="34" charset="0"/>
                <a:cs typeface="Times New Roman"/>
              </a:rPr>
              <a:t>application,</a:t>
            </a:r>
            <a:r>
              <a:rPr lang="en-GB" sz="1600" dirty="0">
                <a:solidFill>
                  <a:schemeClr val="bg1"/>
                </a:solidFill>
                <a:effectLst/>
                <a:latin typeface="Calibri (Headings)"/>
                <a:ea typeface="Calibri" panose="020F0502020204030204" pitchFamily="34" charset="0"/>
                <a:cs typeface="Times New Roman"/>
              </a:rPr>
              <a:t> they can request access to the </a:t>
            </a:r>
            <a:r>
              <a:rPr lang="en-GB" sz="1600" b="1" dirty="0">
                <a:solidFill>
                  <a:srgbClr val="7EC4C0"/>
                </a:solidFill>
                <a:effectLst/>
                <a:latin typeface="Calibri (Headings)"/>
                <a:ea typeface="Calibri" panose="020F0502020204030204" pitchFamily="34" charset="0"/>
                <a:cs typeface="Times New Roman"/>
              </a:rPr>
              <a:t>Trade Test</a:t>
            </a:r>
            <a:r>
              <a:rPr lang="en-GB" sz="1600" dirty="0">
                <a:solidFill>
                  <a:srgbClr val="008680"/>
                </a:solidFill>
                <a:effectLst/>
                <a:latin typeface="Calibri (Headings)"/>
                <a:ea typeface="Calibri" panose="020F0502020204030204" pitchFamily="34" charset="0"/>
                <a:cs typeface="Times New Roman"/>
              </a:rPr>
              <a:t> </a:t>
            </a:r>
            <a:r>
              <a:rPr lang="en-GB" sz="1600" dirty="0">
                <a:solidFill>
                  <a:schemeClr val="bg1"/>
                </a:solidFill>
                <a:effectLst/>
                <a:latin typeface="Calibri (Headings)"/>
                <a:ea typeface="Calibri" panose="020F0502020204030204" pitchFamily="34" charset="0"/>
                <a:cs typeface="Times New Roman"/>
              </a:rPr>
              <a:t>environment where they can assure their software integration against CDS APIs and a CDS back-end.</a:t>
            </a:r>
            <a:r>
              <a:rPr lang="en-GB" sz="1600" dirty="0">
                <a:solidFill>
                  <a:schemeClr val="bg1"/>
                </a:solidFill>
                <a:latin typeface="Calibri (Headings)"/>
                <a:ea typeface="Calibri" panose="020F0502020204030204" pitchFamily="34" charset="0"/>
                <a:cs typeface="Times New Roman"/>
              </a:rPr>
              <a:t> </a:t>
            </a:r>
            <a:endParaRPr lang="en-GB" sz="1600" dirty="0">
              <a:solidFill>
                <a:schemeClr val="bg1"/>
              </a:solidFill>
              <a:effectLst/>
              <a:latin typeface="Calibri (Headings)"/>
              <a:ea typeface="Calibri" panose="020F0502020204030204" pitchFamily="34" charset="0"/>
              <a:cs typeface="Times New Roman" panose="02020603050405020304" pitchFamily="18" charset="0"/>
            </a:endParaRPr>
          </a:p>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As it is not the CDS Live environment, </a:t>
            </a:r>
            <a:r>
              <a:rPr lang="en-GB" sz="1600" b="1" dirty="0">
                <a:solidFill>
                  <a:srgbClr val="7EC4C0"/>
                </a:solidFill>
                <a:effectLst/>
                <a:latin typeface="Calibri (Headings)"/>
                <a:ea typeface="Calibri" panose="020F0502020204030204" pitchFamily="34" charset="0"/>
                <a:cs typeface="Times New Roman"/>
              </a:rPr>
              <a:t>only test data should be used</a:t>
            </a:r>
            <a:r>
              <a:rPr lang="en-GB" sz="1600" dirty="0">
                <a:solidFill>
                  <a:schemeClr val="bg1"/>
                </a:solidFill>
                <a:effectLst/>
                <a:latin typeface="Calibri (Headings)"/>
                <a:ea typeface="Calibri" panose="020F0502020204030204" pitchFamily="34" charset="0"/>
                <a:cs typeface="Times New Roman"/>
              </a:rPr>
              <a:t>. Developers are also required to create a test </a:t>
            </a:r>
            <a:r>
              <a:rPr lang="en-GB" sz="1600" dirty="0">
                <a:solidFill>
                  <a:schemeClr val="bg1"/>
                </a:solidFill>
                <a:latin typeface="Calibri (Headings)"/>
                <a:ea typeface="Calibri" panose="020F0502020204030204" pitchFamily="34" charset="0"/>
                <a:cs typeface="Times New Roman"/>
              </a:rPr>
              <a:t>u</a:t>
            </a:r>
            <a:r>
              <a:rPr lang="en-GB" sz="1600" dirty="0">
                <a:solidFill>
                  <a:schemeClr val="bg1"/>
                </a:solidFill>
                <a:effectLst/>
                <a:latin typeface="Calibri (Headings)"/>
                <a:ea typeface="Calibri" panose="020F0502020204030204" pitchFamily="34" charset="0"/>
                <a:cs typeface="Times New Roman"/>
              </a:rPr>
              <a:t>ser </a:t>
            </a:r>
            <a:r>
              <a:rPr lang="en-GB" sz="1600" dirty="0">
                <a:solidFill>
                  <a:schemeClr val="bg1"/>
                </a:solidFill>
                <a:latin typeface="Calibri (Headings)"/>
                <a:ea typeface="Calibri" panose="020F0502020204030204" pitchFamily="34" charset="0"/>
                <a:cs typeface="Times New Roman"/>
              </a:rPr>
              <a:t>a</a:t>
            </a:r>
            <a:r>
              <a:rPr lang="en-GB" sz="1600" dirty="0">
                <a:solidFill>
                  <a:schemeClr val="bg1"/>
                </a:solidFill>
                <a:effectLst/>
                <a:latin typeface="Calibri (Headings)"/>
                <a:ea typeface="Calibri" panose="020F0502020204030204" pitchFamily="34" charset="0"/>
                <a:cs typeface="Times New Roman"/>
              </a:rPr>
              <a:t>ccount.</a:t>
            </a:r>
            <a:r>
              <a:rPr lang="en-GB" sz="1600" dirty="0">
                <a:solidFill>
                  <a:schemeClr val="bg1"/>
                </a:solidFill>
                <a:latin typeface="Calibri (Headings)"/>
                <a:ea typeface="Calibri" panose="020F0502020204030204" pitchFamily="34" charset="0"/>
                <a:cs typeface="Times New Roman"/>
              </a:rPr>
              <a:t> </a:t>
            </a:r>
          </a:p>
        </p:txBody>
      </p:sp>
      <p:grpSp>
        <p:nvGrpSpPr>
          <p:cNvPr id="8" name="Group 7">
            <a:extLst>
              <a:ext uri="{FF2B5EF4-FFF2-40B4-BE49-F238E27FC236}">
                <a16:creationId xmlns:a16="http://schemas.microsoft.com/office/drawing/2014/main" id="{E8FF4C9B-DC9D-40DC-9334-1642F4C1E85C}"/>
              </a:ext>
            </a:extLst>
          </p:cNvPr>
          <p:cNvGrpSpPr/>
          <p:nvPr/>
        </p:nvGrpSpPr>
        <p:grpSpPr>
          <a:xfrm>
            <a:off x="5291752" y="1120888"/>
            <a:ext cx="6900248" cy="430919"/>
            <a:chOff x="495124" y="3027477"/>
            <a:chExt cx="7831599" cy="393704"/>
          </a:xfrm>
        </p:grpSpPr>
        <p:sp>
          <p:nvSpPr>
            <p:cNvPr id="9" name="Rectangle 8">
              <a:extLst>
                <a:ext uri="{FF2B5EF4-FFF2-40B4-BE49-F238E27FC236}">
                  <a16:creationId xmlns:a16="http://schemas.microsoft.com/office/drawing/2014/main" id="{F244AE68-9FAE-427D-B522-DDA447F98286}"/>
                </a:ext>
              </a:extLst>
            </p:cNvPr>
            <p:cNvSpPr/>
            <p:nvPr/>
          </p:nvSpPr>
          <p:spPr>
            <a:xfrm>
              <a:off x="495124" y="3027477"/>
              <a:ext cx="430315" cy="393704"/>
            </a:xfrm>
            <a:prstGeom prst="rect">
              <a:avLst/>
            </a:prstGeom>
            <a:solidFill>
              <a:srgbClr val="A3C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10" name="Rectangle 9">
              <a:extLst>
                <a:ext uri="{FF2B5EF4-FFF2-40B4-BE49-F238E27FC236}">
                  <a16:creationId xmlns:a16="http://schemas.microsoft.com/office/drawing/2014/main" id="{BCE6E20F-3BE3-4E44-9317-7984EA45EA85}"/>
                </a:ext>
              </a:extLst>
            </p:cNvPr>
            <p:cNvSpPr/>
            <p:nvPr/>
          </p:nvSpPr>
          <p:spPr>
            <a:xfrm>
              <a:off x="1024099" y="3027477"/>
              <a:ext cx="7302624" cy="39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Create an application and register the ID via </a:t>
              </a:r>
              <a:r>
                <a:rPr lang="en-GB" sz="1400">
                  <a:solidFill>
                    <a:srgbClr val="008680"/>
                  </a:solidFill>
                  <a:hlinkClick r:id="rId2">
                    <a:extLst>
                      <a:ext uri="{A12FA001-AC4F-418D-AE19-62706E023703}">
                        <ahyp:hlinkClr xmlns:ahyp="http://schemas.microsoft.com/office/drawing/2018/hyperlinkcolor" val="tx"/>
                      </a:ext>
                    </a:extLst>
                  </a:hlinkClick>
                </a:rPr>
                <a:t>Developer Hub</a:t>
              </a:r>
              <a:r>
                <a:rPr lang="en-GB" sz="1400">
                  <a:solidFill>
                    <a:srgbClr val="008680"/>
                  </a:solidFill>
                </a:rPr>
                <a:t>.</a:t>
              </a:r>
            </a:p>
          </p:txBody>
        </p:sp>
      </p:grpSp>
      <p:grpSp>
        <p:nvGrpSpPr>
          <p:cNvPr id="11" name="Group 10">
            <a:extLst>
              <a:ext uri="{FF2B5EF4-FFF2-40B4-BE49-F238E27FC236}">
                <a16:creationId xmlns:a16="http://schemas.microsoft.com/office/drawing/2014/main" id="{8548A7D4-7E21-4CBB-A059-DC0E201F42F6}"/>
              </a:ext>
            </a:extLst>
          </p:cNvPr>
          <p:cNvGrpSpPr/>
          <p:nvPr/>
        </p:nvGrpSpPr>
        <p:grpSpPr>
          <a:xfrm>
            <a:off x="5291753" y="1692960"/>
            <a:ext cx="6899624" cy="430922"/>
            <a:chOff x="495124" y="3027477"/>
            <a:chExt cx="7921420" cy="393704"/>
          </a:xfrm>
        </p:grpSpPr>
        <p:sp>
          <p:nvSpPr>
            <p:cNvPr id="12" name="Rectangle 11">
              <a:extLst>
                <a:ext uri="{FF2B5EF4-FFF2-40B4-BE49-F238E27FC236}">
                  <a16:creationId xmlns:a16="http://schemas.microsoft.com/office/drawing/2014/main" id="{8BA7C120-FAB2-4722-8870-36887C3C71A3}"/>
                </a:ext>
              </a:extLst>
            </p:cNvPr>
            <p:cNvSpPr/>
            <p:nvPr/>
          </p:nvSpPr>
          <p:spPr>
            <a:xfrm>
              <a:off x="495124" y="3027477"/>
              <a:ext cx="430315" cy="393704"/>
            </a:xfrm>
            <a:prstGeom prst="rect">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13" name="Rectangle 12">
              <a:extLst>
                <a:ext uri="{FF2B5EF4-FFF2-40B4-BE49-F238E27FC236}">
                  <a16:creationId xmlns:a16="http://schemas.microsoft.com/office/drawing/2014/main" id="{0343582C-8B39-46D8-BCFF-33052D254449}"/>
                </a:ext>
              </a:extLst>
            </p:cNvPr>
            <p:cNvSpPr/>
            <p:nvPr/>
          </p:nvSpPr>
          <p:spPr>
            <a:xfrm>
              <a:off x="1024099" y="3027477"/>
              <a:ext cx="7392445" cy="3937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dirty="0">
                  <a:solidFill>
                    <a:schemeClr val="tx1"/>
                  </a:solidFill>
                </a:rPr>
                <a:t>Request access to Trade Test APIs from SDST who will authenticate the application. </a:t>
              </a:r>
            </a:p>
          </p:txBody>
        </p:sp>
      </p:grpSp>
      <p:grpSp>
        <p:nvGrpSpPr>
          <p:cNvPr id="14" name="Group 13">
            <a:extLst>
              <a:ext uri="{FF2B5EF4-FFF2-40B4-BE49-F238E27FC236}">
                <a16:creationId xmlns:a16="http://schemas.microsoft.com/office/drawing/2014/main" id="{DD3A55E8-F23B-4AA0-B241-290A9659ECE5}"/>
              </a:ext>
            </a:extLst>
          </p:cNvPr>
          <p:cNvGrpSpPr/>
          <p:nvPr/>
        </p:nvGrpSpPr>
        <p:grpSpPr>
          <a:xfrm>
            <a:off x="5291752" y="2265035"/>
            <a:ext cx="6899620" cy="424533"/>
            <a:chOff x="495124" y="3027477"/>
            <a:chExt cx="7830886" cy="393704"/>
          </a:xfrm>
        </p:grpSpPr>
        <p:sp>
          <p:nvSpPr>
            <p:cNvPr id="15" name="Rectangle 14">
              <a:extLst>
                <a:ext uri="{FF2B5EF4-FFF2-40B4-BE49-F238E27FC236}">
                  <a16:creationId xmlns:a16="http://schemas.microsoft.com/office/drawing/2014/main" id="{6C3BA513-51F9-4334-8DC5-AAE614B822DF}"/>
                </a:ext>
              </a:extLst>
            </p:cNvPr>
            <p:cNvSpPr/>
            <p:nvPr/>
          </p:nvSpPr>
          <p:spPr>
            <a:xfrm>
              <a:off x="495124" y="3027477"/>
              <a:ext cx="430315" cy="393704"/>
            </a:xfrm>
            <a:prstGeom prst="rect">
              <a:avLst/>
            </a:prstGeom>
            <a:solidFill>
              <a:srgbClr val="008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16" name="Rectangle 15">
              <a:extLst>
                <a:ext uri="{FF2B5EF4-FFF2-40B4-BE49-F238E27FC236}">
                  <a16:creationId xmlns:a16="http://schemas.microsoft.com/office/drawing/2014/main" id="{7161FB6D-7AA0-41B4-A357-8F93164E874E}"/>
                </a:ext>
              </a:extLst>
            </p:cNvPr>
            <p:cNvSpPr/>
            <p:nvPr/>
          </p:nvSpPr>
          <p:spPr>
            <a:xfrm>
              <a:off x="1024099" y="3027477"/>
              <a:ext cx="7301911" cy="39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Access Developer Hub &amp; subscribe to the APIs, ensuring subscription configuration fields are completed if applicable (e.g. Callback URL for push notifications).</a:t>
              </a:r>
            </a:p>
          </p:txBody>
        </p:sp>
      </p:grpSp>
      <p:grpSp>
        <p:nvGrpSpPr>
          <p:cNvPr id="17" name="Group 16">
            <a:extLst>
              <a:ext uri="{FF2B5EF4-FFF2-40B4-BE49-F238E27FC236}">
                <a16:creationId xmlns:a16="http://schemas.microsoft.com/office/drawing/2014/main" id="{377FD3C8-9CB5-4AEB-ACD0-2659CB3769CA}"/>
              </a:ext>
            </a:extLst>
          </p:cNvPr>
          <p:cNvGrpSpPr/>
          <p:nvPr/>
        </p:nvGrpSpPr>
        <p:grpSpPr>
          <a:xfrm>
            <a:off x="5291752" y="2830721"/>
            <a:ext cx="6899625" cy="417427"/>
            <a:chOff x="495124" y="3027476"/>
            <a:chExt cx="7921421" cy="417427"/>
          </a:xfrm>
        </p:grpSpPr>
        <p:sp>
          <p:nvSpPr>
            <p:cNvPr id="18" name="Rectangle 17">
              <a:extLst>
                <a:ext uri="{FF2B5EF4-FFF2-40B4-BE49-F238E27FC236}">
                  <a16:creationId xmlns:a16="http://schemas.microsoft.com/office/drawing/2014/main" id="{D0FE5329-E949-4D0B-B0B3-B4669F010793}"/>
                </a:ext>
              </a:extLst>
            </p:cNvPr>
            <p:cNvSpPr/>
            <p:nvPr/>
          </p:nvSpPr>
          <p:spPr>
            <a:xfrm>
              <a:off x="495124" y="3027477"/>
              <a:ext cx="430315" cy="393704"/>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4</a:t>
              </a:r>
            </a:p>
          </p:txBody>
        </p:sp>
        <p:sp>
          <p:nvSpPr>
            <p:cNvPr id="19" name="Rectangle 18">
              <a:extLst>
                <a:ext uri="{FF2B5EF4-FFF2-40B4-BE49-F238E27FC236}">
                  <a16:creationId xmlns:a16="http://schemas.microsoft.com/office/drawing/2014/main" id="{724251A6-9622-4493-9735-29DB4E4577C6}"/>
                </a:ext>
              </a:extLst>
            </p:cNvPr>
            <p:cNvSpPr/>
            <p:nvPr/>
          </p:nvSpPr>
          <p:spPr>
            <a:xfrm>
              <a:off x="1024099" y="3027476"/>
              <a:ext cx="7392446" cy="4174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Create a test user account by calling the </a:t>
              </a:r>
              <a:r>
                <a:rPr lang="en-GB" sz="1400">
                  <a:solidFill>
                    <a:schemeClr val="tx1"/>
                  </a:solidFill>
                  <a:hlinkClick r:id="rId3"/>
                </a:rPr>
                <a:t>Create Test User API</a:t>
              </a:r>
              <a:r>
                <a:rPr lang="en-GB" sz="1400">
                  <a:solidFill>
                    <a:schemeClr val="tx1"/>
                  </a:solidFill>
                </a:rPr>
                <a:t>.</a:t>
              </a:r>
            </a:p>
          </p:txBody>
        </p:sp>
      </p:grpSp>
      <p:grpSp>
        <p:nvGrpSpPr>
          <p:cNvPr id="20" name="Group 19">
            <a:extLst>
              <a:ext uri="{FF2B5EF4-FFF2-40B4-BE49-F238E27FC236}">
                <a16:creationId xmlns:a16="http://schemas.microsoft.com/office/drawing/2014/main" id="{71B80D99-824D-4A76-A59A-D57FD0E386D9}"/>
              </a:ext>
            </a:extLst>
          </p:cNvPr>
          <p:cNvGrpSpPr/>
          <p:nvPr/>
        </p:nvGrpSpPr>
        <p:grpSpPr>
          <a:xfrm>
            <a:off x="5291752" y="3389301"/>
            <a:ext cx="6900250" cy="430923"/>
            <a:chOff x="495124" y="3027477"/>
            <a:chExt cx="7921421" cy="393704"/>
          </a:xfrm>
        </p:grpSpPr>
        <p:sp>
          <p:nvSpPr>
            <p:cNvPr id="21" name="Rectangle 20">
              <a:extLst>
                <a:ext uri="{FF2B5EF4-FFF2-40B4-BE49-F238E27FC236}">
                  <a16:creationId xmlns:a16="http://schemas.microsoft.com/office/drawing/2014/main" id="{6E75D67B-315C-44AC-BD76-0F32D784321C}"/>
                </a:ext>
              </a:extLst>
            </p:cNvPr>
            <p:cNvSpPr/>
            <p:nvPr/>
          </p:nvSpPr>
          <p:spPr>
            <a:xfrm>
              <a:off x="495124" y="3027477"/>
              <a:ext cx="430315" cy="393704"/>
            </a:xfrm>
            <a:prstGeom prst="rect">
              <a:avLst/>
            </a:prstGeom>
            <a:solidFill>
              <a:srgbClr val="7EC4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5</a:t>
              </a:r>
            </a:p>
          </p:txBody>
        </p:sp>
        <p:sp>
          <p:nvSpPr>
            <p:cNvPr id="22" name="Rectangle 21">
              <a:extLst>
                <a:ext uri="{FF2B5EF4-FFF2-40B4-BE49-F238E27FC236}">
                  <a16:creationId xmlns:a16="http://schemas.microsoft.com/office/drawing/2014/main" id="{AA06262D-7C63-41B2-A8AE-267ED3F5DAF2}"/>
                </a:ext>
              </a:extLst>
            </p:cNvPr>
            <p:cNvSpPr/>
            <p:nvPr/>
          </p:nvSpPr>
          <p:spPr>
            <a:xfrm>
              <a:off x="1024099" y="3027477"/>
              <a:ext cx="7392446" cy="39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dirty="0">
                  <a:solidFill>
                    <a:schemeClr val="tx1"/>
                  </a:solidFill>
                </a:rPr>
                <a:t>Generate a Bearer token for Trade Test.</a:t>
              </a:r>
            </a:p>
          </p:txBody>
        </p:sp>
      </p:grpSp>
      <p:grpSp>
        <p:nvGrpSpPr>
          <p:cNvPr id="23" name="Group 22">
            <a:extLst>
              <a:ext uri="{FF2B5EF4-FFF2-40B4-BE49-F238E27FC236}">
                <a16:creationId xmlns:a16="http://schemas.microsoft.com/office/drawing/2014/main" id="{CA646BEF-CF1D-49DA-80F9-976727816741}"/>
              </a:ext>
            </a:extLst>
          </p:cNvPr>
          <p:cNvGrpSpPr/>
          <p:nvPr/>
        </p:nvGrpSpPr>
        <p:grpSpPr>
          <a:xfrm>
            <a:off x="5291752" y="4533453"/>
            <a:ext cx="6899625" cy="424683"/>
            <a:chOff x="495124" y="3532419"/>
            <a:chExt cx="7921421" cy="393704"/>
          </a:xfrm>
        </p:grpSpPr>
        <p:sp>
          <p:nvSpPr>
            <p:cNvPr id="24" name="Rectangle 23">
              <a:extLst>
                <a:ext uri="{FF2B5EF4-FFF2-40B4-BE49-F238E27FC236}">
                  <a16:creationId xmlns:a16="http://schemas.microsoft.com/office/drawing/2014/main" id="{D6E0C332-4F9C-4BA3-BF85-2F34BC5B837F}"/>
                </a:ext>
              </a:extLst>
            </p:cNvPr>
            <p:cNvSpPr/>
            <p:nvPr/>
          </p:nvSpPr>
          <p:spPr>
            <a:xfrm>
              <a:off x="495124" y="3532419"/>
              <a:ext cx="430315" cy="393704"/>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7</a:t>
              </a:r>
            </a:p>
          </p:txBody>
        </p:sp>
        <p:sp>
          <p:nvSpPr>
            <p:cNvPr id="25" name="Rectangle 24">
              <a:extLst>
                <a:ext uri="{FF2B5EF4-FFF2-40B4-BE49-F238E27FC236}">
                  <a16:creationId xmlns:a16="http://schemas.microsoft.com/office/drawing/2014/main" id="{78FF175A-F725-4EF4-9C44-D4736F038408}"/>
                </a:ext>
              </a:extLst>
            </p:cNvPr>
            <p:cNvSpPr/>
            <p:nvPr/>
          </p:nvSpPr>
          <p:spPr>
            <a:xfrm>
              <a:off x="1024099" y="3532419"/>
              <a:ext cx="7392446" cy="3782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Submit declaration payloads with test data &amp; successfully complete declaration scenarios.</a:t>
              </a:r>
            </a:p>
          </p:txBody>
        </p:sp>
      </p:grpSp>
      <p:grpSp>
        <p:nvGrpSpPr>
          <p:cNvPr id="26" name="Group 25">
            <a:extLst>
              <a:ext uri="{FF2B5EF4-FFF2-40B4-BE49-F238E27FC236}">
                <a16:creationId xmlns:a16="http://schemas.microsoft.com/office/drawing/2014/main" id="{ACC9F729-D830-4F65-A93F-EF3036EE46E1}"/>
              </a:ext>
            </a:extLst>
          </p:cNvPr>
          <p:cNvGrpSpPr/>
          <p:nvPr/>
        </p:nvGrpSpPr>
        <p:grpSpPr>
          <a:xfrm>
            <a:off x="5291752" y="3961377"/>
            <a:ext cx="6900247" cy="430923"/>
            <a:chOff x="495124" y="2428577"/>
            <a:chExt cx="8028639" cy="393704"/>
          </a:xfrm>
        </p:grpSpPr>
        <p:sp>
          <p:nvSpPr>
            <p:cNvPr id="27" name="Rectangle 26">
              <a:extLst>
                <a:ext uri="{FF2B5EF4-FFF2-40B4-BE49-F238E27FC236}">
                  <a16:creationId xmlns:a16="http://schemas.microsoft.com/office/drawing/2014/main" id="{7F8C931C-1A2A-4418-B892-8C1FC5DAFC5C}"/>
                </a:ext>
              </a:extLst>
            </p:cNvPr>
            <p:cNvSpPr/>
            <p:nvPr/>
          </p:nvSpPr>
          <p:spPr>
            <a:xfrm>
              <a:off x="495124" y="2428577"/>
              <a:ext cx="430315" cy="393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6</a:t>
              </a:r>
            </a:p>
          </p:txBody>
        </p:sp>
        <p:sp>
          <p:nvSpPr>
            <p:cNvPr id="28" name="Rectangle 27">
              <a:extLst>
                <a:ext uri="{FF2B5EF4-FFF2-40B4-BE49-F238E27FC236}">
                  <a16:creationId xmlns:a16="http://schemas.microsoft.com/office/drawing/2014/main" id="{D85763B5-FDE8-488A-B162-598136F8EBC4}"/>
                </a:ext>
              </a:extLst>
            </p:cNvPr>
            <p:cNvSpPr/>
            <p:nvPr/>
          </p:nvSpPr>
          <p:spPr>
            <a:xfrm>
              <a:off x="1024099" y="2428577"/>
              <a:ext cx="7499664" cy="3875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chemeClr val="tx1"/>
                  </a:solidFill>
                </a:rPr>
                <a:t>Check the correct API version in the Accept Header. </a:t>
              </a:r>
            </a:p>
          </p:txBody>
        </p:sp>
      </p:grpSp>
      <p:grpSp>
        <p:nvGrpSpPr>
          <p:cNvPr id="30" name="Group 29">
            <a:extLst>
              <a:ext uri="{FF2B5EF4-FFF2-40B4-BE49-F238E27FC236}">
                <a16:creationId xmlns:a16="http://schemas.microsoft.com/office/drawing/2014/main" id="{98BDCD71-FA5D-41D2-9FFA-06188F072EC1}"/>
              </a:ext>
            </a:extLst>
          </p:cNvPr>
          <p:cNvGrpSpPr/>
          <p:nvPr/>
        </p:nvGrpSpPr>
        <p:grpSpPr>
          <a:xfrm>
            <a:off x="5162406" y="-63328"/>
            <a:ext cx="6841472" cy="910091"/>
            <a:chOff x="5162406" y="-63328"/>
            <a:chExt cx="6841472" cy="910091"/>
          </a:xfrm>
        </p:grpSpPr>
        <p:graphicFrame>
          <p:nvGraphicFramePr>
            <p:cNvPr id="31" name="Diagram 30">
              <a:extLst>
                <a:ext uri="{FF2B5EF4-FFF2-40B4-BE49-F238E27FC236}">
                  <a16:creationId xmlns:a16="http://schemas.microsoft.com/office/drawing/2014/main" id="{A5E9AEDB-3BD5-4104-ACB9-3FA92E15692B}"/>
                </a:ext>
              </a:extLst>
            </p:cNvPr>
            <p:cNvGraphicFramePr/>
            <p:nvPr>
              <p:extLst>
                <p:ext uri="{D42A27DB-BD31-4B8C-83A1-F6EECF244321}">
                  <p14:modId xmlns:p14="http://schemas.microsoft.com/office/powerpoint/2010/main" val="4002308941"/>
                </p:ext>
              </p:extLst>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2" name="Graphic 31" descr="Clapper board with solid fill">
              <a:extLst>
                <a:ext uri="{FF2B5EF4-FFF2-40B4-BE49-F238E27FC236}">
                  <a16:creationId xmlns:a16="http://schemas.microsoft.com/office/drawing/2014/main" id="{ED43957E-E07B-4038-951B-17D62F8178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12252" y="245203"/>
              <a:ext cx="295446" cy="295446"/>
            </a:xfrm>
            <a:prstGeom prst="rect">
              <a:avLst/>
            </a:prstGeom>
          </p:spPr>
        </p:pic>
        <p:pic>
          <p:nvPicPr>
            <p:cNvPr id="33" name="Graphic 32" descr="Plugged Unplugged with solid fill">
              <a:extLst>
                <a:ext uri="{FF2B5EF4-FFF2-40B4-BE49-F238E27FC236}">
                  <a16:creationId xmlns:a16="http://schemas.microsoft.com/office/drawing/2014/main" id="{3FCF91C5-33A5-4398-9480-30749C2964D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13896" y="245203"/>
              <a:ext cx="295445" cy="295445"/>
            </a:xfrm>
            <a:prstGeom prst="rect">
              <a:avLst/>
            </a:prstGeom>
          </p:spPr>
        </p:pic>
        <p:pic>
          <p:nvPicPr>
            <p:cNvPr id="34" name="Graphic 33" descr="Internet Of Things with solid fill">
              <a:extLst>
                <a:ext uri="{FF2B5EF4-FFF2-40B4-BE49-F238E27FC236}">
                  <a16:creationId xmlns:a16="http://schemas.microsoft.com/office/drawing/2014/main" id="{7AD8B252-4D12-4D81-BA27-BCB3AF03DDF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30880" y="245203"/>
              <a:ext cx="295445" cy="295445"/>
            </a:xfrm>
            <a:prstGeom prst="rect">
              <a:avLst/>
            </a:prstGeom>
          </p:spPr>
        </p:pic>
        <p:pic>
          <p:nvPicPr>
            <p:cNvPr id="35" name="Graphic 34" descr="Ui Ux with solid fill">
              <a:extLst>
                <a:ext uri="{FF2B5EF4-FFF2-40B4-BE49-F238E27FC236}">
                  <a16:creationId xmlns:a16="http://schemas.microsoft.com/office/drawing/2014/main" id="{14E465E1-59B1-4D13-A80C-0578B2A36DB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472388" y="245203"/>
              <a:ext cx="295445" cy="295445"/>
            </a:xfrm>
            <a:prstGeom prst="rect">
              <a:avLst/>
            </a:prstGeom>
          </p:spPr>
        </p:pic>
        <p:pic>
          <p:nvPicPr>
            <p:cNvPr id="36" name="Graphic 35" descr="Open hand with plant with solid fill">
              <a:extLst>
                <a:ext uri="{FF2B5EF4-FFF2-40B4-BE49-F238E27FC236}">
                  <a16:creationId xmlns:a16="http://schemas.microsoft.com/office/drawing/2014/main" id="{462CF753-CA83-49D4-B8E7-4A221908B7B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77438" y="245203"/>
              <a:ext cx="307665" cy="307665"/>
            </a:xfrm>
            <a:prstGeom prst="rect">
              <a:avLst/>
            </a:prstGeom>
          </p:spPr>
        </p:pic>
        <p:pic>
          <p:nvPicPr>
            <p:cNvPr id="37" name="Graphic 36" descr="Books with solid fill">
              <a:extLst>
                <a:ext uri="{FF2B5EF4-FFF2-40B4-BE49-F238E27FC236}">
                  <a16:creationId xmlns:a16="http://schemas.microsoft.com/office/drawing/2014/main" id="{01D2211B-15A5-479C-9198-F089A98A36D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2672" y="245203"/>
              <a:ext cx="295445" cy="295445"/>
            </a:xfrm>
            <a:prstGeom prst="rect">
              <a:avLst/>
            </a:prstGeom>
          </p:spPr>
        </p:pic>
        <p:pic>
          <p:nvPicPr>
            <p:cNvPr id="38" name="Graphic 37" descr="Questions with solid fill">
              <a:extLst>
                <a:ext uri="{FF2B5EF4-FFF2-40B4-BE49-F238E27FC236}">
                  <a16:creationId xmlns:a16="http://schemas.microsoft.com/office/drawing/2014/main" id="{595E893F-B301-4B64-969F-62CD89AC85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298115" y="245203"/>
              <a:ext cx="295445" cy="295445"/>
            </a:xfrm>
            <a:prstGeom prst="rect">
              <a:avLst/>
            </a:prstGeom>
          </p:spPr>
        </p:pic>
      </p:grpSp>
      <p:sp>
        <p:nvSpPr>
          <p:cNvPr id="39" name="Rectangle: Diagonal Corners Rounded 38">
            <a:extLst>
              <a:ext uri="{FF2B5EF4-FFF2-40B4-BE49-F238E27FC236}">
                <a16:creationId xmlns:a16="http://schemas.microsoft.com/office/drawing/2014/main" id="{9BA093CA-CDF3-4A69-B2CC-6A9D94A253F9}"/>
              </a:ext>
            </a:extLst>
          </p:cNvPr>
          <p:cNvSpPr/>
          <p:nvPr/>
        </p:nvSpPr>
        <p:spPr>
          <a:xfrm>
            <a:off x="-2" y="-242"/>
            <a:ext cx="4998539"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cs typeface="Arial" panose="020B0604020202020204" pitchFamily="34" charset="0"/>
              </a:rPr>
              <a:t>Connecting to Trade Test</a:t>
            </a:r>
            <a:endParaRPr kumimoji="0" lang="en-GB" b="1" i="0" strike="noStrike" kern="1200" cap="none" spc="0" normalizeH="0" baseline="0" noProof="0" dirty="0">
              <a:ln>
                <a:noFill/>
              </a:ln>
              <a:solidFill>
                <a:prstClr val="white"/>
              </a:solidFill>
              <a:effectLst/>
              <a:uLnTx/>
              <a:uFillTx/>
              <a:cs typeface="Arial" panose="020B0604020202020204" pitchFamily="34" charset="0"/>
            </a:endParaRPr>
          </a:p>
        </p:txBody>
      </p:sp>
    </p:spTree>
    <p:extLst>
      <p:ext uri="{BB962C8B-B14F-4D97-AF65-F5344CB8AC3E}">
        <p14:creationId xmlns:p14="http://schemas.microsoft.com/office/powerpoint/2010/main" val="30811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dirty="0">
                <a:solidFill>
                  <a:schemeClr val="tx1"/>
                </a:solidFill>
              </a:rPr>
              <a:t>Entering Trader Dress Rehearsal </a:t>
            </a:r>
            <a:endParaRPr lang="en-US" dirty="0">
              <a:solidFill>
                <a:schemeClr val="tx1"/>
              </a:solidFill>
            </a:endParaRPr>
          </a:p>
        </p:txBody>
      </p:sp>
    </p:spTree>
    <p:extLst>
      <p:ext uri="{BB962C8B-B14F-4D97-AF65-F5344CB8AC3E}">
        <p14:creationId xmlns:p14="http://schemas.microsoft.com/office/powerpoint/2010/main" val="1268179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6" descr="white bird flying over the city during daytime">
            <a:extLst>
              <a:ext uri="{FF2B5EF4-FFF2-40B4-BE49-F238E27FC236}">
                <a16:creationId xmlns:a16="http://schemas.microsoft.com/office/drawing/2014/main" id="{E385230B-E049-44F1-8C2C-1D82A743E7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2509"/>
          <a:stretch/>
        </p:blipFill>
        <p:spPr bwMode="auto">
          <a:xfrm>
            <a:off x="4011386" y="1640936"/>
            <a:ext cx="4169228" cy="5217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AF810DCF-8A57-4678-A885-A7657B449FB0}"/>
              </a:ext>
            </a:extLst>
          </p:cNvPr>
          <p:cNvSpPr/>
          <p:nvPr/>
        </p:nvSpPr>
        <p:spPr>
          <a:xfrm>
            <a:off x="1" y="6385051"/>
            <a:ext cx="12191372" cy="48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1600" b="1" dirty="0">
                <a:solidFill>
                  <a:srgbClr val="00928D"/>
                </a:solidFill>
                <a:effectLst/>
                <a:latin typeface="Calibri" panose="020F0502020204030204" pitchFamily="34" charset="0"/>
                <a:ea typeface="Calibri" panose="020F0502020204030204" pitchFamily="34" charset="0"/>
                <a:cs typeface="Calibri" panose="020F0502020204030204" pitchFamily="34" charset="0"/>
              </a:rPr>
              <a:t>It is important to remember that Trader </a:t>
            </a:r>
            <a:r>
              <a:rPr lang="en-GB" sz="1600" b="1">
                <a:solidFill>
                  <a:srgbClr val="00928D"/>
                </a:solidFill>
                <a:effectLst/>
                <a:latin typeface="Calibri" panose="020F0502020204030204" pitchFamily="34" charset="0"/>
                <a:ea typeface="Calibri" panose="020F0502020204030204" pitchFamily="34" charset="0"/>
                <a:cs typeface="Calibri" panose="020F0502020204030204" pitchFamily="34" charset="0"/>
              </a:rPr>
              <a:t>Dress Rehearsal </a:t>
            </a:r>
            <a:r>
              <a:rPr lang="en-GB" sz="1600" b="1" dirty="0">
                <a:solidFill>
                  <a:srgbClr val="00928D"/>
                </a:solidFill>
                <a:effectLst/>
                <a:latin typeface="Calibri" panose="020F0502020204030204" pitchFamily="34" charset="0"/>
                <a:ea typeface="Calibri" panose="020F0502020204030204" pitchFamily="34" charset="0"/>
                <a:cs typeface="Calibri" panose="020F0502020204030204" pitchFamily="34" charset="0"/>
              </a:rPr>
              <a:t>is practice environment and not to be used for performance or technical testing</a:t>
            </a:r>
            <a:r>
              <a:rPr lang="en-GB" sz="1600" dirty="0">
                <a:solidFill>
                  <a:srgbClr val="00928D"/>
                </a:solidFill>
                <a:effectLst/>
                <a:latin typeface="Calibri" panose="020F0502020204030204" pitchFamily="34" charset="0"/>
                <a:ea typeface="Calibri" panose="020F0502020204030204" pitchFamily="34" charset="0"/>
                <a:cs typeface="Calibri" panose="020F0502020204030204" pitchFamily="34" charset="0"/>
              </a:rPr>
              <a:t>.</a:t>
            </a:r>
            <a:endParaRPr lang="en-GB" sz="1400" dirty="0">
              <a:solidFill>
                <a:srgbClr val="00928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AAFAACBA-674A-48F3-8799-EC051731C49A}"/>
              </a:ext>
            </a:extLst>
          </p:cNvPr>
          <p:cNvSpPr txBox="1"/>
          <p:nvPr/>
        </p:nvSpPr>
        <p:spPr>
          <a:xfrm>
            <a:off x="130629" y="2242416"/>
            <a:ext cx="3743072" cy="3416320"/>
          </a:xfrm>
          <a:prstGeom prst="rect">
            <a:avLst/>
          </a:prstGeom>
          <a:noFill/>
        </p:spPr>
        <p:txBody>
          <a:bodyPr wrap="square" lIns="91440" tIns="45720" rIns="91440" bIns="45720" rtlCol="0" anchor="ctr">
            <a:spAutoFit/>
          </a:bodyPr>
          <a:lstStyle/>
          <a:p>
            <a:pPr>
              <a:defRPr/>
            </a:pPr>
            <a:r>
              <a:rPr kumimoji="0" lang="en-GB" sz="1200" b="0" i="0" u="none" strike="noStrike" kern="1200" cap="none" spc="0" normalizeH="0" baseline="0" noProof="0" dirty="0">
                <a:ln>
                  <a:noFill/>
                </a:ln>
                <a:solidFill>
                  <a:srgbClr val="000000"/>
                </a:solidFill>
                <a:effectLst/>
                <a:uLnTx/>
                <a:uFillTx/>
                <a:ea typeface="+mn-ea"/>
                <a:cs typeface="+mn-cs"/>
              </a:rPr>
              <a:t>Trader Dress Rehearsal (TDR) is a </a:t>
            </a:r>
            <a:r>
              <a:rPr kumimoji="0" lang="en-GB" sz="1200" b="1" i="0" u="none" strike="noStrike" kern="1200" cap="none" spc="0" normalizeH="0" baseline="0" noProof="0" dirty="0">
                <a:ln>
                  <a:noFill/>
                </a:ln>
                <a:solidFill>
                  <a:srgbClr val="008680"/>
                </a:solidFill>
                <a:effectLst/>
                <a:uLnTx/>
                <a:uFillTx/>
                <a:ea typeface="+mn-ea"/>
                <a:cs typeface="+mn-cs"/>
              </a:rPr>
              <a:t>safe practice environment </a:t>
            </a:r>
            <a:r>
              <a:rPr kumimoji="0" lang="en-GB" sz="1200" b="0" i="0" u="none" strike="noStrike" kern="1200" cap="none" spc="0" normalizeH="0" baseline="0" noProof="0" dirty="0">
                <a:ln>
                  <a:noFill/>
                </a:ln>
                <a:solidFill>
                  <a:srgbClr val="000000"/>
                </a:solidFill>
                <a:effectLst/>
                <a:uLnTx/>
                <a:uFillTx/>
                <a:ea typeface="+mn-ea"/>
                <a:cs typeface="+mn-cs"/>
              </a:rPr>
              <a:t>where </a:t>
            </a:r>
            <a:r>
              <a:rPr kumimoji="0" lang="en-GB" sz="1200" b="1" u="none" strike="noStrike" kern="1200" cap="none" spc="0" normalizeH="0" baseline="0" noProof="0" dirty="0">
                <a:ln>
                  <a:noFill/>
                </a:ln>
                <a:solidFill>
                  <a:srgbClr val="008680"/>
                </a:solidFill>
                <a:effectLst/>
                <a:uLnTx/>
                <a:uFillTx/>
                <a:ea typeface="+mn-ea"/>
                <a:cs typeface="+mn-cs"/>
              </a:rPr>
              <a:t>Declarants</a:t>
            </a:r>
            <a:r>
              <a:rPr kumimoji="0" lang="en-GB" sz="1200" b="0" i="0" u="none" strike="noStrike" kern="1200" cap="none" spc="0" normalizeH="0" baseline="0" noProof="0" dirty="0">
                <a:ln>
                  <a:noFill/>
                </a:ln>
                <a:solidFill>
                  <a:srgbClr val="000000"/>
                </a:solidFill>
                <a:effectLst/>
                <a:uLnTx/>
                <a:uFillTx/>
                <a:ea typeface="+mn-ea"/>
                <a:cs typeface="+mn-cs"/>
              </a:rPr>
              <a:t> can practice submitting different types of Import and Export declarations</a:t>
            </a:r>
            <a:r>
              <a:rPr lang="en-GB" sz="1200" dirty="0">
                <a:solidFill>
                  <a:srgbClr val="000000"/>
                </a:solidFill>
              </a:rPr>
              <a:t>. It is </a:t>
            </a:r>
            <a:r>
              <a:rPr lang="en-GB" sz="1200" b="1" dirty="0">
                <a:solidFill>
                  <a:srgbClr val="008680"/>
                </a:solidFill>
              </a:rPr>
              <a:t>free to use </a:t>
            </a:r>
            <a:r>
              <a:rPr lang="en-GB" sz="1200" dirty="0">
                <a:solidFill>
                  <a:srgbClr val="000000"/>
                </a:solidFill>
              </a:rPr>
              <a:t>and designed to help</a:t>
            </a:r>
            <a:r>
              <a:rPr lang="en-GB" sz="1200" b="1" i="1" dirty="0">
                <a:solidFill>
                  <a:srgbClr val="008680"/>
                </a:solidFill>
              </a:rPr>
              <a:t> </a:t>
            </a:r>
            <a:r>
              <a:rPr lang="en-GB" sz="1200" b="1" dirty="0">
                <a:solidFill>
                  <a:srgbClr val="008680"/>
                </a:solidFill>
              </a:rPr>
              <a:t>Declarants and Loaders</a:t>
            </a:r>
            <a:r>
              <a:rPr lang="en-GB" sz="1200" dirty="0">
                <a:solidFill>
                  <a:srgbClr val="008680"/>
                </a:solidFill>
              </a:rPr>
              <a:t> </a:t>
            </a:r>
            <a:r>
              <a:rPr lang="en-GB" sz="1200" dirty="0">
                <a:solidFill>
                  <a:srgbClr val="000000"/>
                </a:solidFill>
              </a:rPr>
              <a:t>prepare to go live.</a:t>
            </a:r>
            <a:endParaRPr lang="en-GB" sz="1200" dirty="0">
              <a:solidFill>
                <a:srgbClr val="000000"/>
              </a:solidFill>
              <a:cs typeface="Calibri"/>
            </a:endParaRPr>
          </a:p>
          <a:p>
            <a:pPr>
              <a:defRPr/>
            </a:pPr>
            <a:endParaRPr lang="en-GB" sz="1200" b="0" i="0" u="none" strike="noStrike" kern="1200" cap="none" spc="0" normalizeH="0" baseline="0" noProof="0" dirty="0">
              <a:ln>
                <a:noFill/>
              </a:ln>
              <a:solidFill>
                <a:srgbClr val="000000"/>
              </a:solidFill>
              <a:effectLst/>
              <a:uLnTx/>
              <a:uFillTx/>
              <a:cs typeface="Calibri"/>
            </a:endParaRPr>
          </a:p>
          <a:p>
            <a:pPr>
              <a:defRPr/>
            </a:pPr>
            <a:r>
              <a:rPr kumimoji="0" lang="en-GB" sz="1200" b="0" i="0" u="none" strike="noStrike" kern="1200" cap="none" spc="0" normalizeH="0" baseline="0" noProof="0" dirty="0">
                <a:ln>
                  <a:noFill/>
                </a:ln>
                <a:solidFill>
                  <a:srgbClr val="000000"/>
                </a:solidFill>
                <a:effectLst/>
                <a:uLnTx/>
                <a:uFillTx/>
                <a:ea typeface="+mn-ea"/>
                <a:cs typeface="+mn-cs"/>
              </a:rPr>
              <a:t>Trader Dress Rehearsal allows </a:t>
            </a:r>
            <a:r>
              <a:rPr kumimoji="0" lang="en-GB" sz="1200" b="1" u="none" strike="noStrike" kern="1200" cap="none" spc="0" normalizeH="0" baseline="0" noProof="0" dirty="0">
                <a:ln>
                  <a:noFill/>
                </a:ln>
                <a:solidFill>
                  <a:srgbClr val="008680"/>
                </a:solidFill>
                <a:effectLst/>
                <a:uLnTx/>
                <a:uFillTx/>
                <a:ea typeface="+mn-ea"/>
                <a:cs typeface="+mn-cs"/>
              </a:rPr>
              <a:t>Declarants</a:t>
            </a:r>
            <a:r>
              <a:rPr kumimoji="0" lang="en-GB" sz="1200" b="1" i="1" u="none" strike="noStrike" kern="1200" cap="none" spc="0" normalizeH="0" baseline="0" noProof="0" dirty="0">
                <a:ln>
                  <a:noFill/>
                </a:ln>
                <a:solidFill>
                  <a:srgbClr val="008680"/>
                </a:solidFill>
                <a:effectLst/>
                <a:uLnTx/>
                <a:uFillTx/>
                <a:ea typeface="+mn-ea"/>
                <a:cs typeface="+mn-cs"/>
              </a:rPr>
              <a:t> </a:t>
            </a:r>
            <a:r>
              <a:rPr lang="en-GB" sz="1200" dirty="0">
                <a:solidFill>
                  <a:srgbClr val="000000"/>
                </a:solidFill>
              </a:rPr>
              <a:t>to </a:t>
            </a:r>
            <a:r>
              <a:rPr kumimoji="0" lang="en-GB" sz="1200" b="0" i="0" u="none" strike="noStrike" kern="1200" cap="none" spc="0" normalizeH="0" baseline="0" noProof="0" dirty="0">
                <a:ln>
                  <a:noFill/>
                </a:ln>
                <a:solidFill>
                  <a:srgbClr val="000000"/>
                </a:solidFill>
                <a:effectLst/>
                <a:uLnTx/>
                <a:uFillTx/>
                <a:ea typeface="+mn-ea"/>
                <a:cs typeface="+mn-cs"/>
              </a:rPr>
              <a:t>use their real account data </a:t>
            </a:r>
            <a:r>
              <a:rPr kumimoji="0" lang="en-GB" sz="1200" i="0" u="none" strike="noStrike" kern="1200" cap="none" spc="0" normalizeH="0" baseline="0" noProof="0" dirty="0">
                <a:ln>
                  <a:noFill/>
                </a:ln>
                <a:solidFill>
                  <a:srgbClr val="000000"/>
                </a:solidFill>
                <a:effectLst/>
                <a:uLnTx/>
                <a:uFillTx/>
                <a:ea typeface="+mn-ea"/>
                <a:cs typeface="+mn-cs"/>
              </a:rPr>
              <a:t>such as </a:t>
            </a:r>
            <a:r>
              <a:rPr lang="en-GB" sz="1200" b="1" dirty="0">
                <a:solidFill>
                  <a:srgbClr val="008680"/>
                </a:solidFill>
              </a:rPr>
              <a:t>EORIs, duty deferment account numbers, authorisations and licences</a:t>
            </a:r>
            <a:r>
              <a:rPr kumimoji="0" lang="en-GB" sz="1200" b="1" i="0" u="none" strike="noStrike" kern="1200" cap="none" spc="0" normalizeH="0" baseline="0" noProof="0" dirty="0">
                <a:ln>
                  <a:noFill/>
                </a:ln>
                <a:solidFill>
                  <a:srgbClr val="000000"/>
                </a:solidFill>
                <a:effectLst/>
                <a:uLnTx/>
                <a:uFillTx/>
                <a:ea typeface="+mn-ea"/>
                <a:cs typeface="+mn-cs"/>
              </a:rPr>
              <a:t> </a:t>
            </a:r>
            <a:r>
              <a:rPr kumimoji="0" lang="en-GB" sz="1200" b="0" i="0" u="none" strike="noStrike" kern="1200" cap="none" spc="0" normalizeH="0" baseline="0" noProof="0" dirty="0">
                <a:ln>
                  <a:noFill/>
                </a:ln>
                <a:solidFill>
                  <a:srgbClr val="000000"/>
                </a:solidFill>
                <a:effectLst/>
                <a:uLnTx/>
                <a:uFillTx/>
                <a:ea typeface="+mn-ea"/>
                <a:cs typeface="+mn-cs"/>
              </a:rPr>
              <a:t>without creating any legal obligations.</a:t>
            </a:r>
            <a:endParaRPr lang="en-GB" sz="1200" b="0" i="0" u="none" strike="noStrike" kern="1200" cap="none" spc="0" normalizeH="0" baseline="0" noProof="0" dirty="0">
              <a:ln>
                <a:noFill/>
              </a:ln>
              <a:solidFill>
                <a:srgbClr val="000000"/>
              </a:solidFill>
              <a:effectLst/>
              <a:uLnTx/>
              <a:uFillTx/>
              <a:cs typeface="Calibri"/>
            </a:endParaRPr>
          </a:p>
          <a:p>
            <a:pPr>
              <a:defRPr/>
            </a:pPr>
            <a:endParaRPr lang="en-GB" sz="1200" dirty="0">
              <a:solidFill>
                <a:srgbClr val="000000"/>
              </a:solidFill>
              <a:cs typeface="Calibri"/>
            </a:endParaRPr>
          </a:p>
          <a:p>
            <a:pPr>
              <a:defRPr/>
            </a:pPr>
            <a:r>
              <a:rPr kumimoji="0" lang="en-GB" sz="1200" b="0" i="0" u="none" strike="noStrike" kern="1200" cap="none" spc="0" normalizeH="0" baseline="0" noProof="0" dirty="0">
                <a:ln>
                  <a:noFill/>
                </a:ln>
                <a:solidFill>
                  <a:srgbClr val="000000"/>
                </a:solidFill>
                <a:effectLst/>
                <a:uLnTx/>
                <a:uFillTx/>
                <a:ea typeface="+mn-ea"/>
                <a:cs typeface="+mn-cs"/>
              </a:rPr>
              <a:t>Trader Dress Rehearsal is recommended because it </a:t>
            </a:r>
            <a:r>
              <a:rPr lang="en-GB" sz="1200" b="1" dirty="0">
                <a:solidFill>
                  <a:srgbClr val="008680"/>
                </a:solidFill>
              </a:rPr>
              <a:t>improves success rates</a:t>
            </a:r>
            <a:r>
              <a:rPr kumimoji="0" lang="en-GB" sz="1200" b="0" i="0" u="none" strike="noStrike" kern="1200" cap="none" spc="0" normalizeH="0" baseline="0" noProof="0" dirty="0">
                <a:ln>
                  <a:noFill/>
                </a:ln>
                <a:solidFill>
                  <a:srgbClr val="000000"/>
                </a:solidFill>
                <a:effectLst/>
                <a:uLnTx/>
                <a:uFillTx/>
                <a:ea typeface="+mn-ea"/>
                <a:cs typeface="+mn-cs"/>
              </a:rPr>
              <a:t> when submitting declarations in CDS Live.</a:t>
            </a:r>
            <a:endParaRPr lang="en-GB" sz="1200" b="0" i="0" u="none" strike="noStrike" kern="1200" cap="none" spc="0" normalizeH="0" baseline="0" noProof="0" dirty="0">
              <a:ln>
                <a:noFill/>
              </a:ln>
              <a:solidFill>
                <a:srgbClr val="000000"/>
              </a:solidFill>
              <a:effectLst/>
              <a:uLnTx/>
              <a:uFillTx/>
              <a:cs typeface="Calibri"/>
            </a:endParaRPr>
          </a:p>
          <a:p>
            <a:pPr>
              <a:defRPr/>
            </a:pPr>
            <a:endParaRPr lang="en-GB" sz="1200" dirty="0">
              <a:solidFill>
                <a:srgbClr val="008680"/>
              </a:solidFill>
              <a:cs typeface="Calibri"/>
            </a:endParaRPr>
          </a:p>
          <a:p>
            <a:pPr>
              <a:defRPr/>
            </a:pPr>
            <a:r>
              <a:rPr lang="en-GB" sz="1200" dirty="0">
                <a:solidFill>
                  <a:srgbClr val="000000"/>
                </a:solidFill>
              </a:rPr>
              <a:t>Trader Dress Rehearsal provides a unique opportunity to</a:t>
            </a:r>
            <a:r>
              <a:rPr lang="en-GB" sz="1200" b="1" dirty="0">
                <a:solidFill>
                  <a:srgbClr val="000000"/>
                </a:solidFill>
              </a:rPr>
              <a:t> </a:t>
            </a:r>
            <a:r>
              <a:rPr lang="en-GB" sz="1200" b="1" dirty="0">
                <a:solidFill>
                  <a:srgbClr val="008680"/>
                </a:solidFill>
              </a:rPr>
              <a:t>explore and understand </a:t>
            </a:r>
            <a:r>
              <a:rPr lang="en-GB" sz="1200" dirty="0">
                <a:solidFill>
                  <a:srgbClr val="000000"/>
                </a:solidFill>
              </a:rPr>
              <a:t>the </a:t>
            </a:r>
            <a:r>
              <a:rPr lang="en-GB" sz="1200" b="1" dirty="0">
                <a:solidFill>
                  <a:srgbClr val="008680"/>
                </a:solidFill>
              </a:rPr>
              <a:t>key differences</a:t>
            </a:r>
            <a:r>
              <a:rPr lang="en-GB" sz="1200" dirty="0">
                <a:solidFill>
                  <a:srgbClr val="008680"/>
                </a:solidFill>
              </a:rPr>
              <a:t> </a:t>
            </a:r>
            <a:r>
              <a:rPr lang="en-GB" sz="1200" dirty="0">
                <a:solidFill>
                  <a:srgbClr val="000000"/>
                </a:solidFill>
              </a:rPr>
              <a:t>between CHIEF and CDS.</a:t>
            </a:r>
            <a:endParaRPr lang="en-GB" sz="1200" dirty="0">
              <a:solidFill>
                <a:srgbClr val="000000"/>
              </a:solidFill>
              <a:cs typeface="Calibri"/>
            </a:endParaRPr>
          </a:p>
        </p:txBody>
      </p:sp>
      <p:sp>
        <p:nvSpPr>
          <p:cNvPr id="31" name="Rectangle: Diagonal Corners Rounded 30">
            <a:extLst>
              <a:ext uri="{FF2B5EF4-FFF2-40B4-BE49-F238E27FC236}">
                <a16:creationId xmlns:a16="http://schemas.microsoft.com/office/drawing/2014/main" id="{8FC03E66-C664-417A-A151-A48FCF22CA81}"/>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cs typeface="Arial" panose="020B0604020202020204" pitchFamily="34" charset="0"/>
              </a:rPr>
              <a:t>Trader Dress Rehearsal for Imports and Exports</a:t>
            </a:r>
            <a:endParaRPr kumimoji="0" lang="en-GB" b="1" i="0" strike="noStrike" kern="1200" cap="none" spc="0" normalizeH="0" baseline="0" noProof="0" dirty="0">
              <a:ln>
                <a:noFill/>
              </a:ln>
              <a:solidFill>
                <a:prstClr val="white"/>
              </a:solidFill>
              <a:effectLst/>
              <a:uLnTx/>
              <a:uFillTx/>
              <a:cs typeface="Arial" panose="020B0604020202020204" pitchFamily="34" charset="0"/>
            </a:endParaRPr>
          </a:p>
        </p:txBody>
      </p:sp>
      <p:sp>
        <p:nvSpPr>
          <p:cNvPr id="38" name="Rectangle: Diagonal Corners Snipped 37">
            <a:extLst>
              <a:ext uri="{FF2B5EF4-FFF2-40B4-BE49-F238E27FC236}">
                <a16:creationId xmlns:a16="http://schemas.microsoft.com/office/drawing/2014/main" id="{FE09A563-EF48-42BC-A1BD-AB17B6BFBAF3}"/>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R="0" lvl="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ea typeface="+mn-ea"/>
                <a:cs typeface="+mn-cs"/>
              </a:rPr>
              <a:t>Trader Dress Rehearsal is an optional service that offers </a:t>
            </a:r>
            <a:r>
              <a:rPr kumimoji="0" lang="en-GB" sz="1800" b="1" u="none" strike="noStrike" kern="1200" cap="none" spc="0" normalizeH="0" baseline="0" noProof="0" dirty="0">
                <a:ln>
                  <a:noFill/>
                </a:ln>
                <a:solidFill>
                  <a:schemeClr val="bg1"/>
                </a:solidFill>
                <a:effectLst/>
                <a:uLnTx/>
                <a:uFillTx/>
                <a:ea typeface="+mn-ea"/>
                <a:cs typeface="+mn-cs"/>
              </a:rPr>
              <a:t>Declarants</a:t>
            </a:r>
            <a:r>
              <a:rPr kumimoji="0" lang="en-GB" sz="1800" b="0" i="0" u="none" strike="noStrike" kern="1200" cap="none" spc="0" normalizeH="0" baseline="0" noProof="0" dirty="0">
                <a:ln>
                  <a:noFill/>
                </a:ln>
                <a:solidFill>
                  <a:schemeClr val="bg1"/>
                </a:solidFill>
                <a:effectLst/>
                <a:uLnTx/>
                <a:uFillTx/>
                <a:ea typeface="+mn-ea"/>
                <a:cs typeface="+mn-cs"/>
              </a:rPr>
              <a:t> the opportunity to practice making declarations before entering CDS Live.</a:t>
            </a:r>
            <a:endParaRPr kumimoji="0" lang="en-GB"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pic>
        <p:nvPicPr>
          <p:cNvPr id="11" name="Graphic 10" descr="Employee badge with solid fill">
            <a:extLst>
              <a:ext uri="{FF2B5EF4-FFF2-40B4-BE49-F238E27FC236}">
                <a16:creationId xmlns:a16="http://schemas.microsoft.com/office/drawing/2014/main" id="{B2C7DAA6-9E3A-4976-80F9-8F0B61835E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96523" y="4644509"/>
            <a:ext cx="414302" cy="414302"/>
          </a:xfrm>
          <a:prstGeom prst="rect">
            <a:avLst/>
          </a:prstGeom>
        </p:spPr>
      </p:pic>
      <p:sp>
        <p:nvSpPr>
          <p:cNvPr id="12" name="TextBox 11">
            <a:extLst>
              <a:ext uri="{FF2B5EF4-FFF2-40B4-BE49-F238E27FC236}">
                <a16:creationId xmlns:a16="http://schemas.microsoft.com/office/drawing/2014/main" id="{2E2F55D2-EDF5-40B2-948A-7A3450BB843D}"/>
              </a:ext>
            </a:extLst>
          </p:cNvPr>
          <p:cNvSpPr txBox="1"/>
          <p:nvPr/>
        </p:nvSpPr>
        <p:spPr>
          <a:xfrm>
            <a:off x="8535160" y="3859119"/>
            <a:ext cx="3091256" cy="676467"/>
          </a:xfrm>
          <a:prstGeom prst="rect">
            <a:avLst/>
          </a:prstGeom>
          <a:noFill/>
        </p:spPr>
        <p:txBody>
          <a:bodyPr wrap="square" lIns="91440" tIns="45720" rIns="91440" bIns="45720" anchor="t">
            <a:spAutoFit/>
          </a:bodyPr>
          <a:lstStyle/>
          <a:p>
            <a:pPr>
              <a:lnSpc>
                <a:spcPct val="107000"/>
              </a:lnSpc>
              <a:spcAft>
                <a:spcPts val="800"/>
              </a:spcAft>
            </a:pPr>
            <a:r>
              <a:rPr lang="en-GB" sz="1200" dirty="0">
                <a:effectLst/>
                <a:latin typeface="Calibri (Headings)"/>
                <a:ea typeface="Calibri" panose="020F0502020204030204" pitchFamily="34" charset="0"/>
                <a:cs typeface="Calibri"/>
              </a:rPr>
              <a:t>Before accessing Trader Dress Rehearsal, </a:t>
            </a:r>
            <a:r>
              <a:rPr lang="en-GB" sz="1200" dirty="0">
                <a:latin typeface="Calibri (Headings)"/>
                <a:cs typeface="Calibri"/>
              </a:rPr>
              <a:t>Declarants should have a plan to access</a:t>
            </a:r>
            <a:r>
              <a:rPr lang="en-GB" sz="1200" dirty="0">
                <a:effectLst/>
                <a:latin typeface="Calibri (Headings)"/>
                <a:ea typeface="Calibri" panose="020F0502020204030204" pitchFamily="34" charset="0"/>
                <a:cs typeface="Calibri"/>
              </a:rPr>
              <a:t> CDS Live.</a:t>
            </a:r>
            <a:r>
              <a:rPr lang="en-GB" sz="1200" dirty="0">
                <a:latin typeface="Calibri (Headings)"/>
                <a:ea typeface="Calibri" panose="020F0502020204030204" pitchFamily="34" charset="0"/>
                <a:cs typeface="Calibri"/>
              </a:rPr>
              <a:t> </a:t>
            </a:r>
            <a:r>
              <a:rPr lang="en-GB" sz="1200" b="1" dirty="0">
                <a:solidFill>
                  <a:srgbClr val="00928D"/>
                </a:solidFill>
                <a:effectLst/>
                <a:latin typeface="Calibri (Headings)"/>
                <a:ea typeface="Calibri" panose="020F0502020204030204" pitchFamily="34" charset="0"/>
                <a:cs typeface="Calibri"/>
              </a:rPr>
              <a:t>Readiness includes</a:t>
            </a:r>
            <a:r>
              <a:rPr lang="en-GB" sz="1200" b="1" dirty="0">
                <a:solidFill>
                  <a:srgbClr val="00928D"/>
                </a:solidFill>
                <a:latin typeface="Calibri (Headings)"/>
                <a:ea typeface="Calibri" panose="020F0502020204030204" pitchFamily="34" charset="0"/>
                <a:cs typeface="Calibri"/>
              </a:rPr>
              <a:t>:</a:t>
            </a:r>
            <a:endParaRPr lang="en-GB" sz="1200" b="1" dirty="0">
              <a:solidFill>
                <a:srgbClr val="FF0000"/>
              </a:solidFill>
              <a:effectLst/>
              <a:latin typeface="Calibri (Headings)"/>
              <a:ea typeface="Calibri" panose="020F0502020204030204" pitchFamily="34" charset="0"/>
              <a:cs typeface="Calibri"/>
            </a:endParaRPr>
          </a:p>
        </p:txBody>
      </p:sp>
      <p:pic>
        <p:nvPicPr>
          <p:cNvPr id="13" name="Graphic 12" descr="Folder Search with solid fill">
            <a:extLst>
              <a:ext uri="{FF2B5EF4-FFF2-40B4-BE49-F238E27FC236}">
                <a16:creationId xmlns:a16="http://schemas.microsoft.com/office/drawing/2014/main" id="{F6F6C175-2314-483B-ABDB-EBCC5523AC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96524" y="5195240"/>
            <a:ext cx="414301" cy="414301"/>
          </a:xfrm>
          <a:prstGeom prst="rect">
            <a:avLst/>
          </a:prstGeom>
        </p:spPr>
      </p:pic>
      <p:pic>
        <p:nvPicPr>
          <p:cNvPr id="14" name="Graphic 13" descr="Badge Tick outline">
            <a:extLst>
              <a:ext uri="{FF2B5EF4-FFF2-40B4-BE49-F238E27FC236}">
                <a16:creationId xmlns:a16="http://schemas.microsoft.com/office/drawing/2014/main" id="{9844D1C7-33A2-4DDD-B444-D70AAD40CA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96524" y="6065267"/>
            <a:ext cx="414301" cy="414301"/>
          </a:xfrm>
          <a:prstGeom prst="rect">
            <a:avLst/>
          </a:prstGeom>
        </p:spPr>
      </p:pic>
      <p:pic>
        <p:nvPicPr>
          <p:cNvPr id="15" name="Graphic 14" descr="Comment Like outline">
            <a:extLst>
              <a:ext uri="{FF2B5EF4-FFF2-40B4-BE49-F238E27FC236}">
                <a16:creationId xmlns:a16="http://schemas.microsoft.com/office/drawing/2014/main" id="{572D23CD-47AD-47BA-8027-F8457B1C922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14291" y="5658736"/>
            <a:ext cx="414301" cy="414301"/>
          </a:xfrm>
          <a:prstGeom prst="rect">
            <a:avLst/>
          </a:prstGeom>
        </p:spPr>
      </p:pic>
      <p:sp>
        <p:nvSpPr>
          <p:cNvPr id="16" name="TextBox 15">
            <a:extLst>
              <a:ext uri="{FF2B5EF4-FFF2-40B4-BE49-F238E27FC236}">
                <a16:creationId xmlns:a16="http://schemas.microsoft.com/office/drawing/2014/main" id="{E33CBB86-9AC4-48A4-BAF3-469886CD5F0A}"/>
              </a:ext>
            </a:extLst>
          </p:cNvPr>
          <p:cNvSpPr txBox="1"/>
          <p:nvPr/>
        </p:nvSpPr>
        <p:spPr>
          <a:xfrm>
            <a:off x="9131297" y="4630725"/>
            <a:ext cx="2930074" cy="1754326"/>
          </a:xfrm>
          <a:prstGeom prst="rect">
            <a:avLst/>
          </a:prstGeom>
          <a:noFill/>
        </p:spPr>
        <p:txBody>
          <a:bodyPr wrap="square" lIns="91440" tIns="45720" rIns="91440" bIns="45720" anchor="t">
            <a:spAutoFit/>
          </a:bodyPr>
          <a:lstStyle/>
          <a:p>
            <a:pPr>
              <a:buClr>
                <a:schemeClr val="tx1"/>
              </a:buClr>
            </a:pPr>
            <a:r>
              <a:rPr lang="en-GB" sz="1200" b="1" dirty="0">
                <a:solidFill>
                  <a:srgbClr val="008680"/>
                </a:solidFill>
                <a:effectLst/>
                <a:latin typeface="Calibri (Headings)"/>
                <a:ea typeface="Calibri" panose="020F0502020204030204" pitchFamily="34" charset="0"/>
                <a:cs typeface="Calibri"/>
              </a:rPr>
              <a:t>Correct </a:t>
            </a:r>
            <a:r>
              <a:rPr lang="en-GB" sz="1200" b="1" dirty="0">
                <a:solidFill>
                  <a:srgbClr val="008680"/>
                </a:solidFill>
                <a:latin typeface="Calibri (Headings)"/>
                <a:ea typeface="Calibri" panose="020F0502020204030204" pitchFamily="34" charset="0"/>
                <a:cs typeface="Calibri"/>
              </a:rPr>
              <a:t>setup</a:t>
            </a:r>
            <a:r>
              <a:rPr lang="en-GB" sz="1200" b="1" dirty="0">
                <a:solidFill>
                  <a:srgbClr val="008680"/>
                </a:solidFill>
                <a:effectLst/>
                <a:latin typeface="Calibri (Headings)"/>
                <a:ea typeface="Calibri" panose="020F0502020204030204" pitchFamily="34" charset="0"/>
                <a:cs typeface="Calibri"/>
              </a:rPr>
              <a:t> of their Government Gateway User ID</a:t>
            </a:r>
          </a:p>
          <a:p>
            <a:pPr>
              <a:buClr>
                <a:schemeClr val="tx1"/>
              </a:buClr>
            </a:pPr>
            <a:endParaRPr lang="en-GB" sz="1200" dirty="0">
              <a:effectLst/>
              <a:latin typeface="Calibri (Headings)"/>
              <a:ea typeface="Calibri" panose="020F0502020204030204" pitchFamily="34" charset="0"/>
              <a:cs typeface="Times New Roman" panose="02020603050405020304" pitchFamily="18" charset="0"/>
            </a:endParaRPr>
          </a:p>
          <a:p>
            <a:pPr>
              <a:buClr>
                <a:schemeClr val="tx1"/>
              </a:buClr>
            </a:pPr>
            <a:r>
              <a:rPr lang="en-GB" sz="1200" b="1" dirty="0">
                <a:solidFill>
                  <a:srgbClr val="008680"/>
                </a:solidFill>
                <a:effectLst/>
                <a:latin typeface="Calibri (Headings)"/>
                <a:ea typeface="Calibri" panose="020F0502020204030204" pitchFamily="34" charset="0"/>
                <a:cs typeface="Calibri"/>
              </a:rPr>
              <a:t>Registering for an EORI</a:t>
            </a:r>
            <a:r>
              <a:rPr lang="en-GB" sz="1200" dirty="0">
                <a:effectLst/>
                <a:latin typeface="Calibri (Headings)"/>
                <a:ea typeface="Calibri" panose="020F0502020204030204" pitchFamily="34" charset="0"/>
                <a:cs typeface="Calibri"/>
              </a:rPr>
              <a:t>, if they have not done so already.</a:t>
            </a:r>
          </a:p>
          <a:p>
            <a:pPr>
              <a:buClr>
                <a:schemeClr val="tx1"/>
              </a:buClr>
            </a:pPr>
            <a:endParaRPr lang="en-GB" sz="1200" dirty="0">
              <a:effectLst/>
              <a:latin typeface="Calibri (Headings)"/>
              <a:ea typeface="Calibri" panose="020F0502020204030204" pitchFamily="34" charset="0"/>
              <a:cs typeface="Times New Roman" panose="02020603050405020304" pitchFamily="18" charset="0"/>
            </a:endParaRPr>
          </a:p>
          <a:p>
            <a:pPr>
              <a:buClr>
                <a:schemeClr val="tx1"/>
              </a:buClr>
            </a:pPr>
            <a:r>
              <a:rPr lang="en-GB" sz="1200" dirty="0">
                <a:effectLst/>
                <a:latin typeface="Calibri (Headings)"/>
                <a:ea typeface="Calibri" panose="020F0502020204030204" pitchFamily="34" charset="0"/>
                <a:cs typeface="Calibri"/>
              </a:rPr>
              <a:t>Access to their </a:t>
            </a:r>
            <a:r>
              <a:rPr lang="en-GB" sz="1200" b="1">
                <a:solidFill>
                  <a:srgbClr val="008680"/>
                </a:solidFill>
                <a:latin typeface="Calibri (Headings)"/>
                <a:ea typeface="Calibri" panose="020F0502020204030204" pitchFamily="34" charset="0"/>
                <a:cs typeface="Calibri"/>
              </a:rPr>
              <a:t>a</a:t>
            </a:r>
            <a:r>
              <a:rPr lang="en-GB" sz="1200" b="1">
                <a:solidFill>
                  <a:srgbClr val="008680"/>
                </a:solidFill>
                <a:effectLst/>
                <a:latin typeface="Calibri (Headings)"/>
                <a:ea typeface="Calibri" panose="020F0502020204030204" pitchFamily="34" charset="0"/>
                <a:cs typeface="Calibri"/>
              </a:rPr>
              <a:t>uthorisations </a:t>
            </a:r>
            <a:r>
              <a:rPr lang="en-GB" sz="1200" b="1" dirty="0">
                <a:solidFill>
                  <a:srgbClr val="008680"/>
                </a:solidFill>
                <a:effectLst/>
                <a:latin typeface="Calibri (Headings)"/>
                <a:ea typeface="Calibri" panose="020F0502020204030204" pitchFamily="34" charset="0"/>
                <a:cs typeface="Calibri"/>
              </a:rPr>
              <a:t>&amp; </a:t>
            </a:r>
            <a:r>
              <a:rPr lang="en-GB" sz="1200" b="1">
                <a:solidFill>
                  <a:srgbClr val="008680"/>
                </a:solidFill>
                <a:effectLst/>
                <a:latin typeface="Calibri (Headings)"/>
                <a:ea typeface="Calibri" panose="020F0502020204030204" pitchFamily="34" charset="0"/>
                <a:cs typeface="Calibri"/>
              </a:rPr>
              <a:t>licences</a:t>
            </a:r>
            <a:r>
              <a:rPr lang="en-GB" sz="1200" b="1" dirty="0">
                <a:solidFill>
                  <a:srgbClr val="008680"/>
                </a:solidFill>
                <a:effectLst/>
                <a:latin typeface="Calibri (Headings)"/>
                <a:ea typeface="Calibri" panose="020F0502020204030204" pitchFamily="34" charset="0"/>
                <a:cs typeface="Calibri"/>
              </a:rPr>
              <a:t>.</a:t>
            </a:r>
            <a:endParaRPr lang="en-GB" sz="1200" dirty="0">
              <a:solidFill>
                <a:srgbClr val="008680"/>
              </a:solidFill>
              <a:effectLst/>
              <a:latin typeface="Calibri (Headings)"/>
              <a:ea typeface="Calibri" panose="020F0502020204030204" pitchFamily="34" charset="0"/>
              <a:cs typeface="Calibri"/>
            </a:endParaRPr>
          </a:p>
          <a:p>
            <a:pPr>
              <a:buClr>
                <a:schemeClr val="tx1"/>
              </a:buClr>
            </a:pPr>
            <a:endParaRPr lang="en-GB" sz="1200" dirty="0">
              <a:solidFill>
                <a:srgbClr val="008680"/>
              </a:solidFill>
              <a:effectLst/>
              <a:latin typeface="Calibri (Headings)"/>
              <a:ea typeface="Calibri" panose="020F0502020204030204" pitchFamily="34" charset="0"/>
              <a:cs typeface="Times New Roman" panose="02020603050405020304" pitchFamily="18" charset="0"/>
            </a:endParaRPr>
          </a:p>
          <a:p>
            <a:r>
              <a:rPr lang="en-GB" sz="1200" b="1" dirty="0">
                <a:solidFill>
                  <a:srgbClr val="008680"/>
                </a:solidFill>
                <a:latin typeface="Calibri (Headings)"/>
                <a:cs typeface="Calibri"/>
                <a:hlinkClick r:id="rId12"/>
              </a:rPr>
              <a:t>Checklists</a:t>
            </a:r>
            <a:r>
              <a:rPr lang="en-GB" sz="1200" b="1" dirty="0">
                <a:solidFill>
                  <a:srgbClr val="008680"/>
                </a:solidFill>
                <a:latin typeface="Calibri (Headings)"/>
                <a:cs typeface="Calibri"/>
              </a:rPr>
              <a:t> for Exports</a:t>
            </a:r>
            <a:r>
              <a:rPr lang="en-GB" sz="1200" dirty="0">
                <a:solidFill>
                  <a:srgbClr val="000000"/>
                </a:solidFill>
                <a:latin typeface="Segoe UI"/>
                <a:cs typeface="Segoe UI"/>
              </a:rPr>
              <a:t>.</a:t>
            </a:r>
            <a:endParaRPr lang="en-GB" sz="1200" dirty="0"/>
          </a:p>
        </p:txBody>
      </p:sp>
      <p:grpSp>
        <p:nvGrpSpPr>
          <p:cNvPr id="28" name="Group 27">
            <a:extLst>
              <a:ext uri="{FF2B5EF4-FFF2-40B4-BE49-F238E27FC236}">
                <a16:creationId xmlns:a16="http://schemas.microsoft.com/office/drawing/2014/main" id="{F6545011-7E6A-4C6B-90FD-AEF4251EFC59}"/>
              </a:ext>
            </a:extLst>
          </p:cNvPr>
          <p:cNvGrpSpPr/>
          <p:nvPr/>
        </p:nvGrpSpPr>
        <p:grpSpPr>
          <a:xfrm>
            <a:off x="5162406" y="-63328"/>
            <a:ext cx="6841472" cy="910091"/>
            <a:chOff x="5162406" y="-63328"/>
            <a:chExt cx="6841472" cy="910091"/>
          </a:xfrm>
        </p:grpSpPr>
        <p:graphicFrame>
          <p:nvGraphicFramePr>
            <p:cNvPr id="29" name="Diagram 28">
              <a:extLst>
                <a:ext uri="{FF2B5EF4-FFF2-40B4-BE49-F238E27FC236}">
                  <a16:creationId xmlns:a16="http://schemas.microsoft.com/office/drawing/2014/main" id="{10BBE114-BB6B-4686-98A5-D174CA817198}"/>
                </a:ext>
              </a:extLst>
            </p:cNvPr>
            <p:cNvGraphicFramePr/>
            <p:nvPr>
              <p:extLst>
                <p:ext uri="{D42A27DB-BD31-4B8C-83A1-F6EECF244321}">
                  <p14:modId xmlns:p14="http://schemas.microsoft.com/office/powerpoint/2010/main" val="2388645331"/>
                </p:ext>
              </p:extLst>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30" name="Graphic 29" descr="Clapper board with solid fill">
              <a:extLst>
                <a:ext uri="{FF2B5EF4-FFF2-40B4-BE49-F238E27FC236}">
                  <a16:creationId xmlns:a16="http://schemas.microsoft.com/office/drawing/2014/main" id="{749FCF7A-4516-4AB1-B6AF-3729E7FF54E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12252" y="245203"/>
              <a:ext cx="295446" cy="295446"/>
            </a:xfrm>
            <a:prstGeom prst="rect">
              <a:avLst/>
            </a:prstGeom>
          </p:spPr>
        </p:pic>
        <p:pic>
          <p:nvPicPr>
            <p:cNvPr id="32" name="Graphic 31" descr="Plugged Unplugged with solid fill">
              <a:extLst>
                <a:ext uri="{FF2B5EF4-FFF2-40B4-BE49-F238E27FC236}">
                  <a16:creationId xmlns:a16="http://schemas.microsoft.com/office/drawing/2014/main" id="{C9A3AF53-3DE0-409D-8096-E6527C109CA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413896" y="245203"/>
              <a:ext cx="295445" cy="295445"/>
            </a:xfrm>
            <a:prstGeom prst="rect">
              <a:avLst/>
            </a:prstGeom>
          </p:spPr>
        </p:pic>
        <p:pic>
          <p:nvPicPr>
            <p:cNvPr id="33" name="Graphic 32" descr="Internet Of Things with solid fill">
              <a:extLst>
                <a:ext uri="{FF2B5EF4-FFF2-40B4-BE49-F238E27FC236}">
                  <a16:creationId xmlns:a16="http://schemas.microsoft.com/office/drawing/2014/main" id="{4E34A897-C063-4EE0-8439-9DA422AECAE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530880" y="245203"/>
              <a:ext cx="295445" cy="295445"/>
            </a:xfrm>
            <a:prstGeom prst="rect">
              <a:avLst/>
            </a:prstGeom>
          </p:spPr>
        </p:pic>
        <p:pic>
          <p:nvPicPr>
            <p:cNvPr id="34" name="Graphic 33" descr="Ui Ux with solid fill">
              <a:extLst>
                <a:ext uri="{FF2B5EF4-FFF2-40B4-BE49-F238E27FC236}">
                  <a16:creationId xmlns:a16="http://schemas.microsoft.com/office/drawing/2014/main" id="{6CB609B9-C68A-457B-BD8A-D70B6ED97F5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472388" y="245203"/>
              <a:ext cx="295445" cy="295445"/>
            </a:xfrm>
            <a:prstGeom prst="rect">
              <a:avLst/>
            </a:prstGeom>
          </p:spPr>
        </p:pic>
        <p:pic>
          <p:nvPicPr>
            <p:cNvPr id="35" name="Graphic 34" descr="Open hand with plant with solid fill">
              <a:extLst>
                <a:ext uri="{FF2B5EF4-FFF2-40B4-BE49-F238E27FC236}">
                  <a16:creationId xmlns:a16="http://schemas.microsoft.com/office/drawing/2014/main" id="{0C4264FA-26C5-4794-875C-86BBC245335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377438" y="245203"/>
              <a:ext cx="307665" cy="307665"/>
            </a:xfrm>
            <a:prstGeom prst="rect">
              <a:avLst/>
            </a:prstGeom>
          </p:spPr>
        </p:pic>
        <p:pic>
          <p:nvPicPr>
            <p:cNvPr id="36" name="Graphic 35" descr="Books with solid fill">
              <a:extLst>
                <a:ext uri="{FF2B5EF4-FFF2-40B4-BE49-F238E27FC236}">
                  <a16:creationId xmlns:a16="http://schemas.microsoft.com/office/drawing/2014/main" id="{38FE395D-0B8C-401D-9C8D-A6ADEB1871E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272672" y="245203"/>
              <a:ext cx="295445" cy="295445"/>
            </a:xfrm>
            <a:prstGeom prst="rect">
              <a:avLst/>
            </a:prstGeom>
          </p:spPr>
        </p:pic>
        <p:pic>
          <p:nvPicPr>
            <p:cNvPr id="37" name="Graphic 36" descr="Questions with solid fill">
              <a:extLst>
                <a:ext uri="{FF2B5EF4-FFF2-40B4-BE49-F238E27FC236}">
                  <a16:creationId xmlns:a16="http://schemas.microsoft.com/office/drawing/2014/main" id="{CF81F02D-49E9-43A8-AFA6-0DC4B1BFF43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0298115" y="245203"/>
              <a:ext cx="295445" cy="295445"/>
            </a:xfrm>
            <a:prstGeom prst="rect">
              <a:avLst/>
            </a:prstGeom>
          </p:spPr>
        </p:pic>
      </p:grpSp>
      <p:sp>
        <p:nvSpPr>
          <p:cNvPr id="24" name="TextBox 23">
            <a:extLst>
              <a:ext uri="{FF2B5EF4-FFF2-40B4-BE49-F238E27FC236}">
                <a16:creationId xmlns:a16="http://schemas.microsoft.com/office/drawing/2014/main" id="{B834F485-807E-4063-BE02-E6862702FBEF}"/>
              </a:ext>
            </a:extLst>
          </p:cNvPr>
          <p:cNvSpPr txBox="1"/>
          <p:nvPr/>
        </p:nvSpPr>
        <p:spPr>
          <a:xfrm>
            <a:off x="8237314" y="1787854"/>
            <a:ext cx="3954059" cy="2067361"/>
          </a:xfrm>
          <a:prstGeom prst="rect">
            <a:avLst/>
          </a:prstGeom>
          <a:noFill/>
        </p:spPr>
        <p:txBody>
          <a:bodyPr wrap="square">
            <a:spAutoFit/>
          </a:bodyPr>
          <a:lstStyle/>
          <a:p>
            <a:pPr lvl="0">
              <a:lnSpc>
                <a:spcPct val="107000"/>
              </a:lnSpc>
              <a:spcAft>
                <a:spcPts val="800"/>
              </a:spcAft>
              <a:tabLst>
                <a:tab pos="457200" algn="l"/>
              </a:tabLst>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benefits of </a:t>
            </a:r>
            <a:r>
              <a:rPr lang="en-GB" sz="1200" dirty="0">
                <a:latin typeface="Calibri" panose="020F0502020204030204" pitchFamily="34" charset="0"/>
                <a:ea typeface="Calibri" panose="020F0502020204030204" pitchFamily="34" charset="0"/>
                <a:cs typeface="Times New Roman" panose="02020603050405020304" pitchFamily="18" charset="0"/>
              </a:rPr>
              <a:t>Trader Dress Rehearsal for Exports include: </a:t>
            </a:r>
          </a:p>
          <a:p>
            <a:pPr marL="285750" lvl="0" indent="-285750">
              <a:lnSpc>
                <a:spcPct val="107000"/>
              </a:lnSpc>
              <a:spcAft>
                <a:spcPts val="800"/>
              </a:spcAft>
              <a:buClr>
                <a:schemeClr val="tx1"/>
              </a:buClr>
              <a:buFont typeface="Arial" panose="020B0604020202020204" pitchFamily="34" charset="0"/>
              <a:buChar char="•"/>
              <a:tabLst>
                <a:tab pos="457200" algn="l"/>
              </a:tabLst>
            </a:pPr>
            <a:r>
              <a:rPr lang="en-GB" sz="1200" b="1" dirty="0">
                <a:solidFill>
                  <a:srgbClr val="00928D"/>
                </a:solidFill>
                <a:latin typeface="Calibri (Headings)"/>
                <a:cs typeface="Calibri" panose="020F0502020204030204" pitchFamily="34" charset="0"/>
              </a:rPr>
              <a:t>Declarants and Traders</a:t>
            </a:r>
            <a:r>
              <a:rPr lang="en-GB" sz="1200" dirty="0">
                <a:effectLst/>
                <a:latin typeface="Calibri" panose="020F0502020204030204" pitchFamily="34" charset="0"/>
                <a:ea typeface="Calibri" panose="020F0502020204030204" pitchFamily="34" charset="0"/>
                <a:cs typeface="Times New Roman" panose="02020603050405020304" pitchFamily="18" charset="0"/>
              </a:rPr>
              <a:t> can test their supply chain and prove all associated declaration data such as authorisation references, licenses, EORI, deferment account information before moving to CDS Live.</a:t>
            </a:r>
          </a:p>
          <a:p>
            <a:pPr marL="285750" indent="-285750">
              <a:lnSpc>
                <a:spcPct val="107000"/>
              </a:lnSpc>
              <a:spcAft>
                <a:spcPts val="800"/>
              </a:spcAft>
              <a:buClr>
                <a:schemeClr val="tx1"/>
              </a:buClr>
              <a:buFont typeface="Arial" panose="020B0604020202020204" pitchFamily="34" charset="0"/>
              <a:buChar char="•"/>
              <a:tabLst>
                <a:tab pos="457200" algn="l"/>
              </a:tabLst>
            </a:pPr>
            <a:r>
              <a:rPr lang="en-GB" sz="1200" b="1" dirty="0">
                <a:solidFill>
                  <a:srgbClr val="00928D"/>
                </a:solidFill>
                <a:latin typeface="Calibri (Headings)"/>
                <a:cs typeface="Calibri" panose="020F0502020204030204" pitchFamily="34" charset="0"/>
              </a:rPr>
              <a:t>Loaders</a:t>
            </a:r>
            <a:r>
              <a:rPr lang="en-GB" sz="1200" dirty="0">
                <a:effectLst/>
                <a:latin typeface="Calibri" panose="020F0502020204030204" pitchFamily="34" charset="0"/>
                <a:ea typeface="Calibri" panose="020F0502020204030204" pitchFamily="34" charset="0"/>
                <a:cs typeface="Times New Roman" panose="02020603050405020304" pitchFamily="18" charset="0"/>
              </a:rPr>
              <a:t> can utilise Trader Dress Rehearsal to test their CDS declaration scenarios before moving onto CDS. Loaders can also prove their loader authorisations including arrival and departure location authorisations.</a:t>
            </a:r>
          </a:p>
        </p:txBody>
      </p:sp>
      <p:sp>
        <p:nvSpPr>
          <p:cNvPr id="2" name="Slide Number Placeholder 1">
            <a:extLst>
              <a:ext uri="{FF2B5EF4-FFF2-40B4-BE49-F238E27FC236}">
                <a16:creationId xmlns:a16="http://schemas.microsoft.com/office/drawing/2014/main" id="{F0296533-FBF8-4B08-B384-6383F97F21BB}"/>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9</a:t>
            </a:fld>
            <a:endParaRPr lang="en-US">
              <a:solidFill>
                <a:srgbClr val="000000">
                  <a:tint val="75000"/>
                </a:srgbClr>
              </a:solidFill>
            </a:endParaRPr>
          </a:p>
        </p:txBody>
      </p:sp>
    </p:spTree>
    <p:extLst>
      <p:ext uri="{BB962C8B-B14F-4D97-AF65-F5344CB8AC3E}">
        <p14:creationId xmlns:p14="http://schemas.microsoft.com/office/powerpoint/2010/main" val="150933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75DC95C4-0304-472C-AB4E-9D6DA1E3360B}"/>
              </a:ext>
            </a:extLst>
          </p:cNvPr>
          <p:cNvSpPr txBox="1">
            <a:spLocks/>
          </p:cNvSpPr>
          <p:nvPr/>
        </p:nvSpPr>
        <p:spPr bwMode="auto">
          <a:xfrm>
            <a:off x="11434657" y="6400186"/>
            <a:ext cx="306916" cy="10387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defPPr>
              <a:defRPr lang="en-US"/>
            </a:defPPr>
            <a:lvl1pPr marL="0" algn="r" defTabSz="914400" rtl="0" eaLnBrk="1" latinLnBrk="0" hangingPunct="1">
              <a:defRPr sz="675"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3932FC1-F83D-4223-BCC6-34681F250449}" type="slidenum">
              <a:rPr lang="en-US" smtClean="0">
                <a:solidFill>
                  <a:srgbClr val="008D8E"/>
                </a:solidFill>
                <a:latin typeface="Arial"/>
                <a:cs typeface="Arial"/>
              </a:rPr>
              <a:pPr>
                <a:defRPr/>
              </a:pPr>
              <a:t>10</a:t>
            </a:fld>
            <a:endParaRPr lang="en-US">
              <a:solidFill>
                <a:srgbClr val="008D8E"/>
              </a:solidFill>
              <a:latin typeface="Arial"/>
              <a:cs typeface="Arial"/>
            </a:endParaRPr>
          </a:p>
        </p:txBody>
      </p:sp>
      <p:sp>
        <p:nvSpPr>
          <p:cNvPr id="13" name="Footer Placeholder 4">
            <a:extLst>
              <a:ext uri="{FF2B5EF4-FFF2-40B4-BE49-F238E27FC236}">
                <a16:creationId xmlns:a16="http://schemas.microsoft.com/office/drawing/2014/main" id="{5A787689-35A7-4915-A78E-04A83D238100}"/>
              </a:ext>
            </a:extLst>
          </p:cNvPr>
          <p:cNvSpPr txBox="1">
            <a:spLocks/>
          </p:cNvSpPr>
          <p:nvPr/>
        </p:nvSpPr>
        <p:spPr>
          <a:xfrm>
            <a:off x="2201333" y="6516911"/>
            <a:ext cx="8974667" cy="203200"/>
          </a:xfrm>
          <a:prstGeom prst="rect">
            <a:avLst/>
          </a:prstGeom>
        </p:spPr>
        <p:txBody>
          <a:bodyPr vert="horz" lIns="0" tIns="0" rIns="0" bIns="0" rtlCol="0" anchor="ctr"/>
          <a:lstStyle>
            <a:defPPr>
              <a:defRPr lang="en-US"/>
            </a:defPPr>
            <a:lvl1pPr marL="0" algn="r" defTabSz="914400" rtl="0" eaLnBrk="1" latinLnBrk="0" hangingPunct="1">
              <a:defRPr sz="675"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GB">
              <a:solidFill>
                <a:srgbClr val="3B3A3D"/>
              </a:solidFill>
              <a:cs typeface="Arial"/>
            </a:endParaRPr>
          </a:p>
        </p:txBody>
      </p:sp>
      <p:sp>
        <p:nvSpPr>
          <p:cNvPr id="101" name="Rectangle 100">
            <a:extLst>
              <a:ext uri="{FF2B5EF4-FFF2-40B4-BE49-F238E27FC236}">
                <a16:creationId xmlns:a16="http://schemas.microsoft.com/office/drawing/2014/main" id="{6A18C734-6F8B-4960-98CB-7FEE4F27235C}"/>
              </a:ext>
            </a:extLst>
          </p:cNvPr>
          <p:cNvSpPr/>
          <p:nvPr/>
        </p:nvSpPr>
        <p:spPr>
          <a:xfrm>
            <a:off x="0" y="654050"/>
            <a:ext cx="5006658" cy="5192917"/>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Box 62">
            <a:extLst>
              <a:ext uri="{FF2B5EF4-FFF2-40B4-BE49-F238E27FC236}">
                <a16:creationId xmlns:a16="http://schemas.microsoft.com/office/drawing/2014/main" id="{6DF69BF2-1D7B-4A55-9DB4-31FA4CB226E1}"/>
              </a:ext>
            </a:extLst>
          </p:cNvPr>
          <p:cNvSpPr txBox="1"/>
          <p:nvPr/>
        </p:nvSpPr>
        <p:spPr>
          <a:xfrm>
            <a:off x="82576" y="951442"/>
            <a:ext cx="4841507" cy="4809073"/>
          </a:xfrm>
          <a:prstGeom prst="rect">
            <a:avLst/>
          </a:prstGeom>
          <a:noFill/>
        </p:spPr>
        <p:txBody>
          <a:bodyPr wrap="square" lIns="91440" tIns="45720" rIns="91440" bIns="45720" rtlCol="0" anchor="t">
            <a:spAutoFit/>
          </a:bodyPr>
          <a:lstStyle/>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Connecting to </a:t>
            </a:r>
            <a:r>
              <a:rPr lang="en-GB" sz="1600" b="1" dirty="0">
                <a:solidFill>
                  <a:srgbClr val="98D0CD"/>
                </a:solidFill>
                <a:effectLst/>
                <a:latin typeface="Calibri (Headings)"/>
                <a:ea typeface="Calibri" panose="020F0502020204030204" pitchFamily="34" charset="0"/>
                <a:cs typeface="Times New Roman"/>
              </a:rPr>
              <a:t>TDR</a:t>
            </a:r>
            <a:r>
              <a:rPr lang="en-GB" sz="1600" dirty="0">
                <a:effectLst/>
                <a:latin typeface="Calibri (Headings)"/>
                <a:ea typeface="Calibri" panose="020F0502020204030204" pitchFamily="34" charset="0"/>
                <a:cs typeface="Times New Roman"/>
              </a:rPr>
              <a:t> </a:t>
            </a:r>
            <a:r>
              <a:rPr lang="en-GB" sz="1600" dirty="0">
                <a:solidFill>
                  <a:schemeClr val="bg1"/>
                </a:solidFill>
                <a:effectLst/>
                <a:latin typeface="Calibri (Headings)"/>
                <a:ea typeface="Calibri" panose="020F0502020204030204" pitchFamily="34" charset="0"/>
                <a:cs typeface="Times New Roman"/>
              </a:rPr>
              <a:t>has been designed to be both simple &amp; straightforward.</a:t>
            </a:r>
          </a:p>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The connection process is similar to TT </a:t>
            </a:r>
            <a:r>
              <a:rPr lang="en-GB" sz="1600" b="1" dirty="0">
                <a:solidFill>
                  <a:srgbClr val="98D0CD"/>
                </a:solidFill>
                <a:latin typeface="Calibri (Headings)"/>
                <a:ea typeface="Calibri" panose="020F0502020204030204" pitchFamily="34" charset="0"/>
                <a:cs typeface="Times New Roman"/>
              </a:rPr>
              <a:t>but Declarants will use their real account data</a:t>
            </a:r>
            <a:r>
              <a:rPr lang="en-GB" sz="1600" dirty="0">
                <a:solidFill>
                  <a:srgbClr val="98D0CD"/>
                </a:solidFill>
                <a:effectLst/>
                <a:latin typeface="Calibri (Headings)"/>
                <a:ea typeface="Calibri" panose="020F0502020204030204" pitchFamily="34" charset="0"/>
                <a:cs typeface="Times New Roman"/>
              </a:rPr>
              <a:t>.</a:t>
            </a:r>
          </a:p>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A </a:t>
            </a:r>
            <a:r>
              <a:rPr lang="en-GB" sz="1600" b="1" dirty="0">
                <a:solidFill>
                  <a:srgbClr val="7EC4C0"/>
                </a:solidFill>
                <a:effectLst/>
                <a:latin typeface="Calibri (Headings)"/>
                <a:ea typeface="Calibri" panose="020F0502020204030204" pitchFamily="34" charset="0"/>
                <a:cs typeface="Times New Roman"/>
              </a:rPr>
              <a:t>Software</a:t>
            </a:r>
            <a:r>
              <a:rPr lang="en-GB" sz="1600" b="1" dirty="0">
                <a:solidFill>
                  <a:srgbClr val="008680"/>
                </a:solidFill>
                <a:effectLst/>
                <a:latin typeface="Calibri (Headings)"/>
                <a:ea typeface="Calibri" panose="020F0502020204030204" pitchFamily="34" charset="0"/>
                <a:cs typeface="Times New Roman"/>
              </a:rPr>
              <a:t> </a:t>
            </a:r>
            <a:r>
              <a:rPr lang="en-GB" sz="1600" b="1" dirty="0">
                <a:solidFill>
                  <a:srgbClr val="7EC4C0"/>
                </a:solidFill>
                <a:effectLst/>
                <a:latin typeface="Calibri (Headings)"/>
                <a:ea typeface="Calibri" panose="020F0502020204030204" pitchFamily="34" charset="0"/>
                <a:cs typeface="Times New Roman"/>
              </a:rPr>
              <a:t>Developer</a:t>
            </a:r>
            <a:r>
              <a:rPr lang="en-GB" sz="1600" dirty="0">
                <a:solidFill>
                  <a:schemeClr val="bg1"/>
                </a:solidFill>
                <a:effectLst/>
                <a:latin typeface="Calibri (Headings)"/>
                <a:ea typeface="Calibri" panose="020F0502020204030204" pitchFamily="34" charset="0"/>
                <a:cs typeface="Times New Roman"/>
              </a:rPr>
              <a:t>, on behalf of their Declarant, must request access to the TDR environment from </a:t>
            </a:r>
            <a:r>
              <a:rPr lang="en-GB" sz="1600" b="1" dirty="0">
                <a:solidFill>
                  <a:srgbClr val="98D0CD"/>
                </a:solidFill>
                <a:effectLst/>
                <a:latin typeface="Calibri (Headings)"/>
                <a:ea typeface="Calibri" panose="020F0502020204030204" pitchFamily="34" charset="0"/>
                <a:cs typeface="Times New Roman"/>
              </a:rPr>
              <a:t>SDST</a:t>
            </a:r>
            <a:r>
              <a:rPr lang="en-GB" sz="1600" dirty="0">
                <a:solidFill>
                  <a:schemeClr val="bg1"/>
                </a:solidFill>
                <a:effectLst/>
                <a:latin typeface="Calibri (Headings)"/>
                <a:ea typeface="Calibri" panose="020F0502020204030204" pitchFamily="34" charset="0"/>
                <a:cs typeface="Times New Roman"/>
              </a:rPr>
              <a:t>, who will review and verify the application before providing the required API versions.</a:t>
            </a:r>
            <a:r>
              <a:rPr lang="en-GB" sz="1600" dirty="0">
                <a:solidFill>
                  <a:schemeClr val="bg1"/>
                </a:solidFill>
                <a:latin typeface="Calibri (Headings)"/>
                <a:ea typeface="Calibri" panose="020F0502020204030204" pitchFamily="34" charset="0"/>
                <a:cs typeface="Times New Roman"/>
              </a:rPr>
              <a:t> </a:t>
            </a:r>
            <a:endParaRPr lang="en-GB" sz="1600" dirty="0">
              <a:solidFill>
                <a:schemeClr val="bg1"/>
              </a:solidFill>
              <a:effectLst/>
              <a:latin typeface="Calibri (Headings)"/>
              <a:ea typeface="Calibri" panose="020F0502020204030204" pitchFamily="34" charset="0"/>
              <a:cs typeface="Times New Roman" panose="02020603050405020304" pitchFamily="18" charset="0"/>
            </a:endParaRPr>
          </a:p>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Software Developers may also find it helpful to notify </a:t>
            </a:r>
            <a:r>
              <a:rPr lang="en-GB" sz="1600" b="1" dirty="0">
                <a:solidFill>
                  <a:srgbClr val="7EC4C0"/>
                </a:solidFill>
                <a:effectLst/>
                <a:latin typeface="Calibri (Headings)"/>
                <a:ea typeface="Calibri" panose="020F0502020204030204" pitchFamily="34" charset="0"/>
                <a:cs typeface="Times New Roman"/>
              </a:rPr>
              <a:t>TDR</a:t>
            </a:r>
            <a:r>
              <a:rPr lang="en-GB" sz="1600" b="1" dirty="0">
                <a:solidFill>
                  <a:srgbClr val="008680"/>
                </a:solidFill>
                <a:effectLst/>
                <a:latin typeface="Calibri (Headings)"/>
                <a:ea typeface="Calibri" panose="020F0502020204030204" pitchFamily="34" charset="0"/>
                <a:cs typeface="Times New Roman"/>
              </a:rPr>
              <a:t> </a:t>
            </a:r>
            <a:r>
              <a:rPr lang="en-GB" sz="1600" b="1" dirty="0">
                <a:solidFill>
                  <a:srgbClr val="7EC4C0"/>
                </a:solidFill>
                <a:effectLst/>
                <a:latin typeface="Calibri (Headings)"/>
                <a:ea typeface="Calibri" panose="020F0502020204030204" pitchFamily="34" charset="0"/>
                <a:cs typeface="Times New Roman"/>
              </a:rPr>
              <a:t>Comms</a:t>
            </a:r>
            <a:r>
              <a:rPr lang="en-GB" sz="1600" dirty="0">
                <a:solidFill>
                  <a:srgbClr val="008680"/>
                </a:solidFill>
                <a:effectLst/>
                <a:latin typeface="Calibri (Headings)"/>
                <a:ea typeface="Calibri" panose="020F0502020204030204" pitchFamily="34" charset="0"/>
                <a:cs typeface="Times New Roman"/>
              </a:rPr>
              <a:t> </a:t>
            </a:r>
            <a:r>
              <a:rPr lang="en-GB" sz="1600" dirty="0">
                <a:solidFill>
                  <a:schemeClr val="bg1"/>
                </a:solidFill>
                <a:effectLst/>
                <a:latin typeface="Calibri (Headings)"/>
                <a:ea typeface="Calibri" panose="020F0502020204030204" pitchFamily="34" charset="0"/>
                <a:cs typeface="Times New Roman"/>
              </a:rPr>
              <a:t>at the same time, who can add their details to the distribution </a:t>
            </a:r>
            <a:r>
              <a:rPr lang="en-GB" sz="1600" dirty="0">
                <a:solidFill>
                  <a:schemeClr val="bg1"/>
                </a:solidFill>
                <a:latin typeface="Calibri (Headings)"/>
                <a:ea typeface="Calibri" panose="020F0502020204030204" pitchFamily="34" charset="0"/>
                <a:cs typeface="Times New Roman"/>
              </a:rPr>
              <a:t>l</a:t>
            </a:r>
            <a:r>
              <a:rPr lang="en-GB" sz="1600" dirty="0">
                <a:solidFill>
                  <a:schemeClr val="bg1"/>
                </a:solidFill>
                <a:effectLst/>
                <a:latin typeface="Calibri (Headings)"/>
                <a:ea typeface="Calibri" panose="020F0502020204030204" pitchFamily="34" charset="0"/>
                <a:cs typeface="Times New Roman"/>
              </a:rPr>
              <a:t>ist for all future communication messages such as planned </a:t>
            </a:r>
            <a:r>
              <a:rPr lang="en-GB" sz="1600" dirty="0">
                <a:solidFill>
                  <a:schemeClr val="bg1"/>
                </a:solidFill>
                <a:latin typeface="Calibri (Headings)"/>
                <a:ea typeface="Calibri" panose="020F0502020204030204" pitchFamily="34" charset="0"/>
                <a:cs typeface="Times New Roman"/>
              </a:rPr>
              <a:t>o</a:t>
            </a:r>
            <a:r>
              <a:rPr lang="en-GB" sz="1600" dirty="0">
                <a:solidFill>
                  <a:schemeClr val="bg1"/>
                </a:solidFill>
                <a:effectLst/>
                <a:latin typeface="Calibri (Headings)"/>
                <a:ea typeface="Calibri" panose="020F0502020204030204" pitchFamily="34" charset="0"/>
                <a:cs typeface="Times New Roman"/>
              </a:rPr>
              <a:t>utages and unexpected Loss of service.</a:t>
            </a:r>
          </a:p>
          <a:p>
            <a:pPr>
              <a:lnSpc>
                <a:spcPct val="107000"/>
              </a:lnSpc>
              <a:spcAft>
                <a:spcPts val="800"/>
              </a:spcAft>
            </a:pPr>
            <a:r>
              <a:rPr lang="en-GB" sz="1600" dirty="0">
                <a:solidFill>
                  <a:schemeClr val="bg1"/>
                </a:solidFill>
                <a:effectLst/>
                <a:latin typeface="Calibri (Headings)"/>
                <a:ea typeface="Calibri" panose="020F0502020204030204" pitchFamily="34" charset="0"/>
                <a:cs typeface="Times New Roman"/>
              </a:rPr>
              <a:t>As with TT, </a:t>
            </a:r>
            <a:r>
              <a:rPr lang="en-GB" sz="1600" dirty="0">
                <a:solidFill>
                  <a:schemeClr val="bg1"/>
                </a:solidFill>
                <a:latin typeface="Calibri (Headings)"/>
                <a:ea typeface="Calibri" panose="020F0502020204030204" pitchFamily="34" charset="0"/>
                <a:cs typeface="Times New Roman"/>
              </a:rPr>
              <a:t>it is a good idea to maintain ongoing access to the </a:t>
            </a:r>
            <a:r>
              <a:rPr lang="en-GB" sz="1600" b="1" dirty="0">
                <a:solidFill>
                  <a:srgbClr val="7EC4C0"/>
                </a:solidFill>
                <a:effectLst/>
                <a:latin typeface="Calibri (Headings)"/>
                <a:ea typeface="Calibri" panose="020F0502020204030204" pitchFamily="34" charset="0"/>
                <a:cs typeface="Times New Roman"/>
              </a:rPr>
              <a:t>TDR </a:t>
            </a:r>
            <a:r>
              <a:rPr lang="en-GB" sz="1600" dirty="0">
                <a:solidFill>
                  <a:schemeClr val="bg1"/>
                </a:solidFill>
                <a:latin typeface="Calibri (Headings)"/>
                <a:ea typeface="Calibri" panose="020F0502020204030204" pitchFamily="34" charset="0"/>
                <a:cs typeface="Times New Roman"/>
              </a:rPr>
              <a:t>environment.</a:t>
            </a:r>
          </a:p>
          <a:p>
            <a:pPr>
              <a:lnSpc>
                <a:spcPct val="107000"/>
              </a:lnSpc>
              <a:spcAft>
                <a:spcPts val="800"/>
              </a:spcAft>
            </a:pPr>
            <a:r>
              <a:rPr lang="en-GB" sz="1600" dirty="0">
                <a:solidFill>
                  <a:schemeClr val="bg1"/>
                </a:solidFill>
                <a:latin typeface="Calibri (Headings)"/>
                <a:ea typeface="Calibri" panose="020F0502020204030204" pitchFamily="34" charset="0"/>
                <a:cs typeface="Times New Roman"/>
              </a:rPr>
              <a:t>Existing TDR users, please see </a:t>
            </a:r>
            <a:r>
              <a:rPr lang="en-GB" sz="1600" dirty="0">
                <a:solidFill>
                  <a:schemeClr val="bg1"/>
                </a:solidFill>
                <a:latin typeface="Calibri (Headings)"/>
                <a:ea typeface="Calibri" panose="020F0502020204030204" pitchFamily="34" charset="0"/>
                <a:cs typeface="Times New Roman"/>
                <a:hlinkClick r:id="rId3" action="ppaction://hlinksldjump">
                  <a:extLst>
                    <a:ext uri="{A12FA001-AC4F-418D-AE19-62706E023703}">
                      <ahyp:hlinkClr xmlns:ahyp="http://schemas.microsoft.com/office/drawing/2018/hyperlinkcolor" val="tx"/>
                    </a:ext>
                  </a:extLst>
                </a:hlinkClick>
              </a:rPr>
              <a:t>slide 11</a:t>
            </a:r>
            <a:r>
              <a:rPr lang="en-GB" sz="1600" dirty="0">
                <a:solidFill>
                  <a:schemeClr val="bg1"/>
                </a:solidFill>
                <a:latin typeface="Calibri (Headings)"/>
                <a:ea typeface="Calibri" panose="020F0502020204030204" pitchFamily="34" charset="0"/>
                <a:cs typeface="Times New Roman"/>
              </a:rPr>
              <a:t>.</a:t>
            </a:r>
            <a:endParaRPr lang="en-GB" sz="1600" dirty="0">
              <a:solidFill>
                <a:schemeClr val="bg1"/>
              </a:solidFill>
              <a:effectLst/>
              <a:latin typeface="Calibri (Headings)"/>
              <a:ea typeface="Calibri" panose="020F050202020403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2E59294F-4DC4-4AA5-8AE8-4029A097ADB1}"/>
              </a:ext>
            </a:extLst>
          </p:cNvPr>
          <p:cNvSpPr/>
          <p:nvPr/>
        </p:nvSpPr>
        <p:spPr>
          <a:xfrm>
            <a:off x="0" y="5787482"/>
            <a:ext cx="12192000" cy="10776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400" b="1" i="0" strike="noStrike" kern="1200" cap="none" spc="0" normalizeH="0" baseline="0" noProof="0">
                <a:ln>
                  <a:noFill/>
                </a:ln>
                <a:solidFill>
                  <a:srgbClr val="00928D"/>
                </a:solidFill>
                <a:effectLst/>
                <a:uLnTx/>
                <a:uFillTx/>
                <a:cs typeface="Arial" panose="020B0604020202020204" pitchFamily="34" charset="0"/>
              </a:rPr>
              <a:t>APIs currently available in TDR:</a:t>
            </a:r>
          </a:p>
          <a:p>
            <a:pPr marL="0" marR="0" lvl="0" indent="0" algn="ctr" defTabSz="914400" rtl="0" eaLnBrk="1" fontAlgn="auto" latinLnBrk="0" hangingPunct="1">
              <a:lnSpc>
                <a:spcPct val="150000"/>
              </a:lnSpc>
              <a:spcBef>
                <a:spcPts val="0"/>
              </a:spcBef>
              <a:spcAft>
                <a:spcPts val="0"/>
              </a:spcAft>
              <a:buClrTx/>
              <a:buSzTx/>
              <a:buFontTx/>
              <a:buNone/>
              <a:tabLst/>
              <a:defRPr/>
            </a:pPr>
            <a:r>
              <a:rPr lang="en-GB" sz="1400" b="1">
                <a:solidFill>
                  <a:srgbClr val="00928D"/>
                </a:solidFill>
                <a:cs typeface="Arial" panose="020B0604020202020204" pitchFamily="34" charset="0"/>
              </a:rPr>
              <a:t>Customs Declarations 1.0   |   Customs Inventory Linked Exports 2.0   |   Customs Declaration Information 2.0   |   Pull Notifications 1.0</a:t>
            </a:r>
          </a:p>
          <a:p>
            <a:pPr algn="ctr">
              <a:lnSpc>
                <a:spcPct val="150000"/>
              </a:lnSpc>
              <a:defRPr/>
            </a:pPr>
            <a:r>
              <a:rPr lang="en-GB" sz="1400">
                <a:solidFill>
                  <a:srgbClr val="00928D"/>
                </a:solidFill>
                <a:cs typeface="Arial" panose="020B0604020202020204" pitchFamily="34" charset="0"/>
              </a:rPr>
              <a:t>More information about APIs can be found on the </a:t>
            </a:r>
            <a:r>
              <a:rPr lang="en-GB" sz="1400" b="1">
                <a:solidFill>
                  <a:srgbClr val="00928D"/>
                </a:solidFill>
                <a:cs typeface="Arial" panose="020B0604020202020204" pitchFamily="34" charset="0"/>
                <a:hlinkClick r:id="rId4">
                  <a:extLst>
                    <a:ext uri="{A12FA001-AC4F-418D-AE19-62706E023703}">
                      <ahyp:hlinkClr xmlns:ahyp="http://schemas.microsoft.com/office/drawing/2018/hyperlinkcolor" val="tx"/>
                    </a:ext>
                  </a:extLst>
                </a:hlinkClick>
              </a:rPr>
              <a:t>Developer Hub</a:t>
            </a:r>
            <a:r>
              <a:rPr lang="en-GB" sz="1400" b="1">
                <a:solidFill>
                  <a:srgbClr val="00928D"/>
                </a:solidFill>
                <a:cs typeface="Arial" panose="020B0604020202020204" pitchFamily="34" charset="0"/>
              </a:rPr>
              <a:t>.</a:t>
            </a:r>
            <a:r>
              <a:rPr kumimoji="0" lang="en-GB" sz="1400" b="0" i="0" u="none" strike="noStrike" kern="1200" cap="none" spc="0" normalizeH="0" baseline="0" noProof="0">
                <a:ln>
                  <a:noFill/>
                </a:ln>
                <a:solidFill>
                  <a:srgbClr val="00928D"/>
                </a:solidFill>
                <a:effectLst/>
                <a:uLnTx/>
                <a:uFillTx/>
                <a:latin typeface="Calibri"/>
                <a:ea typeface="+mn-ea"/>
                <a:cs typeface="+mn-cs"/>
              </a:rPr>
              <a:t>	 </a:t>
            </a:r>
          </a:p>
        </p:txBody>
      </p:sp>
      <p:sp>
        <p:nvSpPr>
          <p:cNvPr id="57" name="TextBox 56">
            <a:extLst>
              <a:ext uri="{FF2B5EF4-FFF2-40B4-BE49-F238E27FC236}">
                <a16:creationId xmlns:a16="http://schemas.microsoft.com/office/drawing/2014/main" id="{BAA572DA-7ACF-4F81-BAF9-18F7602142C9}"/>
              </a:ext>
            </a:extLst>
          </p:cNvPr>
          <p:cNvSpPr txBox="1"/>
          <p:nvPr/>
        </p:nvSpPr>
        <p:spPr>
          <a:xfrm>
            <a:off x="5397256" y="948782"/>
            <a:ext cx="3494914" cy="375552"/>
          </a:xfrm>
          <a:prstGeom prst="rect">
            <a:avLst/>
          </a:prstGeom>
          <a:noFill/>
        </p:spPr>
        <p:txBody>
          <a:bodyPr wrap="square" lIns="91440" tIns="45720" rIns="91440" bIns="45720" anchor="t">
            <a:spAutoFit/>
          </a:bodyPr>
          <a:lstStyle/>
          <a:p>
            <a:pPr>
              <a:lnSpc>
                <a:spcPct val="107000"/>
              </a:lnSpc>
              <a:spcAft>
                <a:spcPts val="800"/>
              </a:spcAft>
            </a:pPr>
            <a:r>
              <a:rPr lang="en-GB" b="1">
                <a:solidFill>
                  <a:srgbClr val="00928D"/>
                </a:solidFill>
                <a:effectLst/>
                <a:latin typeface="Calibri (Headings)"/>
                <a:ea typeface="Calibri" panose="020F0502020204030204" pitchFamily="34" charset="0"/>
                <a:cs typeface="Calibri"/>
              </a:rPr>
              <a:t>TDR Setup &amp; Proving:</a:t>
            </a:r>
            <a:endParaRPr lang="en-US" sz="2400">
              <a:solidFill>
                <a:srgbClr val="00928D"/>
              </a:solidFill>
              <a:cs typeface="Calibri"/>
            </a:endParaRPr>
          </a:p>
        </p:txBody>
      </p:sp>
      <p:grpSp>
        <p:nvGrpSpPr>
          <p:cNvPr id="46" name="Group 45">
            <a:extLst>
              <a:ext uri="{FF2B5EF4-FFF2-40B4-BE49-F238E27FC236}">
                <a16:creationId xmlns:a16="http://schemas.microsoft.com/office/drawing/2014/main" id="{2BD7BF8B-96E3-4F26-985E-B3DEF9B5157E}"/>
              </a:ext>
            </a:extLst>
          </p:cNvPr>
          <p:cNvGrpSpPr/>
          <p:nvPr/>
        </p:nvGrpSpPr>
        <p:grpSpPr>
          <a:xfrm>
            <a:off x="5162406" y="-63328"/>
            <a:ext cx="6841472" cy="910091"/>
            <a:chOff x="5162406" y="-63328"/>
            <a:chExt cx="6841472" cy="910091"/>
          </a:xfrm>
        </p:grpSpPr>
        <p:graphicFrame>
          <p:nvGraphicFramePr>
            <p:cNvPr id="47" name="Diagram 46">
              <a:extLst>
                <a:ext uri="{FF2B5EF4-FFF2-40B4-BE49-F238E27FC236}">
                  <a16:creationId xmlns:a16="http://schemas.microsoft.com/office/drawing/2014/main" id="{4082BF68-1DEB-4950-86E2-B98A8B3DBA4E}"/>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8" name="Graphic 47" descr="Clapper board with solid fill">
              <a:extLst>
                <a:ext uri="{FF2B5EF4-FFF2-40B4-BE49-F238E27FC236}">
                  <a16:creationId xmlns:a16="http://schemas.microsoft.com/office/drawing/2014/main" id="{56600186-7850-4C40-B6A5-CE3E22A7B18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12252" y="245203"/>
              <a:ext cx="295446" cy="295446"/>
            </a:xfrm>
            <a:prstGeom prst="rect">
              <a:avLst/>
            </a:prstGeom>
          </p:spPr>
        </p:pic>
        <p:pic>
          <p:nvPicPr>
            <p:cNvPr id="49" name="Graphic 48" descr="Plugged Unplugged with solid fill">
              <a:extLst>
                <a:ext uri="{FF2B5EF4-FFF2-40B4-BE49-F238E27FC236}">
                  <a16:creationId xmlns:a16="http://schemas.microsoft.com/office/drawing/2014/main" id="{4553B0AB-E533-457C-88A5-2EA185A08F4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413896" y="245203"/>
              <a:ext cx="295445" cy="295445"/>
            </a:xfrm>
            <a:prstGeom prst="rect">
              <a:avLst/>
            </a:prstGeom>
          </p:spPr>
        </p:pic>
        <p:pic>
          <p:nvPicPr>
            <p:cNvPr id="50" name="Graphic 49" descr="Internet Of Things with solid fill">
              <a:extLst>
                <a:ext uri="{FF2B5EF4-FFF2-40B4-BE49-F238E27FC236}">
                  <a16:creationId xmlns:a16="http://schemas.microsoft.com/office/drawing/2014/main" id="{B03B3E98-D589-4FE8-AAE0-E410EB4BAFC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30880" y="245203"/>
              <a:ext cx="295445" cy="295445"/>
            </a:xfrm>
            <a:prstGeom prst="rect">
              <a:avLst/>
            </a:prstGeom>
          </p:spPr>
        </p:pic>
        <p:pic>
          <p:nvPicPr>
            <p:cNvPr id="51" name="Graphic 50" descr="Ui Ux with solid fill">
              <a:extLst>
                <a:ext uri="{FF2B5EF4-FFF2-40B4-BE49-F238E27FC236}">
                  <a16:creationId xmlns:a16="http://schemas.microsoft.com/office/drawing/2014/main" id="{D448C6D1-F46B-4063-8F23-FC81168E1FF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472388" y="245203"/>
              <a:ext cx="295445" cy="295445"/>
            </a:xfrm>
            <a:prstGeom prst="rect">
              <a:avLst/>
            </a:prstGeom>
          </p:spPr>
        </p:pic>
        <p:pic>
          <p:nvPicPr>
            <p:cNvPr id="52" name="Graphic 51" descr="Open hand with plant with solid fill">
              <a:extLst>
                <a:ext uri="{FF2B5EF4-FFF2-40B4-BE49-F238E27FC236}">
                  <a16:creationId xmlns:a16="http://schemas.microsoft.com/office/drawing/2014/main" id="{59340E47-F13A-4A0C-B9FC-9F09732589D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77438" y="245203"/>
              <a:ext cx="307665" cy="307665"/>
            </a:xfrm>
            <a:prstGeom prst="rect">
              <a:avLst/>
            </a:prstGeom>
          </p:spPr>
        </p:pic>
        <p:pic>
          <p:nvPicPr>
            <p:cNvPr id="53" name="Graphic 52" descr="Books with solid fill">
              <a:extLst>
                <a:ext uri="{FF2B5EF4-FFF2-40B4-BE49-F238E27FC236}">
                  <a16:creationId xmlns:a16="http://schemas.microsoft.com/office/drawing/2014/main" id="{0479352E-DFA6-45EC-8595-09CCAB6C2F8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272672" y="245203"/>
              <a:ext cx="295445" cy="295445"/>
            </a:xfrm>
            <a:prstGeom prst="rect">
              <a:avLst/>
            </a:prstGeom>
          </p:spPr>
        </p:pic>
        <p:pic>
          <p:nvPicPr>
            <p:cNvPr id="54" name="Graphic 53" descr="Questions with solid fill">
              <a:extLst>
                <a:ext uri="{FF2B5EF4-FFF2-40B4-BE49-F238E27FC236}">
                  <a16:creationId xmlns:a16="http://schemas.microsoft.com/office/drawing/2014/main" id="{34340231-E427-41D8-988E-D05887CCC58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298115" y="245203"/>
              <a:ext cx="295445" cy="295445"/>
            </a:xfrm>
            <a:prstGeom prst="rect">
              <a:avLst/>
            </a:prstGeom>
          </p:spPr>
        </p:pic>
      </p:grpSp>
      <p:grpSp>
        <p:nvGrpSpPr>
          <p:cNvPr id="2" name="Group 1">
            <a:extLst>
              <a:ext uri="{FF2B5EF4-FFF2-40B4-BE49-F238E27FC236}">
                <a16:creationId xmlns:a16="http://schemas.microsoft.com/office/drawing/2014/main" id="{D7AAF97A-62B5-42FC-877C-B1CAA15A58F4}"/>
              </a:ext>
            </a:extLst>
          </p:cNvPr>
          <p:cNvGrpSpPr/>
          <p:nvPr/>
        </p:nvGrpSpPr>
        <p:grpSpPr>
          <a:xfrm>
            <a:off x="5533685" y="1474592"/>
            <a:ext cx="6055865" cy="410173"/>
            <a:chOff x="5512252" y="1576192"/>
            <a:chExt cx="6055865" cy="410173"/>
          </a:xfrm>
        </p:grpSpPr>
        <p:sp>
          <p:nvSpPr>
            <p:cNvPr id="58" name="Rectangle 57">
              <a:extLst>
                <a:ext uri="{FF2B5EF4-FFF2-40B4-BE49-F238E27FC236}">
                  <a16:creationId xmlns:a16="http://schemas.microsoft.com/office/drawing/2014/main" id="{95415F0B-EBE4-49A5-8029-871D27776B78}"/>
                </a:ext>
              </a:extLst>
            </p:cNvPr>
            <p:cNvSpPr/>
            <p:nvPr/>
          </p:nvSpPr>
          <p:spPr>
            <a:xfrm>
              <a:off x="5512252" y="1576192"/>
              <a:ext cx="379141" cy="410172"/>
            </a:xfrm>
            <a:prstGeom prst="rect">
              <a:avLst/>
            </a:prstGeom>
            <a:solidFill>
              <a:srgbClr val="A3C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59" name="Rectangle 58">
              <a:extLst>
                <a:ext uri="{FF2B5EF4-FFF2-40B4-BE49-F238E27FC236}">
                  <a16:creationId xmlns:a16="http://schemas.microsoft.com/office/drawing/2014/main" id="{B9133304-5728-4A78-A5B0-0F06CDEDF3CF}"/>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Create an application and register the ID via </a:t>
              </a:r>
              <a:r>
                <a:rPr lang="en-GB" sz="1400" dirty="0">
                  <a:solidFill>
                    <a:srgbClr val="008680"/>
                  </a:solidFill>
                  <a:hlinkClick r:id="rId24">
                    <a:extLst>
                      <a:ext uri="{A12FA001-AC4F-418D-AE19-62706E023703}">
                        <ahyp:hlinkClr xmlns:ahyp="http://schemas.microsoft.com/office/drawing/2018/hyperlinkcolor" val="tx"/>
                      </a:ext>
                    </a:extLst>
                  </a:hlinkClick>
                </a:rPr>
                <a:t>Developer Hub</a:t>
              </a:r>
              <a:r>
                <a:rPr lang="en-GB" sz="1400" dirty="0">
                  <a:solidFill>
                    <a:srgbClr val="008680"/>
                  </a:solidFill>
                </a:rPr>
                <a:t>. </a:t>
              </a:r>
              <a:r>
                <a:rPr lang="en-GB" sz="1400" dirty="0">
                  <a:solidFill>
                    <a:schemeClr val="tx1"/>
                  </a:solidFill>
                </a:rPr>
                <a:t>Alternatively, subscribe to TDR with the same application created for TT.</a:t>
              </a:r>
            </a:p>
          </p:txBody>
        </p:sp>
      </p:grpSp>
      <p:grpSp>
        <p:nvGrpSpPr>
          <p:cNvPr id="60" name="Group 59">
            <a:extLst>
              <a:ext uri="{FF2B5EF4-FFF2-40B4-BE49-F238E27FC236}">
                <a16:creationId xmlns:a16="http://schemas.microsoft.com/office/drawing/2014/main" id="{271805C8-AED3-4C50-9574-E1C790AA0D37}"/>
              </a:ext>
            </a:extLst>
          </p:cNvPr>
          <p:cNvGrpSpPr/>
          <p:nvPr/>
        </p:nvGrpSpPr>
        <p:grpSpPr>
          <a:xfrm>
            <a:off x="5533685" y="1990700"/>
            <a:ext cx="6055865" cy="410173"/>
            <a:chOff x="5512252" y="1576192"/>
            <a:chExt cx="6055865" cy="410173"/>
          </a:xfrm>
        </p:grpSpPr>
        <p:sp>
          <p:nvSpPr>
            <p:cNvPr id="61" name="Rectangle 60">
              <a:extLst>
                <a:ext uri="{FF2B5EF4-FFF2-40B4-BE49-F238E27FC236}">
                  <a16:creationId xmlns:a16="http://schemas.microsoft.com/office/drawing/2014/main" id="{D3D7BF28-30F1-4CBB-AD1A-F2C7F003A21F}"/>
                </a:ext>
              </a:extLst>
            </p:cNvPr>
            <p:cNvSpPr/>
            <p:nvPr/>
          </p:nvSpPr>
          <p:spPr>
            <a:xfrm>
              <a:off x="5512252" y="1576192"/>
              <a:ext cx="379141" cy="410172"/>
            </a:xfrm>
            <a:prstGeom prst="rect">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62" name="Rectangle 61">
              <a:extLst>
                <a:ext uri="{FF2B5EF4-FFF2-40B4-BE49-F238E27FC236}">
                  <a16:creationId xmlns:a16="http://schemas.microsoft.com/office/drawing/2014/main" id="{CE3532E4-6FD5-4F5F-A34D-6FF946AB6A0D}"/>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Request access to TDR APIs from SDST who will authenticate the Application. </a:t>
              </a:r>
            </a:p>
          </p:txBody>
        </p:sp>
      </p:grpSp>
      <p:grpSp>
        <p:nvGrpSpPr>
          <p:cNvPr id="67" name="Group 66">
            <a:extLst>
              <a:ext uri="{FF2B5EF4-FFF2-40B4-BE49-F238E27FC236}">
                <a16:creationId xmlns:a16="http://schemas.microsoft.com/office/drawing/2014/main" id="{93605361-FB93-4C09-892D-663516B724AF}"/>
              </a:ext>
            </a:extLst>
          </p:cNvPr>
          <p:cNvGrpSpPr/>
          <p:nvPr/>
        </p:nvGrpSpPr>
        <p:grpSpPr>
          <a:xfrm>
            <a:off x="5533685" y="2506808"/>
            <a:ext cx="6055865" cy="410173"/>
            <a:chOff x="5512252" y="1576192"/>
            <a:chExt cx="6055865" cy="410173"/>
          </a:xfrm>
        </p:grpSpPr>
        <p:sp>
          <p:nvSpPr>
            <p:cNvPr id="68" name="Rectangle 67">
              <a:extLst>
                <a:ext uri="{FF2B5EF4-FFF2-40B4-BE49-F238E27FC236}">
                  <a16:creationId xmlns:a16="http://schemas.microsoft.com/office/drawing/2014/main" id="{B16BB378-ACB2-4F97-87C1-5C225E2AEC9C}"/>
                </a:ext>
              </a:extLst>
            </p:cNvPr>
            <p:cNvSpPr/>
            <p:nvPr/>
          </p:nvSpPr>
          <p:spPr>
            <a:xfrm>
              <a:off x="5512252" y="1576192"/>
              <a:ext cx="379141" cy="410172"/>
            </a:xfrm>
            <a:prstGeom prst="rect">
              <a:avLst/>
            </a:prstGeom>
            <a:solidFill>
              <a:srgbClr val="008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69" name="Rectangle 68">
              <a:extLst>
                <a:ext uri="{FF2B5EF4-FFF2-40B4-BE49-F238E27FC236}">
                  <a16:creationId xmlns:a16="http://schemas.microsoft.com/office/drawing/2014/main" id="{76758EA7-6935-4384-A976-34AFE651ADB3}"/>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Access Developer Hub &amp; subscribe to the TDR APIs, ensuring subscription configuration fields are completed if applicable.</a:t>
              </a:r>
            </a:p>
          </p:txBody>
        </p:sp>
      </p:grpSp>
      <p:grpSp>
        <p:nvGrpSpPr>
          <p:cNvPr id="70" name="Group 69">
            <a:extLst>
              <a:ext uri="{FF2B5EF4-FFF2-40B4-BE49-F238E27FC236}">
                <a16:creationId xmlns:a16="http://schemas.microsoft.com/office/drawing/2014/main" id="{A4C11516-6013-429A-84FF-97CFD9936BCF}"/>
              </a:ext>
            </a:extLst>
          </p:cNvPr>
          <p:cNvGrpSpPr/>
          <p:nvPr/>
        </p:nvGrpSpPr>
        <p:grpSpPr>
          <a:xfrm>
            <a:off x="5533685" y="3022916"/>
            <a:ext cx="6055865" cy="410173"/>
            <a:chOff x="5512252" y="1576192"/>
            <a:chExt cx="6055865" cy="410173"/>
          </a:xfrm>
        </p:grpSpPr>
        <p:sp>
          <p:nvSpPr>
            <p:cNvPr id="71" name="Rectangle 70">
              <a:extLst>
                <a:ext uri="{FF2B5EF4-FFF2-40B4-BE49-F238E27FC236}">
                  <a16:creationId xmlns:a16="http://schemas.microsoft.com/office/drawing/2014/main" id="{85978D6B-FB9B-49EE-BB3F-BF50938F8BE2}"/>
                </a:ext>
              </a:extLst>
            </p:cNvPr>
            <p:cNvSpPr/>
            <p:nvPr/>
          </p:nvSpPr>
          <p:spPr>
            <a:xfrm>
              <a:off x="5512252" y="1576192"/>
              <a:ext cx="379141" cy="410172"/>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4</a:t>
              </a:r>
            </a:p>
          </p:txBody>
        </p:sp>
        <p:sp>
          <p:nvSpPr>
            <p:cNvPr id="73" name="Rectangle 72">
              <a:extLst>
                <a:ext uri="{FF2B5EF4-FFF2-40B4-BE49-F238E27FC236}">
                  <a16:creationId xmlns:a16="http://schemas.microsoft.com/office/drawing/2014/main" id="{7B0C9411-8394-4D19-A041-40A55CEE5551}"/>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Create a test user account by calling the </a:t>
              </a:r>
              <a:r>
                <a:rPr lang="en-GB" sz="1400">
                  <a:solidFill>
                    <a:schemeClr val="tx1"/>
                  </a:solidFill>
                  <a:hlinkClick r:id="rId25"/>
                </a:rPr>
                <a:t>Create Test User API</a:t>
              </a:r>
              <a:r>
                <a:rPr lang="en-GB" sz="1400">
                  <a:solidFill>
                    <a:schemeClr val="tx1"/>
                  </a:solidFill>
                </a:rPr>
                <a:t>.</a:t>
              </a:r>
            </a:p>
          </p:txBody>
        </p:sp>
      </p:grpSp>
      <p:grpSp>
        <p:nvGrpSpPr>
          <p:cNvPr id="74" name="Group 73">
            <a:extLst>
              <a:ext uri="{FF2B5EF4-FFF2-40B4-BE49-F238E27FC236}">
                <a16:creationId xmlns:a16="http://schemas.microsoft.com/office/drawing/2014/main" id="{351829BF-50CF-40CB-8D83-433EA1ED0F2D}"/>
              </a:ext>
            </a:extLst>
          </p:cNvPr>
          <p:cNvGrpSpPr/>
          <p:nvPr/>
        </p:nvGrpSpPr>
        <p:grpSpPr>
          <a:xfrm>
            <a:off x="5533685" y="3539024"/>
            <a:ext cx="6055865" cy="410173"/>
            <a:chOff x="5512252" y="1576192"/>
            <a:chExt cx="6055865" cy="410173"/>
          </a:xfrm>
        </p:grpSpPr>
        <p:sp>
          <p:nvSpPr>
            <p:cNvPr id="94" name="Rectangle 93">
              <a:extLst>
                <a:ext uri="{FF2B5EF4-FFF2-40B4-BE49-F238E27FC236}">
                  <a16:creationId xmlns:a16="http://schemas.microsoft.com/office/drawing/2014/main" id="{9A753D53-9F50-4072-BEE4-046B610C532D}"/>
                </a:ext>
              </a:extLst>
            </p:cNvPr>
            <p:cNvSpPr/>
            <p:nvPr/>
          </p:nvSpPr>
          <p:spPr>
            <a:xfrm>
              <a:off x="5512252" y="1576192"/>
              <a:ext cx="379141" cy="410172"/>
            </a:xfrm>
            <a:prstGeom prst="rect">
              <a:avLst/>
            </a:prstGeom>
            <a:solidFill>
              <a:srgbClr val="7EC4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5</a:t>
              </a:r>
            </a:p>
          </p:txBody>
        </p:sp>
        <p:sp>
          <p:nvSpPr>
            <p:cNvPr id="95" name="Rectangle 94">
              <a:extLst>
                <a:ext uri="{FF2B5EF4-FFF2-40B4-BE49-F238E27FC236}">
                  <a16:creationId xmlns:a16="http://schemas.microsoft.com/office/drawing/2014/main" id="{ECEB76D9-B7D0-40CD-B54D-B6B7B4199855}"/>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400">
                  <a:solidFill>
                    <a:schemeClr val="tx1"/>
                  </a:solidFill>
                </a:rPr>
                <a:t>Generate a Bearer token for TDR.</a:t>
              </a:r>
            </a:p>
          </p:txBody>
        </p:sp>
      </p:grpSp>
      <p:grpSp>
        <p:nvGrpSpPr>
          <p:cNvPr id="96" name="Group 95">
            <a:extLst>
              <a:ext uri="{FF2B5EF4-FFF2-40B4-BE49-F238E27FC236}">
                <a16:creationId xmlns:a16="http://schemas.microsoft.com/office/drawing/2014/main" id="{30DD086C-A335-42C0-BB20-F066A901C57E}"/>
              </a:ext>
            </a:extLst>
          </p:cNvPr>
          <p:cNvGrpSpPr/>
          <p:nvPr/>
        </p:nvGrpSpPr>
        <p:grpSpPr>
          <a:xfrm>
            <a:off x="5533685" y="4055132"/>
            <a:ext cx="6055865" cy="410173"/>
            <a:chOff x="5512252" y="1576192"/>
            <a:chExt cx="6055865" cy="410173"/>
          </a:xfrm>
        </p:grpSpPr>
        <p:sp>
          <p:nvSpPr>
            <p:cNvPr id="97" name="Rectangle 96">
              <a:extLst>
                <a:ext uri="{FF2B5EF4-FFF2-40B4-BE49-F238E27FC236}">
                  <a16:creationId xmlns:a16="http://schemas.microsoft.com/office/drawing/2014/main" id="{5D3DD4D6-2E71-4252-AAD6-0B64E837F767}"/>
                </a:ext>
              </a:extLst>
            </p:cNvPr>
            <p:cNvSpPr/>
            <p:nvPr/>
          </p:nvSpPr>
          <p:spPr>
            <a:xfrm>
              <a:off x="5512252" y="1576192"/>
              <a:ext cx="379141" cy="410172"/>
            </a:xfrm>
            <a:prstGeom prst="rect">
              <a:avLst/>
            </a:prstGeom>
            <a:solidFill>
              <a:srgbClr val="008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6</a:t>
              </a:r>
            </a:p>
          </p:txBody>
        </p:sp>
        <p:sp>
          <p:nvSpPr>
            <p:cNvPr id="98" name="Rectangle 97">
              <a:extLst>
                <a:ext uri="{FF2B5EF4-FFF2-40B4-BE49-F238E27FC236}">
                  <a16:creationId xmlns:a16="http://schemas.microsoft.com/office/drawing/2014/main" id="{E5C72B6C-1FCA-4E10-AF30-62D74A4BB7AD}"/>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chemeClr val="tx1"/>
                  </a:solidFill>
                </a:rPr>
                <a:t>Check the correct API version in the Accept Header.</a:t>
              </a:r>
            </a:p>
          </p:txBody>
        </p:sp>
      </p:grpSp>
      <p:grpSp>
        <p:nvGrpSpPr>
          <p:cNvPr id="99" name="Group 98">
            <a:extLst>
              <a:ext uri="{FF2B5EF4-FFF2-40B4-BE49-F238E27FC236}">
                <a16:creationId xmlns:a16="http://schemas.microsoft.com/office/drawing/2014/main" id="{456A134B-AD37-471A-9B22-ADBFE40F74AE}"/>
              </a:ext>
            </a:extLst>
          </p:cNvPr>
          <p:cNvGrpSpPr/>
          <p:nvPr/>
        </p:nvGrpSpPr>
        <p:grpSpPr>
          <a:xfrm>
            <a:off x="5533685" y="4571240"/>
            <a:ext cx="6055865" cy="410173"/>
            <a:chOff x="5512252" y="1576192"/>
            <a:chExt cx="6055865" cy="410173"/>
          </a:xfrm>
        </p:grpSpPr>
        <p:sp>
          <p:nvSpPr>
            <p:cNvPr id="100" name="Rectangle 99">
              <a:extLst>
                <a:ext uri="{FF2B5EF4-FFF2-40B4-BE49-F238E27FC236}">
                  <a16:creationId xmlns:a16="http://schemas.microsoft.com/office/drawing/2014/main" id="{280A60B0-AAFB-4633-81C5-F136898A537A}"/>
                </a:ext>
              </a:extLst>
            </p:cNvPr>
            <p:cNvSpPr/>
            <p:nvPr/>
          </p:nvSpPr>
          <p:spPr>
            <a:xfrm>
              <a:off x="5512252" y="1576192"/>
              <a:ext cx="379141" cy="410172"/>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7</a:t>
              </a:r>
            </a:p>
          </p:txBody>
        </p:sp>
        <p:sp>
          <p:nvSpPr>
            <p:cNvPr id="102" name="Rectangle 101">
              <a:extLst>
                <a:ext uri="{FF2B5EF4-FFF2-40B4-BE49-F238E27FC236}">
                  <a16:creationId xmlns:a16="http://schemas.microsoft.com/office/drawing/2014/main" id="{9396EBF5-3990-4C5B-B32A-02568AD52487}"/>
                </a:ext>
              </a:extLst>
            </p:cNvPr>
            <p:cNvSpPr/>
            <p:nvPr/>
          </p:nvSpPr>
          <p:spPr>
            <a:xfrm>
              <a:off x="5978320" y="1576192"/>
              <a:ext cx="5589797" cy="410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chemeClr val="tx1"/>
                  </a:solidFill>
                </a:rPr>
                <a:t>Declarants submit declaration payloads with real data &amp; successfully complete declaration scenarios.</a:t>
              </a:r>
            </a:p>
          </p:txBody>
        </p:sp>
      </p:grpSp>
      <p:sp>
        <p:nvSpPr>
          <p:cNvPr id="45" name="Rectangle: Diagonal Corners Rounded 44">
            <a:extLst>
              <a:ext uri="{FF2B5EF4-FFF2-40B4-BE49-F238E27FC236}">
                <a16:creationId xmlns:a16="http://schemas.microsoft.com/office/drawing/2014/main" id="{CA1244A0-9FBD-48BD-9943-6D025983728B}"/>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Connecting to TDR for the First Time</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4" name="Slide Number Placeholder 3">
            <a:extLst>
              <a:ext uri="{FF2B5EF4-FFF2-40B4-BE49-F238E27FC236}">
                <a16:creationId xmlns:a16="http://schemas.microsoft.com/office/drawing/2014/main" id="{ED5EB19C-B81E-41E1-AFF6-7925A9DEB953}"/>
              </a:ext>
            </a:extLst>
          </p:cNvPr>
          <p:cNvSpPr>
            <a:spLocks noGrp="1"/>
          </p:cNvSpPr>
          <p:nvPr>
            <p:ph type="sldNum" sz="quarter" idx="12"/>
          </p:nvPr>
        </p:nvSpPr>
        <p:spPr/>
        <p:txBody>
          <a:bodyPr/>
          <a:lstStyle/>
          <a:p>
            <a:fld id="{831A7E15-3B48-4B7B-BB52-54578FC31682}" type="slidenum">
              <a:rPr lang="en-GB" smtClean="0"/>
              <a:t>10</a:t>
            </a:fld>
            <a:endParaRPr lang="en-GB"/>
          </a:p>
        </p:txBody>
      </p:sp>
    </p:spTree>
    <p:extLst>
      <p:ext uri="{BB962C8B-B14F-4D97-AF65-F5344CB8AC3E}">
        <p14:creationId xmlns:p14="http://schemas.microsoft.com/office/powerpoint/2010/main" val="2371266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2D0479-E430-43C7-9F77-44ECF7776DC0}"/>
              </a:ext>
            </a:extLst>
          </p:cNvPr>
          <p:cNvSpPr txBox="1"/>
          <p:nvPr/>
        </p:nvSpPr>
        <p:spPr>
          <a:xfrm>
            <a:off x="96707" y="1922449"/>
            <a:ext cx="5190909" cy="3849965"/>
          </a:xfrm>
          <a:prstGeom prst="rect">
            <a:avLst/>
          </a:prstGeom>
          <a:noFill/>
        </p:spPr>
        <p:txBody>
          <a:bodyPr wrap="square" lIns="91440" tIns="45720" rIns="91440" bIns="45720" rtlCol="0" anchor="t">
            <a:spAutoFit/>
          </a:bodyPr>
          <a:lstStyle/>
          <a:p>
            <a:pPr>
              <a:lnSpc>
                <a:spcPct val="107000"/>
              </a:lnSpc>
              <a:spcAft>
                <a:spcPts val="800"/>
              </a:spcAft>
            </a:pPr>
            <a:r>
              <a:rPr lang="en-GB" sz="1600" dirty="0">
                <a:effectLst/>
                <a:latin typeface="Calibri (Headings)"/>
                <a:ea typeface="Calibri" panose="020F0502020204030204" pitchFamily="34" charset="0"/>
                <a:cs typeface="Times New Roman"/>
              </a:rPr>
              <a:t>Declarants and Loaders with existing TDR access can continue to practice submitting Export declarations in TDR; no further access is required</a:t>
            </a:r>
            <a:r>
              <a:rPr lang="en-GB" sz="1600" dirty="0">
                <a:latin typeface="Calibri (Headings)"/>
                <a:ea typeface="Calibri" panose="020F0502020204030204" pitchFamily="34" charset="0"/>
                <a:cs typeface="Times New Roman"/>
              </a:rPr>
              <a:t>. Certain limitations apply (see </a:t>
            </a:r>
            <a:r>
              <a:rPr lang="en-GB" sz="1600" dirty="0">
                <a:latin typeface="Calibri (Headings)"/>
                <a:ea typeface="Calibri" panose="020F0502020204030204" pitchFamily="34" charset="0"/>
                <a:cs typeface="Times New Roman"/>
                <a:hlinkClick r:id="rId2" action="ppaction://hlinksldjump"/>
              </a:rPr>
              <a:t>slide 13</a:t>
            </a:r>
            <a:r>
              <a:rPr lang="en-GB" sz="1600" dirty="0">
                <a:latin typeface="Calibri (Headings)"/>
                <a:ea typeface="Calibri" panose="020F0502020204030204" pitchFamily="34" charset="0"/>
                <a:cs typeface="Times New Roman"/>
              </a:rPr>
              <a:t> for more information).</a:t>
            </a:r>
          </a:p>
          <a:p>
            <a:pPr>
              <a:lnSpc>
                <a:spcPct val="107000"/>
              </a:lnSpc>
              <a:spcAft>
                <a:spcPts val="800"/>
              </a:spcAft>
            </a:pPr>
            <a:endParaRPr lang="en-GB" dirty="0">
              <a:latin typeface="Calibri (Headings)"/>
              <a:ea typeface="Calibri" panose="020F0502020204030204" pitchFamily="34" charset="0"/>
              <a:cs typeface="Times New Roman"/>
            </a:endParaRPr>
          </a:p>
          <a:p>
            <a:pPr>
              <a:lnSpc>
                <a:spcPct val="107000"/>
              </a:lnSpc>
              <a:spcAft>
                <a:spcPts val="800"/>
              </a:spcAft>
            </a:pPr>
            <a:r>
              <a:rPr lang="en-GB" b="1" dirty="0">
                <a:solidFill>
                  <a:srgbClr val="3A7FA0"/>
                </a:solidFill>
                <a:latin typeface="Calibri"/>
              </a:rPr>
              <a:t>Testing your movements and consolidations in TDR</a:t>
            </a:r>
            <a:endParaRPr lang="en-GB" dirty="0">
              <a:effectLst/>
              <a:latin typeface="Calibri (Headings)"/>
              <a:ea typeface="Calibri" panose="020F0502020204030204" pitchFamily="34" charset="0"/>
              <a:cs typeface="Times New Roman"/>
            </a:endParaRPr>
          </a:p>
          <a:p>
            <a:pPr marL="285750" indent="-285750">
              <a:lnSpc>
                <a:spcPct val="107000"/>
              </a:lnSpc>
              <a:spcAft>
                <a:spcPts val="800"/>
              </a:spcAft>
              <a:buFont typeface="Arial" panose="020B0604020202020204" pitchFamily="34" charset="0"/>
              <a:buChar char="•"/>
            </a:pPr>
            <a:r>
              <a:rPr lang="en-GB" sz="1600" dirty="0">
                <a:latin typeface="Calibri (Headings)"/>
                <a:ea typeface="Calibri" panose="020F0502020204030204" pitchFamily="34" charset="0"/>
                <a:cs typeface="Times New Roman"/>
              </a:rPr>
              <a:t>CSPs/Software Developers must engage with declarants to help them to understand readiness for practicing their end-to-end CDS declaration journeys in TDR.</a:t>
            </a:r>
          </a:p>
          <a:p>
            <a:pPr marL="285750" indent="-285750">
              <a:lnSpc>
                <a:spcPct val="107000"/>
              </a:lnSpc>
              <a:spcAft>
                <a:spcPts val="800"/>
              </a:spcAft>
              <a:buFont typeface="Arial" panose="020B0604020202020204" pitchFamily="34" charset="0"/>
              <a:buChar char="•"/>
            </a:pPr>
            <a:r>
              <a:rPr lang="en-GB" sz="1600" dirty="0">
                <a:solidFill>
                  <a:srgbClr val="000000"/>
                </a:solidFill>
                <a:latin typeface="Calibri"/>
                <a:ea typeface="Geneva"/>
                <a:cs typeface="+mn-lt"/>
              </a:rPr>
              <a:t>Export journeys involve Declarant and Loader specific roles, so the acceptance and subsequent departure may need to be carried out outside of the Declarant Role.</a:t>
            </a:r>
          </a:p>
        </p:txBody>
      </p:sp>
      <p:sp>
        <p:nvSpPr>
          <p:cNvPr id="6" name="TextBox 5">
            <a:extLst>
              <a:ext uri="{FF2B5EF4-FFF2-40B4-BE49-F238E27FC236}">
                <a16:creationId xmlns:a16="http://schemas.microsoft.com/office/drawing/2014/main" id="{9A523877-866A-47B3-9A96-00241CA2104B}"/>
              </a:ext>
            </a:extLst>
          </p:cNvPr>
          <p:cNvSpPr txBox="1"/>
          <p:nvPr/>
        </p:nvSpPr>
        <p:spPr>
          <a:xfrm>
            <a:off x="5622775" y="1727823"/>
            <a:ext cx="4177208" cy="470000"/>
          </a:xfrm>
          <a:prstGeom prst="rect">
            <a:avLst/>
          </a:prstGeom>
          <a:noFill/>
        </p:spPr>
        <p:txBody>
          <a:bodyPr wrap="square" lIns="91440" tIns="45720" rIns="91440" bIns="45720" anchor="t">
            <a:spAutoFit/>
          </a:bodyPr>
          <a:lstStyle/>
          <a:p>
            <a:pPr>
              <a:lnSpc>
                <a:spcPct val="107000"/>
              </a:lnSpc>
              <a:spcAft>
                <a:spcPts val="800"/>
              </a:spcAft>
            </a:pPr>
            <a:r>
              <a:rPr lang="en-GB" sz="2400" b="1" dirty="0">
                <a:solidFill>
                  <a:srgbClr val="00928D"/>
                </a:solidFill>
                <a:effectLst/>
                <a:latin typeface="Calibri (Headings)"/>
                <a:ea typeface="Calibri" panose="020F0502020204030204" pitchFamily="34" charset="0"/>
                <a:cs typeface="Calibri"/>
              </a:rPr>
              <a:t>CSPs and Software Developers</a:t>
            </a:r>
            <a:endParaRPr lang="en-US" sz="3200" dirty="0">
              <a:solidFill>
                <a:srgbClr val="00928D"/>
              </a:solidFill>
              <a:cs typeface="Calibri"/>
            </a:endParaRPr>
          </a:p>
        </p:txBody>
      </p:sp>
      <p:grpSp>
        <p:nvGrpSpPr>
          <p:cNvPr id="7" name="Group 6">
            <a:extLst>
              <a:ext uri="{FF2B5EF4-FFF2-40B4-BE49-F238E27FC236}">
                <a16:creationId xmlns:a16="http://schemas.microsoft.com/office/drawing/2014/main" id="{204D92EF-350D-4A7B-BAB8-5B4916A06A13}"/>
              </a:ext>
            </a:extLst>
          </p:cNvPr>
          <p:cNvGrpSpPr/>
          <p:nvPr/>
        </p:nvGrpSpPr>
        <p:grpSpPr>
          <a:xfrm>
            <a:off x="5162406" y="-63328"/>
            <a:ext cx="6841472" cy="910091"/>
            <a:chOff x="5162406" y="-63328"/>
            <a:chExt cx="6841472" cy="910091"/>
          </a:xfrm>
        </p:grpSpPr>
        <p:graphicFrame>
          <p:nvGraphicFramePr>
            <p:cNvPr id="8" name="Diagram 7">
              <a:extLst>
                <a:ext uri="{FF2B5EF4-FFF2-40B4-BE49-F238E27FC236}">
                  <a16:creationId xmlns:a16="http://schemas.microsoft.com/office/drawing/2014/main" id="{6EE46D50-3C9E-48A9-93A9-8FF5A736AC84}"/>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c 8" descr="Clapper board with solid fill">
              <a:extLst>
                <a:ext uri="{FF2B5EF4-FFF2-40B4-BE49-F238E27FC236}">
                  <a16:creationId xmlns:a16="http://schemas.microsoft.com/office/drawing/2014/main" id="{90949CA5-5A37-4E0C-83DB-A02B0D85D6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10" name="Graphic 9" descr="Plugged Unplugged with solid fill">
              <a:extLst>
                <a:ext uri="{FF2B5EF4-FFF2-40B4-BE49-F238E27FC236}">
                  <a16:creationId xmlns:a16="http://schemas.microsoft.com/office/drawing/2014/main" id="{442CEEC7-B600-4AA3-9441-6935AC9D2A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11" name="Graphic 10" descr="Internet Of Things with solid fill">
              <a:extLst>
                <a:ext uri="{FF2B5EF4-FFF2-40B4-BE49-F238E27FC236}">
                  <a16:creationId xmlns:a16="http://schemas.microsoft.com/office/drawing/2014/main" id="{3B461A25-CC83-4B42-89DC-66046AA0E5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12" name="Graphic 11" descr="Ui Ux with solid fill">
              <a:extLst>
                <a:ext uri="{FF2B5EF4-FFF2-40B4-BE49-F238E27FC236}">
                  <a16:creationId xmlns:a16="http://schemas.microsoft.com/office/drawing/2014/main" id="{3E005FFB-2454-401F-8DC1-CCB3D28FC5B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13" name="Graphic 12" descr="Open hand with plant with solid fill">
              <a:extLst>
                <a:ext uri="{FF2B5EF4-FFF2-40B4-BE49-F238E27FC236}">
                  <a16:creationId xmlns:a16="http://schemas.microsoft.com/office/drawing/2014/main" id="{7013E4EA-21FE-474C-B646-83E323E1D4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14" name="Graphic 13" descr="Books with solid fill">
              <a:extLst>
                <a:ext uri="{FF2B5EF4-FFF2-40B4-BE49-F238E27FC236}">
                  <a16:creationId xmlns:a16="http://schemas.microsoft.com/office/drawing/2014/main" id="{0CE5AF16-B0BB-4417-8888-6DA5E25FA73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15" name="Graphic 14" descr="Questions with solid fill">
              <a:extLst>
                <a:ext uri="{FF2B5EF4-FFF2-40B4-BE49-F238E27FC236}">
                  <a16:creationId xmlns:a16="http://schemas.microsoft.com/office/drawing/2014/main" id="{B526326C-A66D-4815-AFCE-4378C72D397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grpSp>
        <p:nvGrpSpPr>
          <p:cNvPr id="16" name="Group 15">
            <a:extLst>
              <a:ext uri="{FF2B5EF4-FFF2-40B4-BE49-F238E27FC236}">
                <a16:creationId xmlns:a16="http://schemas.microsoft.com/office/drawing/2014/main" id="{13AE7890-46D4-4735-969D-EFB0D1FB4B07}"/>
              </a:ext>
            </a:extLst>
          </p:cNvPr>
          <p:cNvGrpSpPr/>
          <p:nvPr/>
        </p:nvGrpSpPr>
        <p:grpSpPr>
          <a:xfrm>
            <a:off x="5622775" y="2337276"/>
            <a:ext cx="589621" cy="891449"/>
            <a:chOff x="686475" y="1599074"/>
            <a:chExt cx="661058" cy="805091"/>
          </a:xfrm>
        </p:grpSpPr>
        <p:sp>
          <p:nvSpPr>
            <p:cNvPr id="17" name="Rectangle: Top Corners Rounded 16">
              <a:extLst>
                <a:ext uri="{FF2B5EF4-FFF2-40B4-BE49-F238E27FC236}">
                  <a16:creationId xmlns:a16="http://schemas.microsoft.com/office/drawing/2014/main" id="{DD4A542B-192E-4F01-9422-C4303D0695C7}"/>
                </a:ext>
              </a:extLst>
            </p:cNvPr>
            <p:cNvSpPr/>
            <p:nvPr/>
          </p:nvSpPr>
          <p:spPr>
            <a:xfrm rot="16200000">
              <a:off x="614458" y="1671091"/>
              <a:ext cx="805091" cy="661058"/>
            </a:xfrm>
            <a:prstGeom prst="round2SameRect">
              <a:avLst/>
            </a:prstGeom>
            <a:solidFill>
              <a:srgbClr val="BDDDD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000"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FD266B67-2C66-4745-BB51-37DC78CF7182}"/>
                </a:ext>
              </a:extLst>
            </p:cNvPr>
            <p:cNvSpPr txBox="1"/>
            <p:nvPr/>
          </p:nvSpPr>
          <p:spPr>
            <a:xfrm>
              <a:off x="822341" y="1789635"/>
              <a:ext cx="389323" cy="416942"/>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Calibri"/>
                  <a:ea typeface="+mn-ea"/>
                  <a:cs typeface="+mn-cs"/>
                </a:rPr>
                <a:t>1</a:t>
              </a:r>
              <a:endParaRPr lang="en-GB" sz="2400" b="1"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19" name="Group 18">
            <a:extLst>
              <a:ext uri="{FF2B5EF4-FFF2-40B4-BE49-F238E27FC236}">
                <a16:creationId xmlns:a16="http://schemas.microsoft.com/office/drawing/2014/main" id="{94570458-CB3E-46A9-9D87-AAE365813CF1}"/>
              </a:ext>
            </a:extLst>
          </p:cNvPr>
          <p:cNvGrpSpPr/>
          <p:nvPr/>
        </p:nvGrpSpPr>
        <p:grpSpPr>
          <a:xfrm>
            <a:off x="5622775" y="3838179"/>
            <a:ext cx="589621" cy="891449"/>
            <a:chOff x="686473" y="2772135"/>
            <a:chExt cx="661058" cy="805091"/>
          </a:xfrm>
        </p:grpSpPr>
        <p:sp>
          <p:nvSpPr>
            <p:cNvPr id="20" name="Rectangle: Top Corners Rounded 19">
              <a:extLst>
                <a:ext uri="{FF2B5EF4-FFF2-40B4-BE49-F238E27FC236}">
                  <a16:creationId xmlns:a16="http://schemas.microsoft.com/office/drawing/2014/main" id="{634BEC4B-7BCF-4CAE-8ABB-F3EBEB343228}"/>
                </a:ext>
              </a:extLst>
            </p:cNvPr>
            <p:cNvSpPr/>
            <p:nvPr/>
          </p:nvSpPr>
          <p:spPr>
            <a:xfrm rot="16200000">
              <a:off x="614456" y="2844152"/>
              <a:ext cx="805091" cy="661058"/>
            </a:xfrm>
            <a:prstGeom prst="round2SameRect">
              <a:avLst/>
            </a:prstGeom>
            <a:solidFill>
              <a:srgbClr val="6DA4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000" b="0" i="0" u="none" strike="noStrike" kern="1200" cap="none" spc="0" normalizeH="0" baseline="0" noProof="0">
                <a:ln>
                  <a:noFill/>
                </a:ln>
                <a:solidFill>
                  <a:srgbClr val="FFFFFF"/>
                </a:solidFill>
                <a:effectLst/>
                <a:uLnTx/>
                <a:uFillTx/>
                <a:latin typeface="Calibri"/>
                <a:ea typeface="+mn-ea"/>
                <a:cs typeface="+mn-cs"/>
              </a:endParaRPr>
            </a:p>
          </p:txBody>
        </p:sp>
        <p:sp>
          <p:nvSpPr>
            <p:cNvPr id="21" name="TextBox 20">
              <a:extLst>
                <a:ext uri="{FF2B5EF4-FFF2-40B4-BE49-F238E27FC236}">
                  <a16:creationId xmlns:a16="http://schemas.microsoft.com/office/drawing/2014/main" id="{74230C1F-2DBC-4620-898F-CB2ADE59D5FF}"/>
                </a:ext>
              </a:extLst>
            </p:cNvPr>
            <p:cNvSpPr txBox="1"/>
            <p:nvPr/>
          </p:nvSpPr>
          <p:spPr>
            <a:xfrm>
              <a:off x="833756" y="2966210"/>
              <a:ext cx="389323" cy="416942"/>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Calibri"/>
                  <a:ea typeface="+mn-ea"/>
                  <a:cs typeface="+mn-cs"/>
                </a:rPr>
                <a:t>2</a:t>
              </a:r>
              <a:endParaRPr lang="en-GB" sz="2400" b="1"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22" name="Group 21">
            <a:extLst>
              <a:ext uri="{FF2B5EF4-FFF2-40B4-BE49-F238E27FC236}">
                <a16:creationId xmlns:a16="http://schemas.microsoft.com/office/drawing/2014/main" id="{7718FD4A-83C7-47F7-8652-30128EED17D9}"/>
              </a:ext>
            </a:extLst>
          </p:cNvPr>
          <p:cNvGrpSpPr/>
          <p:nvPr/>
        </p:nvGrpSpPr>
        <p:grpSpPr>
          <a:xfrm>
            <a:off x="5622775" y="5207209"/>
            <a:ext cx="589621" cy="891449"/>
            <a:chOff x="698878" y="3824106"/>
            <a:chExt cx="661058" cy="805091"/>
          </a:xfrm>
        </p:grpSpPr>
        <p:sp>
          <p:nvSpPr>
            <p:cNvPr id="23" name="Rectangle: Top Corners Rounded 22">
              <a:extLst>
                <a:ext uri="{FF2B5EF4-FFF2-40B4-BE49-F238E27FC236}">
                  <a16:creationId xmlns:a16="http://schemas.microsoft.com/office/drawing/2014/main" id="{78C23D91-6F5B-4E57-A918-CAC459B69A44}"/>
                </a:ext>
              </a:extLst>
            </p:cNvPr>
            <p:cNvSpPr/>
            <p:nvPr/>
          </p:nvSpPr>
          <p:spPr>
            <a:xfrm rot="16200000">
              <a:off x="626861" y="3896123"/>
              <a:ext cx="805091" cy="661058"/>
            </a:xfrm>
            <a:prstGeom prst="round2SameRect">
              <a:avLst/>
            </a:prstGeom>
            <a:solidFill>
              <a:srgbClr val="3A7F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000" b="0" i="0" u="none" strike="noStrike" kern="1200" cap="none" spc="0" normalizeH="0" baseline="0" noProof="0">
                <a:ln>
                  <a:noFill/>
                </a:ln>
                <a:solidFill>
                  <a:srgbClr val="FFFFFF"/>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BB1390BD-F385-44F2-98B8-4DFC871C6F86}"/>
                </a:ext>
              </a:extLst>
            </p:cNvPr>
            <p:cNvSpPr txBox="1"/>
            <p:nvPr/>
          </p:nvSpPr>
          <p:spPr>
            <a:xfrm>
              <a:off x="838851" y="4018181"/>
              <a:ext cx="389323" cy="416942"/>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Calibri"/>
                  <a:ea typeface="+mn-ea"/>
                  <a:cs typeface="+mn-cs"/>
                </a:rPr>
                <a:t>3</a:t>
              </a:r>
              <a:endParaRPr lang="en-GB" sz="2400" b="1" i="0" u="none" strike="noStrike" kern="1200" cap="none" spc="0" normalizeH="0" baseline="0" noProof="0">
                <a:ln>
                  <a:noFill/>
                </a:ln>
                <a:solidFill>
                  <a:srgbClr val="FFFFFF"/>
                </a:solidFill>
                <a:effectLst/>
                <a:uLnTx/>
                <a:uFillTx/>
                <a:latin typeface="Calibri"/>
                <a:ea typeface="+mn-ea"/>
                <a:cs typeface="+mn-cs"/>
              </a:endParaRPr>
            </a:p>
          </p:txBody>
        </p:sp>
      </p:grpSp>
      <p:sp>
        <p:nvSpPr>
          <p:cNvPr id="25" name="TextBox 24">
            <a:extLst>
              <a:ext uri="{FF2B5EF4-FFF2-40B4-BE49-F238E27FC236}">
                <a16:creationId xmlns:a16="http://schemas.microsoft.com/office/drawing/2014/main" id="{0B73C4B1-07EA-48A0-B27D-47064C75FA78}"/>
              </a:ext>
            </a:extLst>
          </p:cNvPr>
          <p:cNvSpPr txBox="1"/>
          <p:nvPr/>
        </p:nvSpPr>
        <p:spPr>
          <a:xfrm>
            <a:off x="6391585" y="2191959"/>
            <a:ext cx="5506660" cy="1354217"/>
          </a:xfrm>
          <a:prstGeom prst="rect">
            <a:avLst/>
          </a:prstGeom>
          <a:noFill/>
        </p:spPr>
        <p:txBody>
          <a:bodyPr wrap="square" lIns="91440" tIns="45720" rIns="91440" bIns="45720" anchor="ctr">
            <a:spAutoFit/>
          </a:bodyPr>
          <a:lstStyle/>
          <a:p>
            <a:pPr>
              <a:defRPr/>
            </a:pPr>
            <a:r>
              <a:rPr kumimoji="0" lang="en-GB" b="1" i="0" u="none" strike="noStrike" kern="1200" cap="none" spc="0" normalizeH="0" baseline="0" noProof="0" dirty="0">
                <a:ln>
                  <a:noFill/>
                </a:ln>
                <a:solidFill>
                  <a:srgbClr val="6DA4B7"/>
                </a:solidFill>
                <a:effectLst/>
                <a:uLnTx/>
                <a:uFillTx/>
                <a:latin typeface="Calibri"/>
                <a:ea typeface="+mn-ea"/>
                <a:cs typeface="+mn-cs"/>
              </a:rPr>
              <a:t>Subscribe your application to </a:t>
            </a:r>
            <a:r>
              <a:rPr lang="en-GB" b="1" dirty="0">
                <a:solidFill>
                  <a:srgbClr val="6DA4B7"/>
                </a:solidFill>
                <a:latin typeface="Calibri"/>
              </a:rPr>
              <a:t>the Customs ILE API </a:t>
            </a:r>
            <a:endParaRPr lang="en-GB" b="1" i="0" u="none" strike="noStrike" kern="1200" cap="none" spc="0" normalizeH="0" baseline="0" noProof="0" dirty="0">
              <a:ln>
                <a:noFill/>
              </a:ln>
              <a:solidFill>
                <a:srgbClr val="6DA4B7"/>
              </a:solidFill>
              <a:effectLst/>
              <a:uLnTx/>
              <a:uFillTx/>
              <a:latin typeface="Calibri"/>
              <a:ea typeface="+mn-ea"/>
              <a:cs typeface="+mn-cs"/>
            </a:endParaRPr>
          </a:p>
          <a:p>
            <a:pPr marL="171450" indent="-171450">
              <a:buFont typeface="Arial" panose="020B0604020202020204" pitchFamily="34" charset="0"/>
              <a:buChar char="•"/>
              <a:defRPr/>
            </a:pPr>
            <a:r>
              <a:rPr lang="en-GB" sz="1600" dirty="0">
                <a:solidFill>
                  <a:srgbClr val="0B0C0C"/>
                </a:solidFill>
                <a:latin typeface="Calibri"/>
              </a:rPr>
              <a:t>You</a:t>
            </a:r>
            <a:r>
              <a:rPr lang="en-GB" sz="1600" b="0" i="0" dirty="0">
                <a:solidFill>
                  <a:srgbClr val="0B0C0C"/>
                </a:solidFill>
                <a:effectLst/>
                <a:latin typeface="Calibri"/>
              </a:rPr>
              <a:t> must subscribe each application you register to the</a:t>
            </a:r>
            <a:r>
              <a:rPr lang="en-GB" sz="1600" b="0" i="0" dirty="0">
                <a:solidFill>
                  <a:srgbClr val="008D8E"/>
                </a:solidFill>
                <a:effectLst/>
                <a:latin typeface="Calibri"/>
              </a:rPr>
              <a:t> </a:t>
            </a:r>
            <a:r>
              <a:rPr lang="en-GB" sz="1600" b="0" i="0" dirty="0">
                <a:solidFill>
                  <a:srgbClr val="008D8E"/>
                </a:solidFill>
                <a:effectLst/>
                <a:latin typeface="Calibri"/>
                <a:hlinkClick r:id="rId22">
                  <a:extLst>
                    <a:ext uri="{A12FA001-AC4F-418D-AE19-62706E023703}">
                      <ahyp:hlinkClr xmlns:ahyp="http://schemas.microsoft.com/office/drawing/2018/hyperlinkcolor" val="tx"/>
                    </a:ext>
                  </a:extLst>
                </a:hlinkClick>
              </a:rPr>
              <a:t>CDS APIs</a:t>
            </a:r>
            <a:r>
              <a:rPr lang="en-GB" sz="1600" b="0" i="0" dirty="0">
                <a:solidFill>
                  <a:srgbClr val="008D8E"/>
                </a:solidFill>
                <a:effectLst/>
                <a:latin typeface="Calibri"/>
              </a:rPr>
              <a:t> </a:t>
            </a:r>
            <a:r>
              <a:rPr lang="en-GB" sz="1600" b="0" i="0" dirty="0">
                <a:solidFill>
                  <a:srgbClr val="0B0C0C"/>
                </a:solidFill>
                <a:effectLst/>
                <a:latin typeface="Calibri"/>
              </a:rPr>
              <a:t>that you intend to use.</a:t>
            </a:r>
          </a:p>
          <a:p>
            <a:pPr marL="171450" indent="-171450">
              <a:buFont typeface="Arial" panose="020B0604020202020204" pitchFamily="34" charset="0"/>
              <a:buChar char="•"/>
              <a:defRPr/>
            </a:pPr>
            <a:r>
              <a:rPr lang="en-GB" sz="1600" dirty="0">
                <a:solidFill>
                  <a:srgbClr val="0B0C0C"/>
                </a:solidFill>
                <a:latin typeface="Calibri"/>
              </a:rPr>
              <a:t>To use the Customs Inventory Linking Exports API in TDR you must request access from SDST.</a:t>
            </a:r>
          </a:p>
        </p:txBody>
      </p:sp>
      <p:sp>
        <p:nvSpPr>
          <p:cNvPr id="26" name="TextBox 25">
            <a:extLst>
              <a:ext uri="{FF2B5EF4-FFF2-40B4-BE49-F238E27FC236}">
                <a16:creationId xmlns:a16="http://schemas.microsoft.com/office/drawing/2014/main" id="{A1C3BB5B-CC3D-4EAB-880E-F11B653751A0}"/>
              </a:ext>
            </a:extLst>
          </p:cNvPr>
          <p:cNvSpPr txBox="1"/>
          <p:nvPr/>
        </p:nvSpPr>
        <p:spPr>
          <a:xfrm>
            <a:off x="6391585" y="3729905"/>
            <a:ext cx="5506660" cy="1107996"/>
          </a:xfrm>
          <a:prstGeom prst="rect">
            <a:avLst/>
          </a:prstGeom>
          <a:noFill/>
        </p:spPr>
        <p:txBody>
          <a:bodyPr wrap="square" lIns="91440" tIns="45720" rIns="91440" bIns="45720" anchor="ctr">
            <a:spAutoFit/>
          </a:bodyPr>
          <a:lstStyle/>
          <a:p>
            <a:pPr>
              <a:defRPr/>
            </a:pPr>
            <a:r>
              <a:rPr lang="en-GB" b="1" dirty="0">
                <a:solidFill>
                  <a:srgbClr val="3A7FA0"/>
                </a:solidFill>
                <a:latin typeface="Calibri"/>
              </a:rPr>
              <a:t>Modify your application’s ‘accept’ request header value </a:t>
            </a:r>
          </a:p>
          <a:p>
            <a:pPr marL="171450" indent="-171450">
              <a:buFont typeface="Arial" panose="020B0604020202020204" pitchFamily="34" charset="0"/>
              <a:buChar char="•"/>
              <a:defRPr/>
            </a:pPr>
            <a:r>
              <a:rPr lang="en-GB" sz="1600" dirty="0">
                <a:solidFill>
                  <a:srgbClr val="000000"/>
                </a:solidFill>
                <a:latin typeface="Calibri"/>
              </a:rPr>
              <a:t>You must modify your application’s ‘accept’ request header value, when making a call to the API to reflect the </a:t>
            </a:r>
            <a:r>
              <a:rPr lang="en-GB" sz="1600" u="sng" dirty="0">
                <a:solidFill>
                  <a:srgbClr val="008D8E"/>
                </a:solidFill>
                <a:latin typeface="Calibri"/>
                <a:hlinkClick r:id="rId23">
                  <a:extLst>
                    <a:ext uri="{A12FA001-AC4F-418D-AE19-62706E023703}">
                      <ahyp:hlinkClr xmlns:ahyp="http://schemas.microsoft.com/office/drawing/2018/hyperlinkcolor" val="tx"/>
                    </a:ext>
                  </a:extLst>
                </a:hlinkClick>
              </a:rPr>
              <a:t>version</a:t>
            </a:r>
            <a:r>
              <a:rPr lang="en-GB" sz="1600" dirty="0">
                <a:solidFill>
                  <a:srgbClr val="000000"/>
                </a:solidFill>
                <a:latin typeface="Calibri"/>
              </a:rPr>
              <a:t> you wish to use.</a:t>
            </a:r>
          </a:p>
        </p:txBody>
      </p:sp>
      <p:sp>
        <p:nvSpPr>
          <p:cNvPr id="27" name="TextBox 26">
            <a:extLst>
              <a:ext uri="{FF2B5EF4-FFF2-40B4-BE49-F238E27FC236}">
                <a16:creationId xmlns:a16="http://schemas.microsoft.com/office/drawing/2014/main" id="{1CCE20F5-31C6-49AF-905E-9622BE1C3A14}"/>
              </a:ext>
            </a:extLst>
          </p:cNvPr>
          <p:cNvSpPr txBox="1"/>
          <p:nvPr/>
        </p:nvSpPr>
        <p:spPr>
          <a:xfrm>
            <a:off x="6391585" y="5098935"/>
            <a:ext cx="5506660" cy="1107996"/>
          </a:xfrm>
          <a:prstGeom prst="rect">
            <a:avLst/>
          </a:prstGeom>
          <a:noFill/>
        </p:spPr>
        <p:txBody>
          <a:bodyPr wrap="square" lIns="91440" tIns="45720" rIns="91440" bIns="45720" anchor="ctr">
            <a:spAutoFit/>
          </a:bodyPr>
          <a:lstStyle/>
          <a:p>
            <a:pPr>
              <a:defRPr/>
            </a:pPr>
            <a:r>
              <a:rPr lang="en-GB" b="1" dirty="0">
                <a:solidFill>
                  <a:srgbClr val="008D8E"/>
                </a:solidFill>
                <a:latin typeface="Calibri"/>
              </a:rPr>
              <a:t> Contact the SDST Team</a:t>
            </a:r>
          </a:p>
          <a:p>
            <a:pPr marL="285750" indent="-285750">
              <a:buFont typeface="Arial" panose="020B0604020202020204" pitchFamily="34" charset="0"/>
              <a:buChar char="•"/>
              <a:defRPr/>
            </a:pPr>
            <a:r>
              <a:rPr lang="en-GB" sz="1600" dirty="0">
                <a:solidFill>
                  <a:srgbClr val="000000"/>
                </a:solidFill>
                <a:latin typeface="Calibri"/>
              </a:rPr>
              <a:t>If a version of an API is not visible or you cannot access specific API documentation, then please contact SDST</a:t>
            </a:r>
            <a:r>
              <a:rPr lang="en-GB" sz="1600" dirty="0">
                <a:latin typeface="Calibri"/>
              </a:rPr>
              <a:t> </a:t>
            </a:r>
            <a:r>
              <a:rPr lang="en-GB" sz="1600" dirty="0">
                <a:solidFill>
                  <a:srgbClr val="0B0C0C"/>
                </a:solidFill>
                <a:latin typeface="Calibri"/>
              </a:rPr>
              <a:t>(</a:t>
            </a:r>
            <a:r>
              <a:rPr lang="en-GB" sz="1600" dirty="0">
                <a:solidFill>
                  <a:srgbClr val="008D8E"/>
                </a:solidFill>
                <a:latin typeface="Calibri"/>
                <a:hlinkClick r:id="rId24">
                  <a:extLst>
                    <a:ext uri="{A12FA001-AC4F-418D-AE19-62706E023703}">
                      <ahyp:hlinkClr xmlns:ahyp="http://schemas.microsoft.com/office/drawing/2018/hyperlinkcolor" val="tx"/>
                    </a:ext>
                  </a:extLst>
                </a:hlinkClick>
              </a:rPr>
              <a:t>SDSTeam@HMRC.gov.uk</a:t>
            </a:r>
            <a:r>
              <a:rPr lang="en-GB" sz="1600" dirty="0">
                <a:solidFill>
                  <a:srgbClr val="0B0C0C"/>
                </a:solidFill>
                <a:latin typeface="Calibri"/>
              </a:rPr>
              <a:t>).</a:t>
            </a:r>
            <a:endParaRPr lang="en-GB" sz="1600" dirty="0">
              <a:latin typeface="Calibri"/>
            </a:endParaRPr>
          </a:p>
        </p:txBody>
      </p:sp>
      <p:sp>
        <p:nvSpPr>
          <p:cNvPr id="28" name="Rectangle: Diagonal Corners Rounded 27">
            <a:extLst>
              <a:ext uri="{FF2B5EF4-FFF2-40B4-BE49-F238E27FC236}">
                <a16:creationId xmlns:a16="http://schemas.microsoft.com/office/drawing/2014/main" id="{7F6052E5-B1D2-4705-8246-3C773BC04C8A}"/>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Access to Exports as an Existing TDR User</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29" name="Rectangle: Diagonal Corners Snipped 28">
            <a:extLst>
              <a:ext uri="{FF2B5EF4-FFF2-40B4-BE49-F238E27FC236}">
                <a16:creationId xmlns:a16="http://schemas.microsoft.com/office/drawing/2014/main" id="{2CEF82B2-FFC3-47C5-BC4E-3EBB7E8350BA}"/>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lIns="91440" tIns="45720" rIns="91440" bIns="45720" rtlCol="0" anchor="ctr"/>
          <a:lstStyle/>
          <a:p>
            <a:pPr>
              <a:defRPr/>
            </a:pPr>
            <a:r>
              <a:rPr kumimoji="0" lang="en-GB" sz="1800" i="0" u="none" strike="noStrike" kern="0" cap="none" spc="0" normalizeH="0" baseline="0" noProof="0">
                <a:ln>
                  <a:noFill/>
                </a:ln>
                <a:solidFill>
                  <a:schemeClr val="bg1"/>
                </a:solidFill>
                <a:effectLst/>
                <a:uLnTx/>
                <a:uFillTx/>
                <a:latin typeface="Calibri" panose="020F0502020204030204"/>
                <a:ea typeface="+mn-ea"/>
                <a:cs typeface="+mn-cs"/>
              </a:rPr>
              <a:t>Declarants who have used TDR for Imports </a:t>
            </a:r>
            <a:r>
              <a:rPr kumimoji="0" lang="en-GB" sz="1800" b="1" i="0" u="none" strike="noStrike" kern="0" cap="none" spc="0" normalizeH="0" baseline="0" noProof="0">
                <a:ln>
                  <a:noFill/>
                </a:ln>
                <a:solidFill>
                  <a:schemeClr val="bg1"/>
                </a:solidFill>
                <a:effectLst/>
                <a:uLnTx/>
                <a:uFillTx/>
                <a:latin typeface="Calibri" panose="020F0502020204030204"/>
                <a:ea typeface="+mn-ea"/>
                <a:cs typeface="+mn-cs"/>
              </a:rPr>
              <a:t>do not need to repeat the </a:t>
            </a:r>
            <a:r>
              <a:rPr lang="en-GB" b="1" kern="0">
                <a:solidFill>
                  <a:schemeClr val="bg1"/>
                </a:solidFill>
                <a:latin typeface="Calibri" panose="020F0502020204030204"/>
              </a:rPr>
              <a:t>setup</a:t>
            </a:r>
            <a:r>
              <a:rPr kumimoji="0" lang="en-GB" sz="1800" b="1" i="0" u="none" strike="noStrike" kern="0" cap="none" spc="0" normalizeH="0" baseline="0" noProof="0">
                <a:ln>
                  <a:noFill/>
                </a:ln>
                <a:solidFill>
                  <a:schemeClr val="bg1"/>
                </a:solidFill>
                <a:effectLst/>
                <a:uLnTx/>
                <a:uFillTx/>
                <a:latin typeface="Calibri" panose="020F0502020204030204"/>
                <a:ea typeface="+mn-ea"/>
                <a:cs typeface="+mn-cs"/>
              </a:rPr>
              <a:t> process</a:t>
            </a:r>
            <a:r>
              <a:rPr kumimoji="0" lang="en-GB" sz="1800" i="0" u="none" strike="noStrike" kern="0" cap="none" spc="0" normalizeH="0" baseline="0" noProof="0">
                <a:ln>
                  <a:noFill/>
                </a:ln>
                <a:solidFill>
                  <a:schemeClr val="bg1"/>
                </a:solidFill>
                <a:effectLst/>
                <a:uLnTx/>
                <a:uFillTx/>
                <a:latin typeface="Calibri" panose="020F0502020204030204"/>
                <a:ea typeface="+mn-ea"/>
                <a:cs typeface="+mn-cs"/>
              </a:rPr>
              <a:t> in order to submit </a:t>
            </a:r>
            <a:r>
              <a:rPr lang="en-GB" kern="0">
                <a:solidFill>
                  <a:schemeClr val="bg1"/>
                </a:solidFill>
                <a:latin typeface="Calibri" panose="020F0502020204030204"/>
              </a:rPr>
              <a:t>Export</a:t>
            </a:r>
            <a:r>
              <a:rPr kumimoji="0" lang="en-GB" sz="1800" i="0" u="none" strike="noStrike" kern="0" cap="none" spc="0" normalizeH="0" baseline="0" noProof="0">
                <a:ln>
                  <a:noFill/>
                </a:ln>
                <a:solidFill>
                  <a:schemeClr val="bg1"/>
                </a:solidFill>
                <a:effectLst/>
                <a:uLnTx/>
                <a:uFillTx/>
                <a:latin typeface="Calibri" panose="020F0502020204030204"/>
                <a:ea typeface="+mn-ea"/>
                <a:cs typeface="+mn-cs"/>
              </a:rPr>
              <a:t> declarations.</a:t>
            </a:r>
            <a:r>
              <a:rPr lang="en-GB" kern="0">
                <a:solidFill>
                  <a:schemeClr val="bg1"/>
                </a:solidFill>
                <a:latin typeface="Calibri" panose="020F0502020204030204"/>
              </a:rPr>
              <a:t> </a:t>
            </a:r>
            <a:endParaRPr kumimoji="0" lang="en-GB" sz="180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30" name="Slide Number Placeholder 2">
            <a:extLst>
              <a:ext uri="{FF2B5EF4-FFF2-40B4-BE49-F238E27FC236}">
                <a16:creationId xmlns:a16="http://schemas.microsoft.com/office/drawing/2014/main" id="{23F1B5AE-30E2-49A5-8E8D-CBA0DA8EFD60}"/>
              </a:ext>
            </a:extLst>
          </p:cNvPr>
          <p:cNvSpPr>
            <a:spLocks noGrp="1"/>
          </p:cNvSpPr>
          <p:nvPr>
            <p:ph type="sldNum" sz="quarter" idx="12"/>
          </p:nvPr>
        </p:nvSpPr>
        <p:spPr>
          <a:xfrm>
            <a:off x="9298661" y="6356350"/>
            <a:ext cx="2743200" cy="365125"/>
          </a:xfrm>
        </p:spPr>
        <p:txBody>
          <a:bodyPr/>
          <a:lstStyle/>
          <a:p>
            <a:fld id="{831A7E15-3B48-4B7B-BB52-54578FC31682}" type="slidenum">
              <a:rPr lang="en-GB" smtClean="0"/>
              <a:t>11</a:t>
            </a:fld>
            <a:endParaRPr lang="en-GB"/>
          </a:p>
        </p:txBody>
      </p:sp>
    </p:spTree>
    <p:extLst>
      <p:ext uri="{BB962C8B-B14F-4D97-AF65-F5344CB8AC3E}">
        <p14:creationId xmlns:p14="http://schemas.microsoft.com/office/powerpoint/2010/main" val="4189245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F06797-AB2A-44BC-B718-A6F742B191EE}"/>
              </a:ext>
            </a:extLst>
          </p:cNvPr>
          <p:cNvSpPr txBox="1">
            <a:spLocks/>
          </p:cNvSpPr>
          <p:nvPr/>
        </p:nvSpPr>
        <p:spPr>
          <a:xfrm>
            <a:off x="1320815" y="1866547"/>
            <a:ext cx="10475902" cy="4334412"/>
          </a:xfrm>
          <a:prstGeom prst="rect">
            <a:avLst/>
          </a:prstGeom>
          <a:noFill/>
          <a:ln w="57150">
            <a:noFill/>
          </a:ln>
        </p:spPr>
        <p:txBody>
          <a:bodyPr wrap="square" lIns="91440" tIns="46800" rIns="91440" bIns="45720" rtlCol="0" anchor="ctr">
            <a:noAutofit/>
          </a:bodyPr>
          <a:lstStyle/>
          <a:p>
            <a:r>
              <a:rPr lang="en-GB" sz="1900" dirty="0">
                <a:effectLst/>
                <a:ea typeface="Calibri" panose="020F0502020204030204" pitchFamily="34" charset="0"/>
                <a:cs typeface="Calibri"/>
              </a:rPr>
              <a:t>API endpoints in TDR are</a:t>
            </a:r>
            <a:r>
              <a:rPr lang="en-GB" sz="1900" b="1" dirty="0">
                <a:effectLst/>
                <a:ea typeface="Calibri" panose="020F0502020204030204" pitchFamily="34" charset="0"/>
                <a:cs typeface="Calibri"/>
              </a:rPr>
              <a:t> </a:t>
            </a:r>
            <a:r>
              <a:rPr lang="en-GB" sz="1900" b="1" dirty="0">
                <a:solidFill>
                  <a:srgbClr val="00928D"/>
                </a:solidFill>
                <a:ea typeface="Calibri" panose="020F0502020204030204" pitchFamily="34" charset="0"/>
                <a:cs typeface="Calibri"/>
              </a:rPr>
              <a:t>u</a:t>
            </a:r>
            <a:r>
              <a:rPr lang="en-GB" sz="1900" b="1" dirty="0">
                <a:solidFill>
                  <a:srgbClr val="00928D"/>
                </a:solidFill>
                <a:effectLst/>
                <a:ea typeface="Calibri" panose="020F0502020204030204" pitchFamily="34" charset="0"/>
                <a:cs typeface="Calibri"/>
              </a:rPr>
              <a:t>ser </a:t>
            </a:r>
            <a:r>
              <a:rPr lang="en-GB" sz="1900" b="1" dirty="0">
                <a:solidFill>
                  <a:srgbClr val="00928D"/>
                </a:solidFill>
                <a:ea typeface="Calibri" panose="020F0502020204030204" pitchFamily="34" charset="0"/>
                <a:cs typeface="Calibri"/>
              </a:rPr>
              <a:t>r</a:t>
            </a:r>
            <a:r>
              <a:rPr lang="en-GB" sz="1900" b="1" dirty="0">
                <a:solidFill>
                  <a:srgbClr val="00928D"/>
                </a:solidFill>
                <a:effectLst/>
                <a:ea typeface="Calibri" panose="020F0502020204030204" pitchFamily="34" charset="0"/>
                <a:cs typeface="Calibri"/>
              </a:rPr>
              <a:t>estricted </a:t>
            </a:r>
            <a:r>
              <a:rPr lang="en-GB" sz="1900" dirty="0">
                <a:effectLst/>
                <a:ea typeface="Calibri" panose="020F0502020204030204" pitchFamily="34" charset="0"/>
                <a:cs typeface="Calibri"/>
              </a:rPr>
              <a:t>and require a </a:t>
            </a:r>
            <a:r>
              <a:rPr lang="en-GB" sz="1900" b="1" dirty="0">
                <a:solidFill>
                  <a:srgbClr val="00928D"/>
                </a:solidFill>
                <a:effectLst/>
                <a:ea typeface="Calibri" panose="020F0502020204030204" pitchFamily="34" charset="0"/>
                <a:cs typeface="Calibri"/>
              </a:rPr>
              <a:t>Bearer </a:t>
            </a:r>
            <a:r>
              <a:rPr lang="en-GB" sz="1900" b="1" dirty="0">
                <a:solidFill>
                  <a:srgbClr val="00928D"/>
                </a:solidFill>
                <a:ea typeface="Calibri" panose="020F0502020204030204" pitchFamily="34" charset="0"/>
                <a:cs typeface="Calibri"/>
              </a:rPr>
              <a:t>T</a:t>
            </a:r>
            <a:r>
              <a:rPr lang="en-GB" sz="1900" b="1" dirty="0">
                <a:solidFill>
                  <a:srgbClr val="00928D"/>
                </a:solidFill>
                <a:effectLst/>
                <a:ea typeface="Calibri" panose="020F0502020204030204" pitchFamily="34" charset="0"/>
                <a:cs typeface="Calibri"/>
              </a:rPr>
              <a:t>oken</a:t>
            </a:r>
            <a:r>
              <a:rPr lang="en-GB" sz="1900" dirty="0">
                <a:effectLst/>
                <a:ea typeface="Calibri" panose="020F0502020204030204" pitchFamily="34" charset="0"/>
                <a:cs typeface="Calibri"/>
              </a:rPr>
              <a:t>. </a:t>
            </a:r>
          </a:p>
          <a:p>
            <a:endParaRPr lang="en-GB" sz="1900" dirty="0">
              <a:effectLst/>
              <a:ea typeface="Calibri" panose="020F0502020204030204" pitchFamily="34" charset="0"/>
              <a:cs typeface="Calibri"/>
            </a:endParaRPr>
          </a:p>
          <a:p>
            <a:r>
              <a:rPr lang="en-GB" sz="1900" dirty="0">
                <a:effectLst/>
                <a:ea typeface="Calibri" panose="020F0502020204030204" pitchFamily="34" charset="0"/>
                <a:cs typeface="Calibri"/>
              </a:rPr>
              <a:t>Each </a:t>
            </a:r>
            <a:r>
              <a:rPr lang="en-GB" sz="1900" b="1" dirty="0">
                <a:solidFill>
                  <a:srgbClr val="008680"/>
                </a:solidFill>
                <a:effectLst/>
                <a:ea typeface="Calibri" panose="020F0502020204030204" pitchFamily="34" charset="0"/>
                <a:cs typeface="Calibri"/>
              </a:rPr>
              <a:t>Software Developer</a:t>
            </a:r>
            <a:r>
              <a:rPr lang="en-GB" sz="1900" dirty="0">
                <a:effectLst/>
                <a:ea typeface="Calibri" panose="020F0502020204030204" pitchFamily="34" charset="0"/>
                <a:cs typeface="Calibri"/>
              </a:rPr>
              <a:t> should look to register a single application with HMRC. This application is used to identify the Software Developer during the OAuth 2.0 grant flow, and then in subsequent per user API calls. HMRC limit the number of requests each application can make. You can find more information here</a:t>
            </a:r>
            <a:r>
              <a:rPr lang="en-GB" sz="1900" b="1" dirty="0">
                <a:solidFill>
                  <a:srgbClr val="008680"/>
                </a:solidFill>
                <a:effectLst/>
                <a:ea typeface="Calibri" panose="020F0502020204030204" pitchFamily="34" charset="0"/>
                <a:cs typeface="Calibri"/>
              </a:rPr>
              <a:t>: </a:t>
            </a:r>
            <a:r>
              <a:rPr lang="en-GB" sz="1900" b="1" dirty="0">
                <a:solidFill>
                  <a:srgbClr val="008680"/>
                </a:solidFill>
                <a:effectLst/>
                <a:ea typeface="Calibri" panose="020F0502020204030204" pitchFamily="34" charset="0"/>
                <a:cs typeface="Calibri"/>
                <a:hlinkClick r:id="rId2">
                  <a:extLst>
                    <a:ext uri="{A12FA001-AC4F-418D-AE19-62706E023703}">
                      <ahyp:hlinkClr xmlns:ahyp="http://schemas.microsoft.com/office/drawing/2018/hyperlinkcolor" val="tx"/>
                    </a:ext>
                  </a:extLst>
                </a:hlinkClick>
              </a:rPr>
              <a:t>Authorisations &amp; End Points</a:t>
            </a:r>
            <a:r>
              <a:rPr lang="en-GB" sz="1900" b="1" dirty="0">
                <a:solidFill>
                  <a:srgbClr val="008680"/>
                </a:solidFill>
                <a:effectLst/>
                <a:ea typeface="Calibri" panose="020F0502020204030204" pitchFamily="34" charset="0"/>
                <a:cs typeface="Calibri"/>
              </a:rPr>
              <a:t>.</a:t>
            </a:r>
          </a:p>
          <a:p>
            <a:endParaRPr lang="en-GB" sz="1900" b="1" dirty="0">
              <a:solidFill>
                <a:srgbClr val="008680"/>
              </a:solidFill>
              <a:effectLst/>
              <a:ea typeface="Calibri" panose="020F0502020204030204" pitchFamily="34" charset="0"/>
              <a:cs typeface="Calibri"/>
            </a:endParaRPr>
          </a:p>
          <a:p>
            <a:r>
              <a:rPr lang="en-GB" sz="1900" dirty="0">
                <a:ea typeface="Calibri" panose="020F0502020204030204" pitchFamily="34" charset="0"/>
                <a:cs typeface="Calibri"/>
              </a:rPr>
              <a:t>A </a:t>
            </a:r>
            <a:r>
              <a:rPr lang="en-GB" sz="1900" b="1" dirty="0">
                <a:solidFill>
                  <a:srgbClr val="00928D"/>
                </a:solidFill>
                <a:ea typeface="Calibri" panose="020F0502020204030204" pitchFamily="34" charset="0"/>
                <a:cs typeface="Calibri"/>
              </a:rPr>
              <a:t>Declarant</a:t>
            </a:r>
            <a:r>
              <a:rPr lang="en-GB" sz="1900" dirty="0">
                <a:ea typeface="Calibri" panose="020F0502020204030204" pitchFamily="34" charset="0"/>
                <a:cs typeface="Calibri"/>
              </a:rPr>
              <a:t> uses the test user account to submit declarations in TDR and grants authority to the </a:t>
            </a:r>
            <a:r>
              <a:rPr lang="en-GB" sz="1900" b="1" dirty="0">
                <a:solidFill>
                  <a:srgbClr val="008680"/>
                </a:solidFill>
                <a:ea typeface="Calibri" panose="020F0502020204030204" pitchFamily="34" charset="0"/>
                <a:cs typeface="Calibri"/>
              </a:rPr>
              <a:t>Software Developer’s</a:t>
            </a:r>
            <a:r>
              <a:rPr lang="en-GB" sz="1900" dirty="0">
                <a:ea typeface="Calibri" panose="020F0502020204030204" pitchFamily="34" charset="0"/>
                <a:cs typeface="Calibri"/>
              </a:rPr>
              <a:t> application for specific scopes. HMRC then issue an OAuth 2.0 ‘</a:t>
            </a:r>
            <a:r>
              <a:rPr lang="en-GB" sz="1900" dirty="0" err="1">
                <a:ea typeface="Calibri" panose="020F0502020204030204" pitchFamily="34" charset="0"/>
                <a:cs typeface="Calibri"/>
              </a:rPr>
              <a:t>access_token</a:t>
            </a:r>
            <a:r>
              <a:rPr lang="en-GB" sz="1900" dirty="0">
                <a:ea typeface="Calibri" panose="020F0502020204030204" pitchFamily="34" charset="0"/>
                <a:cs typeface="Calibri"/>
              </a:rPr>
              <a:t>’ that is specific to that Declarant. </a:t>
            </a:r>
          </a:p>
          <a:p>
            <a:endParaRPr lang="en-GB" sz="1900" dirty="0">
              <a:ea typeface="Calibri" panose="020F0502020204030204" pitchFamily="34" charset="0"/>
              <a:cs typeface="Calibri"/>
            </a:endParaRPr>
          </a:p>
          <a:p>
            <a:r>
              <a:rPr lang="en-GB" sz="1900" dirty="0">
                <a:ea typeface="Calibri" panose="020F0502020204030204" pitchFamily="34" charset="0"/>
                <a:cs typeface="Calibri"/>
              </a:rPr>
              <a:t>A </a:t>
            </a:r>
            <a:r>
              <a:rPr lang="en-GB" sz="1900" b="1" dirty="0">
                <a:solidFill>
                  <a:srgbClr val="008680"/>
                </a:solidFill>
                <a:ea typeface="Calibri" panose="020F0502020204030204" pitchFamily="34" charset="0"/>
                <a:cs typeface="Calibri"/>
              </a:rPr>
              <a:t>Software Developer’s</a:t>
            </a:r>
            <a:r>
              <a:rPr lang="en-GB" sz="1900" dirty="0">
                <a:ea typeface="Calibri" panose="020F0502020204030204" pitchFamily="34" charset="0"/>
                <a:cs typeface="Calibri"/>
              </a:rPr>
              <a:t> application passes the ‘access token’ in subsequent API requests to user-restricted API endpoints. A declarant’s ‘</a:t>
            </a:r>
            <a:r>
              <a:rPr lang="en-GB" sz="1900" dirty="0" err="1">
                <a:ea typeface="Calibri" panose="020F0502020204030204" pitchFamily="34" charset="0"/>
                <a:cs typeface="Calibri"/>
              </a:rPr>
              <a:t>access_token</a:t>
            </a:r>
            <a:r>
              <a:rPr lang="en-GB" sz="1900" dirty="0">
                <a:ea typeface="Calibri" panose="020F0502020204030204" pitchFamily="34" charset="0"/>
                <a:cs typeface="Calibri"/>
              </a:rPr>
              <a:t>’ expires after 4 hours and will need to be refreshed.</a:t>
            </a:r>
          </a:p>
          <a:p>
            <a:r>
              <a:rPr lang="en-GB" sz="1900" dirty="0">
                <a:ea typeface="Calibri" panose="020F0502020204030204" pitchFamily="34" charset="0"/>
                <a:cs typeface="Calibri"/>
              </a:rPr>
              <a:t>Full details and examples can here: </a:t>
            </a:r>
            <a:r>
              <a:rPr lang="en-GB" sz="1900" b="1" u="sng" dirty="0">
                <a:solidFill>
                  <a:srgbClr val="008680"/>
                </a:solidFill>
                <a:ea typeface="Calibri" panose="020F0502020204030204" pitchFamily="34" charset="0"/>
                <a:cs typeface="Calibri"/>
                <a:hlinkClick r:id="rId3">
                  <a:extLst>
                    <a:ext uri="{A12FA001-AC4F-418D-AE19-62706E023703}">
                      <ahyp:hlinkClr xmlns:ahyp="http://schemas.microsoft.com/office/drawing/2018/hyperlinkcolor" val="tx"/>
                    </a:ext>
                  </a:extLst>
                </a:hlinkClick>
              </a:rPr>
              <a:t>HMRC Developer Hub</a:t>
            </a:r>
            <a:r>
              <a:rPr lang="en-GB" sz="1900" b="1" u="sng" dirty="0">
                <a:solidFill>
                  <a:srgbClr val="008680"/>
                </a:solidFill>
                <a:ea typeface="Calibri" panose="020F0502020204030204" pitchFamily="34" charset="0"/>
                <a:cs typeface="Calibri"/>
              </a:rPr>
              <a:t>.</a:t>
            </a:r>
            <a:endParaRPr lang="en-GB" sz="1900" b="1" dirty="0">
              <a:solidFill>
                <a:srgbClr val="008680"/>
              </a:solidFill>
              <a:effectLst/>
              <a:ea typeface="Calibri" panose="020F0502020204030204" pitchFamily="34" charset="0"/>
              <a:cs typeface="Calibri"/>
            </a:endParaRPr>
          </a:p>
        </p:txBody>
      </p:sp>
      <p:pic>
        <p:nvPicPr>
          <p:cNvPr id="6" name="Graphic 5" descr="Group brainstorm outline">
            <a:extLst>
              <a:ext uri="{FF2B5EF4-FFF2-40B4-BE49-F238E27FC236}">
                <a16:creationId xmlns:a16="http://schemas.microsoft.com/office/drawing/2014/main" id="{8D8C721D-5C7E-49F5-B76B-075655C88D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8204" y="4082493"/>
            <a:ext cx="755703" cy="755703"/>
          </a:xfrm>
          <a:prstGeom prst="rect">
            <a:avLst/>
          </a:prstGeom>
        </p:spPr>
      </p:pic>
      <p:pic>
        <p:nvPicPr>
          <p:cNvPr id="7" name="Graphic 6" descr="Social network outline">
            <a:extLst>
              <a:ext uri="{FF2B5EF4-FFF2-40B4-BE49-F238E27FC236}">
                <a16:creationId xmlns:a16="http://schemas.microsoft.com/office/drawing/2014/main" id="{CECB4B95-A425-4F5F-AB78-43C4921077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0179" y="2802193"/>
            <a:ext cx="755703" cy="755703"/>
          </a:xfrm>
          <a:prstGeom prst="rect">
            <a:avLst/>
          </a:prstGeom>
        </p:spPr>
      </p:pic>
      <p:pic>
        <p:nvPicPr>
          <p:cNvPr id="8" name="Graphic 7" descr="Research with solid fill">
            <a:extLst>
              <a:ext uri="{FF2B5EF4-FFF2-40B4-BE49-F238E27FC236}">
                <a16:creationId xmlns:a16="http://schemas.microsoft.com/office/drawing/2014/main" id="{5AC5DBEB-B63C-47B0-9D61-BA8CF511F9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9147" y="1780773"/>
            <a:ext cx="755703" cy="755703"/>
          </a:xfrm>
          <a:prstGeom prst="rect">
            <a:avLst/>
          </a:prstGeom>
        </p:spPr>
      </p:pic>
      <p:pic>
        <p:nvPicPr>
          <p:cNvPr id="9" name="Graphic 8" descr="Cell Tower with solid fill">
            <a:extLst>
              <a:ext uri="{FF2B5EF4-FFF2-40B4-BE49-F238E27FC236}">
                <a16:creationId xmlns:a16="http://schemas.microsoft.com/office/drawing/2014/main" id="{EABE5615-DB84-43FD-9ADA-084EB19B329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7261" y="5216170"/>
            <a:ext cx="755703" cy="755703"/>
          </a:xfrm>
          <a:prstGeom prst="rect">
            <a:avLst/>
          </a:prstGeom>
        </p:spPr>
      </p:pic>
      <p:grpSp>
        <p:nvGrpSpPr>
          <p:cNvPr id="11" name="Group 10">
            <a:extLst>
              <a:ext uri="{FF2B5EF4-FFF2-40B4-BE49-F238E27FC236}">
                <a16:creationId xmlns:a16="http://schemas.microsoft.com/office/drawing/2014/main" id="{CD552417-1C30-4D75-B754-9BD5AF4594D4}"/>
              </a:ext>
            </a:extLst>
          </p:cNvPr>
          <p:cNvGrpSpPr/>
          <p:nvPr/>
        </p:nvGrpSpPr>
        <p:grpSpPr>
          <a:xfrm>
            <a:off x="5162406" y="-63328"/>
            <a:ext cx="6841472" cy="910091"/>
            <a:chOff x="5162406" y="-63328"/>
            <a:chExt cx="6841472" cy="910091"/>
          </a:xfrm>
        </p:grpSpPr>
        <p:graphicFrame>
          <p:nvGraphicFramePr>
            <p:cNvPr id="12" name="Diagram 11">
              <a:extLst>
                <a:ext uri="{FF2B5EF4-FFF2-40B4-BE49-F238E27FC236}">
                  <a16:creationId xmlns:a16="http://schemas.microsoft.com/office/drawing/2014/main" id="{90463886-64D9-4021-A58F-4FC92707596F}"/>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13" name="Graphic 12" descr="Clapper board with solid fill">
              <a:extLst>
                <a:ext uri="{FF2B5EF4-FFF2-40B4-BE49-F238E27FC236}">
                  <a16:creationId xmlns:a16="http://schemas.microsoft.com/office/drawing/2014/main" id="{86CA74A6-9174-4495-8847-CD9A8CB6E84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12252" y="245203"/>
              <a:ext cx="295446" cy="295446"/>
            </a:xfrm>
            <a:prstGeom prst="rect">
              <a:avLst/>
            </a:prstGeom>
          </p:spPr>
        </p:pic>
        <p:pic>
          <p:nvPicPr>
            <p:cNvPr id="14" name="Graphic 13" descr="Plugged Unplugged with solid fill">
              <a:extLst>
                <a:ext uri="{FF2B5EF4-FFF2-40B4-BE49-F238E27FC236}">
                  <a16:creationId xmlns:a16="http://schemas.microsoft.com/office/drawing/2014/main" id="{4212C9BD-18EF-4547-9F52-99E8FCA8A9C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413896" y="245203"/>
              <a:ext cx="295445" cy="295445"/>
            </a:xfrm>
            <a:prstGeom prst="rect">
              <a:avLst/>
            </a:prstGeom>
          </p:spPr>
        </p:pic>
        <p:pic>
          <p:nvPicPr>
            <p:cNvPr id="15" name="Graphic 14" descr="Internet Of Things with solid fill">
              <a:extLst>
                <a:ext uri="{FF2B5EF4-FFF2-40B4-BE49-F238E27FC236}">
                  <a16:creationId xmlns:a16="http://schemas.microsoft.com/office/drawing/2014/main" id="{44C3EBF7-117B-48D8-9C2F-498C58995831}"/>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530880" y="245203"/>
              <a:ext cx="295445" cy="295445"/>
            </a:xfrm>
            <a:prstGeom prst="rect">
              <a:avLst/>
            </a:prstGeom>
          </p:spPr>
        </p:pic>
        <p:pic>
          <p:nvPicPr>
            <p:cNvPr id="16" name="Graphic 15" descr="Ui Ux with solid fill">
              <a:extLst>
                <a:ext uri="{FF2B5EF4-FFF2-40B4-BE49-F238E27FC236}">
                  <a16:creationId xmlns:a16="http://schemas.microsoft.com/office/drawing/2014/main" id="{1B4D3419-4C25-4AFB-98C3-334EEC2A768A}"/>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472388" y="245203"/>
              <a:ext cx="295445" cy="295445"/>
            </a:xfrm>
            <a:prstGeom prst="rect">
              <a:avLst/>
            </a:prstGeom>
          </p:spPr>
        </p:pic>
        <p:pic>
          <p:nvPicPr>
            <p:cNvPr id="17" name="Graphic 16" descr="Open hand with plant with solid fill">
              <a:extLst>
                <a:ext uri="{FF2B5EF4-FFF2-40B4-BE49-F238E27FC236}">
                  <a16:creationId xmlns:a16="http://schemas.microsoft.com/office/drawing/2014/main" id="{C18514E7-F589-451C-B1C1-49C8DC0D8D3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377438" y="245203"/>
              <a:ext cx="307665" cy="307665"/>
            </a:xfrm>
            <a:prstGeom prst="rect">
              <a:avLst/>
            </a:prstGeom>
          </p:spPr>
        </p:pic>
        <p:pic>
          <p:nvPicPr>
            <p:cNvPr id="18" name="Graphic 17" descr="Books with solid fill">
              <a:extLst>
                <a:ext uri="{FF2B5EF4-FFF2-40B4-BE49-F238E27FC236}">
                  <a16:creationId xmlns:a16="http://schemas.microsoft.com/office/drawing/2014/main" id="{AD9AD56E-59CE-4C8D-91F8-AA837A348820}"/>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272672" y="245203"/>
              <a:ext cx="295445" cy="295445"/>
            </a:xfrm>
            <a:prstGeom prst="rect">
              <a:avLst/>
            </a:prstGeom>
          </p:spPr>
        </p:pic>
        <p:pic>
          <p:nvPicPr>
            <p:cNvPr id="19" name="Graphic 18" descr="Questions with solid fill">
              <a:extLst>
                <a:ext uri="{FF2B5EF4-FFF2-40B4-BE49-F238E27FC236}">
                  <a16:creationId xmlns:a16="http://schemas.microsoft.com/office/drawing/2014/main" id="{835DBC6C-78C8-4BC6-8EDF-CC48831BB35E}"/>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0298115" y="245203"/>
              <a:ext cx="295445" cy="295445"/>
            </a:xfrm>
            <a:prstGeom prst="rect">
              <a:avLst/>
            </a:prstGeom>
          </p:spPr>
        </p:pic>
      </p:grpSp>
      <p:sp>
        <p:nvSpPr>
          <p:cNvPr id="20" name="Rectangle: Diagonal Corners Rounded 19">
            <a:extLst>
              <a:ext uri="{FF2B5EF4-FFF2-40B4-BE49-F238E27FC236}">
                <a16:creationId xmlns:a16="http://schemas.microsoft.com/office/drawing/2014/main" id="{4378579B-4BD3-4BF6-9D7E-3A04A5B1C698}"/>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Generating Bearer Tokens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21" name="Rectangle: Diagonal Corners Snipped 20">
            <a:extLst>
              <a:ext uri="{FF2B5EF4-FFF2-40B4-BE49-F238E27FC236}">
                <a16:creationId xmlns:a16="http://schemas.microsoft.com/office/drawing/2014/main" id="{A9F27CCE-2520-46FE-B929-710EA3EC96BA}"/>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0" cap="none" spc="0" normalizeH="0" baseline="0" noProof="0" dirty="0">
                <a:ln>
                  <a:noFill/>
                </a:ln>
                <a:solidFill>
                  <a:prstClr val="white"/>
                </a:solidFill>
                <a:effectLst/>
                <a:uLnTx/>
                <a:uFillTx/>
                <a:latin typeface="Calibri" panose="020F0502020204030204"/>
                <a:ea typeface="+mn-ea"/>
                <a:cs typeface="+mn-cs"/>
              </a:rPr>
              <a:t>HMRC’s API endpoints in TDR are </a:t>
            </a:r>
            <a:r>
              <a:rPr lang="en-GB" b="1" kern="0" dirty="0">
                <a:solidFill>
                  <a:prstClr val="white"/>
                </a:solidFill>
                <a:latin typeface="Calibri" panose="020F0502020204030204"/>
              </a:rPr>
              <a:t>u</a:t>
            </a: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ser </a:t>
            </a:r>
            <a:r>
              <a:rPr lang="en-GB" b="1" kern="0" dirty="0">
                <a:solidFill>
                  <a:prstClr val="white"/>
                </a:solidFill>
                <a:latin typeface="Calibri" panose="020F0502020204030204"/>
              </a:rPr>
              <a:t>r</a:t>
            </a:r>
            <a:r>
              <a:rPr kumimoji="0" lang="en-GB" sz="1800" b="1" i="0" u="none" strike="noStrike" kern="0" cap="none" spc="0" normalizeH="0" baseline="0" noProof="0" dirty="0" err="1">
                <a:ln>
                  <a:noFill/>
                </a:ln>
                <a:solidFill>
                  <a:prstClr val="white"/>
                </a:solidFill>
                <a:effectLst/>
                <a:uLnTx/>
                <a:uFillTx/>
                <a:latin typeface="Calibri" panose="020F0502020204030204"/>
                <a:ea typeface="+mn-ea"/>
                <a:cs typeface="+mn-cs"/>
              </a:rPr>
              <a:t>estricted</a:t>
            </a:r>
            <a:r>
              <a:rPr kumimoji="0" lang="en-GB" sz="1800" i="0" u="none" strike="noStrike" kern="0" cap="none" spc="0" normalizeH="0" baseline="0" noProof="0" dirty="0">
                <a:ln>
                  <a:noFill/>
                </a:ln>
                <a:solidFill>
                  <a:prstClr val="white"/>
                </a:solidFill>
                <a:effectLst/>
                <a:uLnTx/>
                <a:uFillTx/>
                <a:latin typeface="Calibri" panose="020F0502020204030204"/>
                <a:ea typeface="+mn-ea"/>
                <a:cs typeface="+mn-cs"/>
              </a:rPr>
              <a:t> so you’ll need a </a:t>
            </a:r>
            <a:r>
              <a:rPr lang="en-GB" b="1" kern="0" dirty="0">
                <a:solidFill>
                  <a:prstClr val="white"/>
                </a:solidFill>
                <a:latin typeface="Calibri" panose="020F0502020204030204"/>
              </a:rPr>
              <a:t>Bearer</a:t>
            </a: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 Token</a:t>
            </a:r>
            <a:r>
              <a:rPr kumimoji="0" lang="en-GB" sz="1800" i="0" u="none" strike="noStrike" kern="0" cap="none" spc="0" normalizeH="0" baseline="0" noProof="0" dirty="0">
                <a:ln>
                  <a:noFill/>
                </a:ln>
                <a:solidFill>
                  <a:prstClr val="white"/>
                </a:solidFill>
                <a:effectLst/>
                <a:uLnTx/>
                <a:uFillTx/>
                <a:latin typeface="Calibri" panose="020F0502020204030204"/>
                <a:ea typeface="+mn-ea"/>
                <a:cs typeface="+mn-cs"/>
              </a:rPr>
              <a:t> to be granted access.</a:t>
            </a:r>
            <a:endPar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Slide Number Placeholder 2">
            <a:extLst>
              <a:ext uri="{FF2B5EF4-FFF2-40B4-BE49-F238E27FC236}">
                <a16:creationId xmlns:a16="http://schemas.microsoft.com/office/drawing/2014/main" id="{14AD88A7-37D4-44A5-8895-5988D6EF795D}"/>
              </a:ext>
            </a:extLst>
          </p:cNvPr>
          <p:cNvSpPr>
            <a:spLocks noGrp="1"/>
          </p:cNvSpPr>
          <p:nvPr>
            <p:ph type="sldNum" sz="quarter" idx="12"/>
          </p:nvPr>
        </p:nvSpPr>
        <p:spPr>
          <a:xfrm>
            <a:off x="9298661" y="6356350"/>
            <a:ext cx="2743200" cy="365125"/>
          </a:xfrm>
        </p:spPr>
        <p:txBody>
          <a:bodyPr/>
          <a:lstStyle/>
          <a:p>
            <a:fld id="{831A7E15-3B48-4B7B-BB52-54578FC31682}" type="slidenum">
              <a:rPr lang="en-GB" smtClean="0"/>
              <a:t>12</a:t>
            </a:fld>
            <a:endParaRPr lang="en-GB"/>
          </a:p>
        </p:txBody>
      </p:sp>
    </p:spTree>
    <p:extLst>
      <p:ext uri="{BB962C8B-B14F-4D97-AF65-F5344CB8AC3E}">
        <p14:creationId xmlns:p14="http://schemas.microsoft.com/office/powerpoint/2010/main" val="4227896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BFD89E-5C0C-45CB-9338-E37733BCEB39}"/>
              </a:ext>
            </a:extLst>
          </p:cNvPr>
          <p:cNvSpPr>
            <a:spLocks noGrp="1"/>
          </p:cNvSpPr>
          <p:nvPr>
            <p:ph type="sldNum" sz="quarter" idx="12"/>
          </p:nvPr>
        </p:nvSpPr>
        <p:spPr/>
        <p:txBody>
          <a:bodyPr/>
          <a:lstStyle/>
          <a:p>
            <a:fld id="{831A7E15-3B48-4B7B-BB52-54578FC31682}" type="slidenum">
              <a:rPr lang="en-GB" smtClean="0"/>
              <a:t>13</a:t>
            </a:fld>
            <a:endParaRPr lang="en-GB"/>
          </a:p>
        </p:txBody>
      </p:sp>
      <p:grpSp>
        <p:nvGrpSpPr>
          <p:cNvPr id="5" name="Group 4">
            <a:extLst>
              <a:ext uri="{FF2B5EF4-FFF2-40B4-BE49-F238E27FC236}">
                <a16:creationId xmlns:a16="http://schemas.microsoft.com/office/drawing/2014/main" id="{81005CB1-6C6D-4935-BC1C-BAAAEBEFC3F1}"/>
              </a:ext>
            </a:extLst>
          </p:cNvPr>
          <p:cNvGrpSpPr/>
          <p:nvPr/>
        </p:nvGrpSpPr>
        <p:grpSpPr>
          <a:xfrm>
            <a:off x="5162406" y="-63328"/>
            <a:ext cx="6841472" cy="910091"/>
            <a:chOff x="5162406" y="-63328"/>
            <a:chExt cx="6841472" cy="910091"/>
          </a:xfrm>
        </p:grpSpPr>
        <p:graphicFrame>
          <p:nvGraphicFramePr>
            <p:cNvPr id="6" name="Diagram 5">
              <a:extLst>
                <a:ext uri="{FF2B5EF4-FFF2-40B4-BE49-F238E27FC236}">
                  <a16:creationId xmlns:a16="http://schemas.microsoft.com/office/drawing/2014/main" id="{5D4754F9-285E-4FA6-9B9C-9400B024731E}"/>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phic 6" descr="Clapper board with solid fill">
              <a:extLst>
                <a:ext uri="{FF2B5EF4-FFF2-40B4-BE49-F238E27FC236}">
                  <a16:creationId xmlns:a16="http://schemas.microsoft.com/office/drawing/2014/main" id="{88F52462-D483-4F88-BA73-0EE46CEAE83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8" name="Graphic 7" descr="Plugged Unplugged with solid fill">
              <a:extLst>
                <a:ext uri="{FF2B5EF4-FFF2-40B4-BE49-F238E27FC236}">
                  <a16:creationId xmlns:a16="http://schemas.microsoft.com/office/drawing/2014/main" id="{456F875C-FD08-4FD9-A754-8AFD2A3875F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9" name="Graphic 8" descr="Internet Of Things with solid fill">
              <a:extLst>
                <a:ext uri="{FF2B5EF4-FFF2-40B4-BE49-F238E27FC236}">
                  <a16:creationId xmlns:a16="http://schemas.microsoft.com/office/drawing/2014/main" id="{C15F8AE9-A1DC-4028-A07A-4B753ABB41D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0" name="Graphic 9" descr="Ui Ux with solid fill">
              <a:extLst>
                <a:ext uri="{FF2B5EF4-FFF2-40B4-BE49-F238E27FC236}">
                  <a16:creationId xmlns:a16="http://schemas.microsoft.com/office/drawing/2014/main" id="{7A8511CB-DAEC-4395-9E3B-8B717F2477C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1" name="Graphic 10" descr="Open hand with plant with solid fill">
              <a:extLst>
                <a:ext uri="{FF2B5EF4-FFF2-40B4-BE49-F238E27FC236}">
                  <a16:creationId xmlns:a16="http://schemas.microsoft.com/office/drawing/2014/main" id="{3948F1F8-E2F2-48A4-ADAF-CEC5CD9A9D6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2" name="Graphic 11" descr="Books with solid fill">
              <a:extLst>
                <a:ext uri="{FF2B5EF4-FFF2-40B4-BE49-F238E27FC236}">
                  <a16:creationId xmlns:a16="http://schemas.microsoft.com/office/drawing/2014/main" id="{E560C6C4-30F3-4368-B013-F5E9FE0B51E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3" name="Graphic 12" descr="Questions with solid fill">
              <a:extLst>
                <a:ext uri="{FF2B5EF4-FFF2-40B4-BE49-F238E27FC236}">
                  <a16:creationId xmlns:a16="http://schemas.microsoft.com/office/drawing/2014/main" id="{810822C1-97E7-4566-82EF-FC9B112E73B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4" name="Rectangle: Diagonal Corners Rounded 13">
            <a:extLst>
              <a:ext uri="{FF2B5EF4-FFF2-40B4-BE49-F238E27FC236}">
                <a16:creationId xmlns:a16="http://schemas.microsoft.com/office/drawing/2014/main" id="{8C236129-E498-4A9E-B6BF-CF74B5F14125}"/>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Exports Functionality in TDR</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5" name="TextBox 14">
            <a:extLst>
              <a:ext uri="{FF2B5EF4-FFF2-40B4-BE49-F238E27FC236}">
                <a16:creationId xmlns:a16="http://schemas.microsoft.com/office/drawing/2014/main" id="{D42402F2-E8D5-4B56-8D5F-E92C377F26D8}"/>
              </a:ext>
            </a:extLst>
          </p:cNvPr>
          <p:cNvSpPr txBox="1"/>
          <p:nvPr/>
        </p:nvSpPr>
        <p:spPr>
          <a:xfrm>
            <a:off x="0" y="846763"/>
            <a:ext cx="6067642" cy="5880712"/>
          </a:xfrm>
          <a:prstGeom prst="rect">
            <a:avLst/>
          </a:prstGeom>
          <a:noFill/>
        </p:spPr>
        <p:txBody>
          <a:bodyPr wrap="square" rtlCol="0">
            <a:spAutoFit/>
          </a:bodyPr>
          <a:lstStyle/>
          <a:p>
            <a:pPr>
              <a:lnSpc>
                <a:spcPct val="150000"/>
              </a:lnSpc>
              <a:buClr>
                <a:srgbClr val="008D8E"/>
              </a:buClr>
              <a:tabLst>
                <a:tab pos="457200" algn="l"/>
              </a:tabLst>
              <a:defRPr/>
            </a:pPr>
            <a:r>
              <a:rPr kumimoji="0" lang="en-GB" sz="1200" b="1" i="0" u="none" strike="noStrike" kern="0" cap="none" spc="0" normalizeH="0" baseline="0" noProof="0">
                <a:ln>
                  <a:noFill/>
                </a:ln>
                <a:solidFill>
                  <a:srgbClr val="00928D"/>
                </a:solidFill>
                <a:effectLst/>
                <a:uLnTx/>
                <a:uFillTx/>
                <a:ea typeface="Geneva"/>
                <a:cs typeface="Arial"/>
              </a:rPr>
              <a:t>TDR offers the following functionality for </a:t>
            </a:r>
            <a:r>
              <a:rPr lang="en-GB" sz="1200" b="1" kern="0">
                <a:solidFill>
                  <a:srgbClr val="00928D"/>
                </a:solidFill>
                <a:ea typeface="Geneva"/>
                <a:cs typeface="Arial"/>
              </a:rPr>
              <a:t>Exports:</a:t>
            </a:r>
            <a:endParaRPr kumimoji="0" lang="en-GB" sz="1200" b="1" i="0" u="none" strike="noStrike" kern="1200" cap="none" spc="0" normalizeH="0" baseline="0" noProof="0">
              <a:ln>
                <a:noFill/>
              </a:ln>
              <a:solidFill>
                <a:srgbClr val="3B3A3D"/>
              </a:solidFill>
              <a:effectLst/>
              <a:uLnTx/>
              <a:uFillTx/>
              <a:ea typeface="Times New Roman" panose="02020603050405020304" pitchFamily="18" charset="0"/>
              <a:cs typeface="Calibri" panose="020F0502020204030204" pitchFamily="34" charset="0"/>
            </a:endParaRP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Submitting type A, B, C, D, E, F, J, K, Y and Z declarations in accordance with the UK Trade Tariff</a:t>
            </a:r>
          </a:p>
          <a:p>
            <a:pPr marL="342900" indent="-342900">
              <a:lnSpc>
                <a:spcPct val="150000"/>
              </a:lnSpc>
              <a:buClr>
                <a:srgbClr val="008D8E"/>
              </a:buClr>
              <a:buFont typeface="Wingdings" panose="05000000000000000000" pitchFamily="2" charset="2"/>
              <a:buChar char=""/>
              <a:tabLst>
                <a:tab pos="457200" algn="l"/>
              </a:tabLst>
              <a:defRPr/>
            </a:pPr>
            <a:r>
              <a:rPr lang="en-GB" sz="1200">
                <a:solidFill>
                  <a:srgbClr val="0B0C0C"/>
                </a:solidFill>
                <a:latin typeface="GDS Transport"/>
              </a:rPr>
              <a:t>R</a:t>
            </a:r>
            <a:r>
              <a:rPr lang="en-GB" sz="1200" b="0" i="0">
                <a:solidFill>
                  <a:srgbClr val="0B0C0C"/>
                </a:solidFill>
                <a:effectLst/>
                <a:latin typeface="GDS Transport"/>
              </a:rPr>
              <a:t>eceipt of trader notifications for the declaration submitted</a:t>
            </a:r>
            <a:endPar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endParaRP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Practicing ‘the arrival’ of goods</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Requests for amendment and invalidation</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Location-based loader-specific authorisations </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Submitting declarations at inventory linked and non-inventory linked locations</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Practicing the arrival and departure of a declaration using a declaration unique consignment reference at locations that do not use the Goods Vehicle Movement Service</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For TDR, post-clearance cancellations are in scope for exports. TDR can accept a cancellation request for a cleared exports declaration that has not been departed. </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TDR users can test the submission and validation of </a:t>
            </a:r>
            <a:r>
              <a:rPr kumimoji="0" lang="en-GB" sz="1200" b="0" i="0" u="none" strike="noStrike" kern="1200" cap="none" spc="0" normalizeH="0" baseline="0" noProof="0" err="1">
                <a:ln>
                  <a:noFill/>
                </a:ln>
                <a:solidFill>
                  <a:srgbClr val="000000"/>
                </a:solidFill>
                <a:effectLst/>
                <a:uLnTx/>
                <a:uFillTx/>
                <a:ea typeface="Times New Roman" panose="02020603050405020304" pitchFamily="18" charset="0"/>
                <a:cs typeface="Calibri" panose="020F0502020204030204" pitchFamily="34" charset="0"/>
              </a:rPr>
              <a:t>RoRo</a:t>
            </a: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 export declarations at GVMS locations (limited to submission and validation in CDS only, and not the full end to end journey)</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TDR supports the ability to submit a declaration with an Administrative Reference Code (ARC) number declared for excise duty suspended goods</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Assuring paper and electronic licence scenarios by entering the relevant document status codes</a:t>
            </a:r>
          </a:p>
          <a:p>
            <a:pPr marL="342900" indent="-342900">
              <a:lnSpc>
                <a:spcPct val="150000"/>
              </a:lnSpc>
              <a:buClr>
                <a:srgbClr val="008D8E"/>
              </a:buClr>
              <a:buFont typeface="Wingdings" panose="05000000000000000000" pitchFamily="2" charset="2"/>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TDR can simulate Case management controls</a:t>
            </a:r>
          </a:p>
          <a:p>
            <a:pPr marL="342900" indent="-342900">
              <a:lnSpc>
                <a:spcPct val="150000"/>
              </a:lnSpc>
              <a:buClr>
                <a:srgbClr val="008D8E"/>
              </a:buClr>
              <a:buFont typeface="Wingdings" panose="05000000000000000000" pitchFamily="2" charset="2"/>
              <a:buChar char=""/>
              <a:tabLst>
                <a:tab pos="457200" algn="l"/>
              </a:tabLst>
              <a:defRPr/>
            </a:pPr>
            <a:r>
              <a:rPr lang="en-GB" sz="1200">
                <a:solidFill>
                  <a:srgbClr val="000000"/>
                </a:solidFill>
                <a:ea typeface="Times New Roman" panose="02020603050405020304" pitchFamily="18" charset="0"/>
                <a:cs typeface="Calibri" panose="020F0502020204030204" pitchFamily="34" charset="0"/>
              </a:rPr>
              <a:t>Q</a:t>
            </a:r>
            <a:r>
              <a:rPr kumimoji="0" lang="en-GB" sz="1200" b="0" i="0" u="none" strike="noStrike" kern="1200" cap="none" spc="0" normalizeH="0" baseline="0" noProof="0" err="1">
                <a:ln>
                  <a:noFill/>
                </a:ln>
                <a:solidFill>
                  <a:srgbClr val="000000"/>
                </a:solidFill>
                <a:effectLst/>
                <a:uLnTx/>
                <a:uFillTx/>
                <a:ea typeface="Times New Roman" panose="02020603050405020304" pitchFamily="18" charset="0"/>
                <a:cs typeface="Calibri" panose="020F0502020204030204" pitchFamily="34" charset="0"/>
              </a:rPr>
              <a:t>uerying</a:t>
            </a: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 your declaration using the declaration information service</a:t>
            </a:r>
          </a:p>
        </p:txBody>
      </p:sp>
      <p:sp>
        <p:nvSpPr>
          <p:cNvPr id="16" name="TextBox 15">
            <a:extLst>
              <a:ext uri="{FF2B5EF4-FFF2-40B4-BE49-F238E27FC236}">
                <a16:creationId xmlns:a16="http://schemas.microsoft.com/office/drawing/2014/main" id="{00B37D76-80E6-45B3-90E6-B3E7227258F9}"/>
              </a:ext>
            </a:extLst>
          </p:cNvPr>
          <p:cNvSpPr txBox="1"/>
          <p:nvPr/>
        </p:nvSpPr>
        <p:spPr>
          <a:xfrm>
            <a:off x="6296870" y="846763"/>
            <a:ext cx="5855980" cy="3664721"/>
          </a:xfrm>
          <a:prstGeom prst="rect">
            <a:avLst/>
          </a:prstGeom>
          <a:noFill/>
        </p:spPr>
        <p:txBody>
          <a:bodyPr wrap="square">
            <a:spAutoFit/>
          </a:bodyPr>
          <a:lstStyle/>
          <a:p>
            <a:pPr>
              <a:lnSpc>
                <a:spcPct val="150000"/>
              </a:lnSpc>
              <a:buClr>
                <a:srgbClr val="C00000"/>
              </a:buClr>
              <a:tabLst>
                <a:tab pos="457200" algn="l"/>
              </a:tabLst>
              <a:defRPr/>
            </a:pPr>
            <a:r>
              <a:rPr kumimoji="0" lang="en-GB" sz="1200" b="1" i="0" u="none" strike="noStrike" kern="0" cap="none" spc="0" normalizeH="0" baseline="0" noProof="0">
                <a:ln>
                  <a:noFill/>
                </a:ln>
                <a:solidFill>
                  <a:srgbClr val="00928D"/>
                </a:solidFill>
                <a:effectLst/>
                <a:uLnTx/>
                <a:uFillTx/>
                <a:ea typeface="Geneva"/>
                <a:cs typeface="Arial"/>
              </a:rPr>
              <a:t>The following activities are not supported in TDR for Exports:</a:t>
            </a:r>
            <a:endParaRPr kumimoji="0" lang="en-GB" sz="1200" b="0" i="0" u="none" strike="noStrike" kern="1200" cap="none" spc="0" normalizeH="0" baseline="0" noProof="0">
              <a:ln>
                <a:noFill/>
              </a:ln>
              <a:effectLst/>
              <a:uLnTx/>
              <a:uFillTx/>
              <a:ea typeface="Times New Roman" panose="02020603050405020304" pitchFamily="18" charset="0"/>
              <a:cs typeface="Calibri"/>
            </a:endParaRP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Arrival and departure of an export declaration via GVMS system</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Arrival, departure and consolidation management of CHIEF export declarations, as exports dual running via CHIEF is not available in the TDR environment.</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Common Agricultural Products (CAP) scenarios for Exports.</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Limited MUCR responses (EMR will not be sent as stated in CR132).</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Empty Movement Scenarios (impacted by CR132).</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Paper license validation.</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A selection of declarant facing user Interfaces, including those for financial statements and the file upload UI.</a:t>
            </a:r>
          </a:p>
          <a:p>
            <a:pPr marL="342900" marR="0" lvl="0" indent="-342900" algn="l" defTabSz="914400" rtl="0" eaLnBrk="1" fontAlgn="auto" latinLnBrk="0" hangingPunct="1">
              <a:lnSpc>
                <a:spcPct val="150000"/>
              </a:lnSpc>
              <a:spcBef>
                <a:spcPts val="0"/>
              </a:spcBef>
              <a:spcAft>
                <a:spcPts val="0"/>
              </a:spcAft>
              <a:buClr>
                <a:srgbClr val="C00000"/>
              </a:buClr>
              <a:buSzTx/>
              <a:buFont typeface="Calibri" panose="020F0502020204030204" pitchFamily="34" charset="0"/>
              <a:buChar char="×"/>
              <a:tabLst>
                <a:tab pos="457200" algn="l"/>
              </a:tabLst>
              <a:defRPr/>
            </a:pPr>
            <a:r>
              <a:rPr kumimoji="0" lang="en-GB" sz="1200" b="0" i="0" u="none" strike="noStrike" kern="1200" cap="none" spc="0" normalizeH="0" baseline="0" noProof="0">
                <a:ln>
                  <a:noFill/>
                </a:ln>
                <a:solidFill>
                  <a:srgbClr val="000000"/>
                </a:solidFill>
                <a:effectLst/>
                <a:uLnTx/>
                <a:uFillTx/>
                <a:ea typeface="Times New Roman" panose="02020603050405020304" pitchFamily="18" charset="0"/>
                <a:cs typeface="Calibri" panose="020F0502020204030204" pitchFamily="34" charset="0"/>
              </a:rPr>
              <a:t>There is no functionality for the departure of an export declaration to trigger the closing of an entry in EMCS, as TDR processes dummy declarations and is not required to send data to the EU.</a:t>
            </a:r>
          </a:p>
        </p:txBody>
      </p:sp>
      <p:sp>
        <p:nvSpPr>
          <p:cNvPr id="2" name="TextBox 1">
            <a:extLst>
              <a:ext uri="{FF2B5EF4-FFF2-40B4-BE49-F238E27FC236}">
                <a16:creationId xmlns:a16="http://schemas.microsoft.com/office/drawing/2014/main" id="{BCF312B6-A3A3-6222-6A60-F20B3BCC9698}"/>
              </a:ext>
            </a:extLst>
          </p:cNvPr>
          <p:cNvSpPr txBox="1"/>
          <p:nvPr/>
        </p:nvSpPr>
        <p:spPr>
          <a:xfrm>
            <a:off x="6296870" y="5270070"/>
            <a:ext cx="5421449" cy="89473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tab pos="457200" algn="l"/>
              </a:tabLst>
              <a:defRPr/>
            </a:pPr>
            <a:r>
              <a:rPr kumimoji="0" lang="en-GB" sz="1200" b="1" i="0" u="none" strike="noStrike" kern="1200" cap="none" spc="0" normalizeH="0" baseline="0" noProof="0">
                <a:ln>
                  <a:noFill/>
                </a:ln>
                <a:solidFill>
                  <a:srgbClr val="000000"/>
                </a:solidFill>
                <a:effectLst/>
                <a:uLnTx/>
                <a:uFillTx/>
                <a:ea typeface="Geneva"/>
                <a:cs typeface="Calibri" panose="020F0502020204030204" pitchFamily="34" charset="0"/>
              </a:rPr>
              <a:t>NB</a:t>
            </a:r>
            <a:r>
              <a:rPr kumimoji="0" lang="en-GB" sz="1200" b="0" i="0" u="none" strike="noStrike" kern="1200" cap="none" spc="0" normalizeH="0" baseline="0" noProof="0">
                <a:ln>
                  <a:noFill/>
                </a:ln>
                <a:solidFill>
                  <a:srgbClr val="000000"/>
                </a:solidFill>
                <a:effectLst/>
                <a:uLnTx/>
                <a:uFillTx/>
                <a:ea typeface="Geneva"/>
                <a:cs typeface="Calibri" panose="020F0502020204030204" pitchFamily="34" charset="0"/>
              </a:rPr>
              <a:t> – As TDR uses real party data, available locations will be based on loaders’ authorised locations. Loaders’ access authorisations to arrive and depart at a particular port will be based on Production authorisations in CDS/CHIEF.</a:t>
            </a:r>
          </a:p>
        </p:txBody>
      </p:sp>
    </p:spTree>
    <p:extLst>
      <p:ext uri="{BB962C8B-B14F-4D97-AF65-F5344CB8AC3E}">
        <p14:creationId xmlns:p14="http://schemas.microsoft.com/office/powerpoint/2010/main" val="433350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D552417-1C30-4D75-B754-9BD5AF4594D4}"/>
              </a:ext>
            </a:extLst>
          </p:cNvPr>
          <p:cNvGrpSpPr/>
          <p:nvPr/>
        </p:nvGrpSpPr>
        <p:grpSpPr>
          <a:xfrm>
            <a:off x="5162406" y="-63328"/>
            <a:ext cx="6841472" cy="910091"/>
            <a:chOff x="5162406" y="-63328"/>
            <a:chExt cx="6841472" cy="910091"/>
          </a:xfrm>
        </p:grpSpPr>
        <p:graphicFrame>
          <p:nvGraphicFramePr>
            <p:cNvPr id="12" name="Diagram 11">
              <a:extLst>
                <a:ext uri="{FF2B5EF4-FFF2-40B4-BE49-F238E27FC236}">
                  <a16:creationId xmlns:a16="http://schemas.microsoft.com/office/drawing/2014/main" id="{90463886-64D9-4021-A58F-4FC92707596F}"/>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Graphic 12" descr="Clapper board with solid fill">
              <a:extLst>
                <a:ext uri="{FF2B5EF4-FFF2-40B4-BE49-F238E27FC236}">
                  <a16:creationId xmlns:a16="http://schemas.microsoft.com/office/drawing/2014/main" id="{86CA74A6-9174-4495-8847-CD9A8CB6E84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14" name="Graphic 13" descr="Plugged Unplugged with solid fill">
              <a:extLst>
                <a:ext uri="{FF2B5EF4-FFF2-40B4-BE49-F238E27FC236}">
                  <a16:creationId xmlns:a16="http://schemas.microsoft.com/office/drawing/2014/main" id="{4212C9BD-18EF-4547-9F52-99E8FCA8A9C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15" name="Graphic 14" descr="Internet Of Things with solid fill">
              <a:extLst>
                <a:ext uri="{FF2B5EF4-FFF2-40B4-BE49-F238E27FC236}">
                  <a16:creationId xmlns:a16="http://schemas.microsoft.com/office/drawing/2014/main" id="{44C3EBF7-117B-48D8-9C2F-498C5899583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6" name="Graphic 15" descr="Ui Ux with solid fill">
              <a:extLst>
                <a:ext uri="{FF2B5EF4-FFF2-40B4-BE49-F238E27FC236}">
                  <a16:creationId xmlns:a16="http://schemas.microsoft.com/office/drawing/2014/main" id="{1B4D3419-4C25-4AFB-98C3-334EEC2A768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7" name="Graphic 16" descr="Open hand with plant with solid fill">
              <a:extLst>
                <a:ext uri="{FF2B5EF4-FFF2-40B4-BE49-F238E27FC236}">
                  <a16:creationId xmlns:a16="http://schemas.microsoft.com/office/drawing/2014/main" id="{C18514E7-F589-451C-B1C1-49C8DC0D8D3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8" name="Graphic 17" descr="Books with solid fill">
              <a:extLst>
                <a:ext uri="{FF2B5EF4-FFF2-40B4-BE49-F238E27FC236}">
                  <a16:creationId xmlns:a16="http://schemas.microsoft.com/office/drawing/2014/main" id="{AD9AD56E-59CE-4C8D-91F8-AA837A34882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9" name="Graphic 18" descr="Questions with solid fill">
              <a:extLst>
                <a:ext uri="{FF2B5EF4-FFF2-40B4-BE49-F238E27FC236}">
                  <a16:creationId xmlns:a16="http://schemas.microsoft.com/office/drawing/2014/main" id="{835DBC6C-78C8-4BC6-8EDF-CC48831BB35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20" name="Rectangle: Diagonal Corners Rounded 19">
            <a:extLst>
              <a:ext uri="{FF2B5EF4-FFF2-40B4-BE49-F238E27FC236}">
                <a16:creationId xmlns:a16="http://schemas.microsoft.com/office/drawing/2014/main" id="{4378579B-4BD3-4BF6-9D7E-3A04A5B1C698}"/>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Inventory-Linked Functionality in TDR</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21" name="Rectangle: Diagonal Corners Snipped 20">
            <a:extLst>
              <a:ext uri="{FF2B5EF4-FFF2-40B4-BE49-F238E27FC236}">
                <a16:creationId xmlns:a16="http://schemas.microsoft.com/office/drawing/2014/main" id="{A9F27CCE-2520-46FE-B929-710EA3EC96BA}"/>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The table below outlines the functional capabilities in TDR to process the E2E journeys of DUCRs and MUCRs at Inventory-Linked (IVL) locations.</a:t>
            </a:r>
          </a:p>
        </p:txBody>
      </p:sp>
      <p:sp>
        <p:nvSpPr>
          <p:cNvPr id="22" name="Slide Number Placeholder 2">
            <a:extLst>
              <a:ext uri="{FF2B5EF4-FFF2-40B4-BE49-F238E27FC236}">
                <a16:creationId xmlns:a16="http://schemas.microsoft.com/office/drawing/2014/main" id="{14AD88A7-37D4-44A5-8895-5988D6EF795D}"/>
              </a:ext>
            </a:extLst>
          </p:cNvPr>
          <p:cNvSpPr>
            <a:spLocks noGrp="1"/>
          </p:cNvSpPr>
          <p:nvPr>
            <p:ph type="sldNum" sz="quarter" idx="12"/>
          </p:nvPr>
        </p:nvSpPr>
        <p:spPr>
          <a:xfrm>
            <a:off x="9298661" y="6356350"/>
            <a:ext cx="2743200" cy="365125"/>
          </a:xfrm>
        </p:spPr>
        <p:txBody>
          <a:bodyPr/>
          <a:lstStyle/>
          <a:p>
            <a:fld id="{831A7E15-3B48-4B7B-BB52-54578FC31682}" type="slidenum">
              <a:rPr lang="en-GB" smtClean="0"/>
              <a:t>14</a:t>
            </a:fld>
            <a:endParaRPr lang="en-GB"/>
          </a:p>
        </p:txBody>
      </p:sp>
      <p:graphicFrame>
        <p:nvGraphicFramePr>
          <p:cNvPr id="4" name="Table 5">
            <a:extLst>
              <a:ext uri="{FF2B5EF4-FFF2-40B4-BE49-F238E27FC236}">
                <a16:creationId xmlns:a16="http://schemas.microsoft.com/office/drawing/2014/main" id="{957B149C-2463-FE0A-C6C8-8B916E1D78DB}"/>
              </a:ext>
            </a:extLst>
          </p:cNvPr>
          <p:cNvGraphicFramePr>
            <a:graphicFrameLocks noGrp="1"/>
          </p:cNvGraphicFramePr>
          <p:nvPr>
            <p:extLst>
              <p:ext uri="{D42A27DB-BD31-4B8C-83A1-F6EECF244321}">
                <p14:modId xmlns:p14="http://schemas.microsoft.com/office/powerpoint/2010/main" val="1858447794"/>
              </p:ext>
            </p:extLst>
          </p:nvPr>
        </p:nvGraphicFramePr>
        <p:xfrm>
          <a:off x="452581" y="1729352"/>
          <a:ext cx="11237394" cy="3642360"/>
        </p:xfrm>
        <a:graphic>
          <a:graphicData uri="http://schemas.openxmlformats.org/drawingml/2006/table">
            <a:tbl>
              <a:tblPr firstRow="1" bandRow="1"/>
              <a:tblGrid>
                <a:gridCol w="1620767">
                  <a:extLst>
                    <a:ext uri="{9D8B030D-6E8A-4147-A177-3AD203B41FA5}">
                      <a16:colId xmlns:a16="http://schemas.microsoft.com/office/drawing/2014/main" val="3137304294"/>
                    </a:ext>
                  </a:extLst>
                </a:gridCol>
                <a:gridCol w="4550735">
                  <a:extLst>
                    <a:ext uri="{9D8B030D-6E8A-4147-A177-3AD203B41FA5}">
                      <a16:colId xmlns:a16="http://schemas.microsoft.com/office/drawing/2014/main" val="4073169285"/>
                    </a:ext>
                  </a:extLst>
                </a:gridCol>
                <a:gridCol w="5065892">
                  <a:extLst>
                    <a:ext uri="{9D8B030D-6E8A-4147-A177-3AD203B41FA5}">
                      <a16:colId xmlns:a16="http://schemas.microsoft.com/office/drawing/2014/main" val="2060174334"/>
                    </a:ext>
                  </a:extLst>
                </a:gridCol>
              </a:tblGrid>
              <a:tr h="32331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endParaRPr lang="en-GB">
                        <a:solidFill>
                          <a:schemeClr val="bg1"/>
                        </a:solidFill>
                        <a:latin typeface="+mn-lt"/>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latin typeface="+mn-lt"/>
                          <a:cs typeface="Arial" panose="020B0604020202020204" pitchFamily="34" charset="0"/>
                        </a:rPr>
                        <a:t>DUCR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latin typeface="+mn-lt"/>
                          <a:cs typeface="Arial" panose="020B0604020202020204" pitchFamily="34" charset="0"/>
                        </a:rPr>
                        <a:t>MUCR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28C"/>
                    </a:solidFill>
                  </a:tcPr>
                </a:tc>
                <a:extLst>
                  <a:ext uri="{0D108BD9-81ED-4DB2-BD59-A6C34878D82A}">
                    <a16:rowId xmlns:a16="http://schemas.microsoft.com/office/drawing/2014/main" val="447570967"/>
                  </a:ext>
                </a:extLst>
              </a:tr>
              <a:tr h="32251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sz="1200">
                          <a:solidFill>
                            <a:schemeClr val="bg1"/>
                          </a:solidFill>
                          <a:latin typeface="+mn-lt"/>
                          <a:cs typeface="Arial" panose="020B0604020202020204" pitchFamily="34" charset="0"/>
                        </a:rPr>
                        <a:t>Submission &amp; Validation</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GB" sz="1100" b="0" i="0" u="none" strike="noStrike" kern="1200" cap="none" spc="0" normalizeH="0" baseline="0" noProof="0">
                          <a:ln>
                            <a:noFill/>
                          </a:ln>
                          <a:solidFill>
                            <a:srgbClr val="000000"/>
                          </a:solidFill>
                          <a:effectLst/>
                          <a:uLnTx/>
                          <a:uFillTx/>
                          <a:latin typeface="+mn-lt"/>
                          <a:cs typeface="Arial" panose="020B0604020202020204" pitchFamily="34" charset="0"/>
                        </a:rPr>
                        <a:t>Submission of a DUCR at IVL Locations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lang="en-GB" sz="1100">
                          <a:solidFill>
                            <a:srgbClr val="000000"/>
                          </a:solidFill>
                          <a:latin typeface="+mn-lt"/>
                          <a:cs typeface="Arial" panose="020B0604020202020204" pitchFamily="34" charset="0"/>
                        </a:rPr>
                        <a:t>Validation of a DUCR at IVL Locations</a:t>
                      </a:r>
                      <a:endParaRPr kumimoji="0" lang="en-GB" sz="1100" b="0" i="0" u="none" strike="noStrike" kern="1200" cap="none" spc="0" normalizeH="0" baseline="0" noProof="0">
                        <a:ln>
                          <a:noFill/>
                        </a:ln>
                        <a:solidFill>
                          <a:srgbClr val="000000"/>
                        </a:solidFill>
                        <a:effectLst/>
                        <a:uLnTx/>
                        <a:uFillTx/>
                        <a:latin typeface="+mn-lt"/>
                        <a:cs typeface="Arial" panose="020B060402020202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GB" sz="1100" b="0" i="0" u="none" strike="noStrike" kern="1200" cap="none" spc="0" normalizeH="0" baseline="0" noProof="0">
                          <a:ln>
                            <a:noFill/>
                          </a:ln>
                          <a:solidFill>
                            <a:srgbClr val="000000"/>
                          </a:solidFill>
                          <a:effectLst/>
                          <a:uLnTx/>
                          <a:uFillTx/>
                          <a:latin typeface="+mn-lt"/>
                          <a:cs typeface="Arial" panose="020B0604020202020204" pitchFamily="34" charset="0"/>
                        </a:rPr>
                        <a:t>Submission of a MUCR at IVL Locations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lang="en-GB" sz="1100">
                          <a:solidFill>
                            <a:srgbClr val="000000"/>
                          </a:solidFill>
                          <a:latin typeface="+mn-lt"/>
                          <a:cs typeface="Arial" panose="020B0604020202020204" pitchFamily="34" charset="0"/>
                        </a:rPr>
                        <a:t>Validation of a MUCR at IVL Locations</a:t>
                      </a:r>
                      <a:endParaRPr kumimoji="0" lang="en-GB" sz="1100" b="0" i="0" u="none" strike="noStrike" kern="1200" cap="none" spc="0" normalizeH="0" baseline="0" noProof="0">
                        <a:ln>
                          <a:noFill/>
                        </a:ln>
                        <a:solidFill>
                          <a:srgbClr val="000000"/>
                        </a:solidFill>
                        <a:effectLst/>
                        <a:uLnTx/>
                        <a:uFillTx/>
                        <a:latin typeface="+mn-lt"/>
                        <a:cs typeface="Arial" panose="020B060402020202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extLst>
                  <a:ext uri="{0D108BD9-81ED-4DB2-BD59-A6C34878D82A}">
                    <a16:rowId xmlns:a16="http://schemas.microsoft.com/office/drawing/2014/main" val="1164348926"/>
                  </a:ext>
                </a:extLst>
              </a:tr>
              <a:tr h="48497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GB" sz="1200">
                        <a:solidFill>
                          <a:schemeClr val="bg1"/>
                        </a:solidFill>
                        <a:latin typeface="+mn-lt"/>
                        <a:cs typeface="Arial" panose="020B0604020202020204" pitchFamily="34" charset="0"/>
                      </a:endParaRPr>
                    </a:p>
                    <a:p>
                      <a:pPr algn="ctr"/>
                      <a:r>
                        <a:rPr lang="en-GB" sz="1200">
                          <a:solidFill>
                            <a:schemeClr val="bg1"/>
                          </a:solidFill>
                          <a:latin typeface="+mn-lt"/>
                          <a:cs typeface="Arial" panose="020B0604020202020204" pitchFamily="34" charset="0"/>
                        </a:rPr>
                        <a:t>Consolidations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Association of a DUCR to MUCR (EAC)</a:t>
                      </a:r>
                    </a:p>
                    <a:p>
                      <a:pPr marL="171450" indent="-171450">
                        <a:buFont typeface="Wingdings" panose="05000000000000000000" pitchFamily="2" charset="2"/>
                        <a:buChar char="ü"/>
                      </a:pPr>
                      <a:r>
                        <a:rPr lang="en-GB" sz="1100">
                          <a:latin typeface="+mn-lt"/>
                          <a:cs typeface="Arial" panose="020B0604020202020204" pitchFamily="34" charset="0"/>
                        </a:rPr>
                        <a:t>Disassociation of DUCR from a MUCR (EAC)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Association of a MUCR/DUCR to MUCR (EAC)</a:t>
                      </a:r>
                    </a:p>
                    <a:p>
                      <a:pPr marL="171450" indent="-171450">
                        <a:buFont typeface="Wingdings" panose="05000000000000000000" pitchFamily="2" charset="2"/>
                        <a:buChar char="ü"/>
                      </a:pPr>
                      <a:r>
                        <a:rPr lang="en-GB" sz="1100">
                          <a:latin typeface="+mn-lt"/>
                          <a:cs typeface="Arial" panose="020B0604020202020204" pitchFamily="34" charset="0"/>
                        </a:rPr>
                        <a:t>Disassociation of MUCR/DUCR from a MUCR (EAC)</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100" b="0" i="0" u="none" strike="noStrike" kern="1200" cap="none" spc="0" normalizeH="0" baseline="0" noProof="0">
                          <a:ln>
                            <a:noFill/>
                          </a:ln>
                          <a:solidFill>
                            <a:srgbClr val="000000"/>
                          </a:solidFill>
                          <a:effectLst/>
                          <a:uLnTx/>
                          <a:uFillTx/>
                          <a:latin typeface="+mn-lt"/>
                          <a:ea typeface="+mn-ea"/>
                          <a:cs typeface="Arial" panose="020B0604020202020204" pitchFamily="34" charset="0"/>
                        </a:rPr>
                        <a:t>Shutting a Consolidation at MUCR level (EAC/CST)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extLst>
                  <a:ext uri="{0D108BD9-81ED-4DB2-BD59-A6C34878D82A}">
                    <a16:rowId xmlns:a16="http://schemas.microsoft.com/office/drawing/2014/main" val="2520863496"/>
                  </a:ext>
                </a:extLst>
              </a:tr>
              <a:tr h="48497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GB" sz="1200">
                        <a:solidFill>
                          <a:schemeClr val="bg1"/>
                        </a:solidFill>
                        <a:latin typeface="+mn-lt"/>
                        <a:cs typeface="Arial" panose="020B0604020202020204" pitchFamily="34" charset="0"/>
                      </a:endParaRPr>
                    </a:p>
                    <a:p>
                      <a:pPr algn="ctr"/>
                      <a:r>
                        <a:rPr lang="en-GB" sz="1200">
                          <a:solidFill>
                            <a:schemeClr val="bg1"/>
                          </a:solidFill>
                          <a:latin typeface="+mn-lt"/>
                          <a:cs typeface="Arial" panose="020B0604020202020204" pitchFamily="34" charset="0"/>
                        </a:rPr>
                        <a:t>Movements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Export Anticipated Arrival (EAA)</a:t>
                      </a:r>
                    </a:p>
                    <a:p>
                      <a:pPr marL="171450" indent="-171450">
                        <a:buFont typeface="Wingdings" panose="05000000000000000000" pitchFamily="2" charset="2"/>
                        <a:buChar char="ü"/>
                      </a:pPr>
                      <a:r>
                        <a:rPr lang="en-GB" sz="1100">
                          <a:latin typeface="+mn-lt"/>
                          <a:cs typeface="Arial" panose="020B0604020202020204" pitchFamily="34" charset="0"/>
                        </a:rPr>
                        <a:t>Export Arrival at Location (EAL)</a:t>
                      </a:r>
                    </a:p>
                    <a:p>
                      <a:pPr marL="171450" indent="-171450">
                        <a:buFont typeface="Wingdings" panose="05000000000000000000" pitchFamily="2" charset="2"/>
                        <a:buChar char="ü"/>
                      </a:pPr>
                      <a:r>
                        <a:rPr lang="en-GB" sz="1100">
                          <a:latin typeface="+mn-lt"/>
                          <a:cs typeface="Arial" panose="020B0604020202020204" pitchFamily="34" charset="0"/>
                        </a:rPr>
                        <a:t>Export Departure at Location (EDL)</a:t>
                      </a:r>
                    </a:p>
                    <a:p>
                      <a:pPr marL="171450" marR="0" lvl="0" indent="-171450" algn="l" defTabSz="914400" rtl="0" eaLnBrk="1" fontAlgn="auto" latinLnBrk="0" hangingPunct="1">
                        <a:lnSpc>
                          <a:spcPct val="100000"/>
                        </a:lnSpc>
                        <a:spcBef>
                          <a:spcPts val="0"/>
                        </a:spcBef>
                        <a:spcAft>
                          <a:spcPts val="0"/>
                        </a:spcAft>
                        <a:buClrTx/>
                        <a:buSzTx/>
                        <a:buFontTx/>
                        <a:buBlip>
                          <a:blip r:embed="rId21">
                            <a:extLst>
                              <a:ext uri="{96DAC541-7B7A-43D3-8B79-37D633B846F1}">
                                <asvg:svgBlip xmlns:asvg="http://schemas.microsoft.com/office/drawing/2016/SVG/main" r:embed="rId22"/>
                              </a:ext>
                            </a:extLst>
                          </a:blip>
                        </a:buBlip>
                        <a:tabLst/>
                        <a:defRPr/>
                      </a:pPr>
                      <a:r>
                        <a:rPr lang="en-GB" sz="1100">
                          <a:latin typeface="+mn-lt"/>
                          <a:cs typeface="Arial" panose="020B0604020202020204" pitchFamily="34" charset="0"/>
                        </a:rPr>
                        <a:t>Empty Movements EAA/EAL response/CRC (CR132)</a:t>
                      </a:r>
                      <a:endParaRPr lang="en-GB" sz="1100" b="1">
                        <a:latin typeface="+mn-lt"/>
                        <a:cs typeface="Arial" panose="020B060402020202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Export Anticipated Arrival (EAA)</a:t>
                      </a:r>
                    </a:p>
                    <a:p>
                      <a:pPr marL="171450" indent="-171450">
                        <a:buFont typeface="Wingdings" panose="05000000000000000000" pitchFamily="2" charset="2"/>
                        <a:buChar char="ü"/>
                      </a:pPr>
                      <a:r>
                        <a:rPr lang="en-GB" sz="1100">
                          <a:latin typeface="+mn-lt"/>
                          <a:cs typeface="Arial" panose="020B0604020202020204" pitchFamily="34" charset="0"/>
                        </a:rPr>
                        <a:t>Export Arrival at Location (EAL)</a:t>
                      </a:r>
                    </a:p>
                    <a:p>
                      <a:pPr marL="171450" indent="-171450">
                        <a:buFont typeface="Wingdings" panose="05000000000000000000" pitchFamily="2" charset="2"/>
                        <a:buChar char="ü"/>
                      </a:pPr>
                      <a:r>
                        <a:rPr lang="en-GB" sz="1100">
                          <a:latin typeface="+mn-lt"/>
                          <a:cs typeface="Arial" panose="020B0604020202020204" pitchFamily="34" charset="0"/>
                        </a:rPr>
                        <a:t>Export Departure at Location (EDL)</a:t>
                      </a:r>
                    </a:p>
                    <a:p>
                      <a:pPr marL="171450" marR="0" lvl="0" indent="-171450" algn="l" defTabSz="914400" rtl="0" eaLnBrk="1" fontAlgn="auto" latinLnBrk="0" hangingPunct="1">
                        <a:lnSpc>
                          <a:spcPct val="100000"/>
                        </a:lnSpc>
                        <a:spcBef>
                          <a:spcPts val="0"/>
                        </a:spcBef>
                        <a:spcAft>
                          <a:spcPts val="0"/>
                        </a:spcAft>
                        <a:buClrTx/>
                        <a:buSzTx/>
                        <a:buFontTx/>
                        <a:buBlip>
                          <a:blip r:embed="rId21">
                            <a:extLst>
                              <a:ext uri="{96DAC541-7B7A-43D3-8B79-37D633B846F1}">
                                <asvg:svgBlip xmlns:asvg="http://schemas.microsoft.com/office/drawing/2016/SVG/main" r:embed="rId22"/>
                              </a:ext>
                            </a:extLst>
                          </a:blip>
                        </a:buBlip>
                        <a:tabLst/>
                        <a:defRPr/>
                      </a:pPr>
                      <a:r>
                        <a:rPr lang="en-GB" sz="1100">
                          <a:latin typeface="+mn-lt"/>
                          <a:cs typeface="Arial" panose="020B0604020202020204" pitchFamily="34" charset="0"/>
                        </a:rPr>
                        <a:t>Empty Movements EAA/EAL response/CRC (CR132)</a:t>
                      </a:r>
                      <a:endParaRPr lang="en-GB" sz="1100" b="1">
                        <a:latin typeface="+mn-lt"/>
                        <a:cs typeface="Arial" panose="020B060402020202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extLst>
                  <a:ext uri="{0D108BD9-81ED-4DB2-BD59-A6C34878D82A}">
                    <a16:rowId xmlns:a16="http://schemas.microsoft.com/office/drawing/2014/main" val="638220020"/>
                  </a:ext>
                </a:extLst>
              </a:tr>
              <a:tr h="24248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sz="1200">
                          <a:solidFill>
                            <a:schemeClr val="bg1"/>
                          </a:solidFill>
                          <a:latin typeface="+mn-lt"/>
                          <a:cs typeface="Arial" panose="020B0604020202020204" pitchFamily="34" charset="0"/>
                        </a:rPr>
                        <a:t>ILE Query Service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Use query service to return DUCR status and details of Inventory Linked Consignments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100" b="0" i="0" u="none" strike="noStrike" kern="1200" cap="none" spc="0" normalizeH="0" baseline="0" noProof="0">
                          <a:ln>
                            <a:noFill/>
                          </a:ln>
                          <a:solidFill>
                            <a:srgbClr val="000000"/>
                          </a:solidFill>
                          <a:effectLst/>
                          <a:uLnTx/>
                          <a:uFillTx/>
                          <a:latin typeface="+mn-lt"/>
                          <a:ea typeface="+mn-ea"/>
                          <a:cs typeface="Arial" panose="020B0604020202020204" pitchFamily="34" charset="0"/>
                        </a:rPr>
                        <a:t>Use query service to return MUCR status </a:t>
                      </a:r>
                      <a:r>
                        <a:rPr lang="en-GB" sz="1100">
                          <a:latin typeface="+mn-lt"/>
                          <a:cs typeface="Arial" panose="020B0604020202020204" pitchFamily="34" charset="0"/>
                        </a:rPr>
                        <a:t>and details of Inventory Linked Consignments</a:t>
                      </a:r>
                      <a:endParaRPr kumimoji="0" lang="en-GB" sz="11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extLst>
                  <a:ext uri="{0D108BD9-81ED-4DB2-BD59-A6C34878D82A}">
                    <a16:rowId xmlns:a16="http://schemas.microsoft.com/office/drawing/2014/main" val="162168581"/>
                  </a:ext>
                </a:extLst>
              </a:tr>
              <a:tr h="24248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sz="1200">
                          <a:solidFill>
                            <a:schemeClr val="bg1"/>
                          </a:solidFill>
                          <a:latin typeface="+mn-lt"/>
                          <a:cs typeface="Arial" panose="020B0604020202020204" pitchFamily="34" charset="0"/>
                        </a:rPr>
                        <a:t>Re-Arrivals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Re-Arrivals scenarios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Re-Arrivals scenarios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40000"/>
                      </a:srgbClr>
                    </a:solidFill>
                  </a:tcPr>
                </a:tc>
                <a:extLst>
                  <a:ext uri="{0D108BD9-81ED-4DB2-BD59-A6C34878D82A}">
                    <a16:rowId xmlns:a16="http://schemas.microsoft.com/office/drawing/2014/main" val="358575643"/>
                  </a:ext>
                </a:extLst>
              </a:tr>
              <a:tr h="75441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GB" sz="1200">
                        <a:solidFill>
                          <a:schemeClr val="bg1"/>
                        </a:solidFill>
                        <a:latin typeface="+mn-lt"/>
                        <a:cs typeface="Arial" panose="020B0604020202020204" pitchFamily="34" charset="0"/>
                      </a:endParaRPr>
                    </a:p>
                    <a:p>
                      <a:pPr algn="ctr"/>
                      <a:r>
                        <a:rPr lang="en-GB" sz="1200">
                          <a:solidFill>
                            <a:schemeClr val="bg1"/>
                          </a:solidFill>
                          <a:latin typeface="+mn-lt"/>
                          <a:cs typeface="Arial" panose="020B0604020202020204" pitchFamily="34" charset="0"/>
                        </a:rPr>
                        <a:t>Notifications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indent="-171450">
                        <a:buFont typeface="Wingdings" panose="05000000000000000000" pitchFamily="2" charset="2"/>
                        <a:buChar char="ü"/>
                      </a:pPr>
                      <a:r>
                        <a:rPr lang="en-GB" sz="1100">
                          <a:latin typeface="+mn-lt"/>
                          <a:cs typeface="Arial" panose="020B0604020202020204" pitchFamily="34" charset="0"/>
                        </a:rPr>
                        <a:t>All DMS notifications received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GB" sz="1100">
                          <a:latin typeface="+mn-lt"/>
                          <a:cs typeface="Arial" panose="020B0604020202020204" pitchFamily="34" charset="0"/>
                        </a:rPr>
                        <a:t>Acknowledgement (UKCTRL) notifications received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GB" sz="1100">
                          <a:latin typeface="+mn-lt"/>
                          <a:cs typeface="Arial" panose="020B0604020202020204" pitchFamily="34" charset="0"/>
                        </a:rPr>
                        <a:t>Export Route Status (ERS) notification will be sent to message submitter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GB" sz="1100" b="0">
                          <a:latin typeface="+mn-lt"/>
                          <a:cs typeface="Arial" panose="020B0604020202020204" pitchFamily="34" charset="0"/>
                        </a:rPr>
                        <a:t>DMS notifications received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GB" sz="1100">
                          <a:latin typeface="+mn-lt"/>
                          <a:cs typeface="Arial" panose="020B0604020202020204" pitchFamily="34" charset="0"/>
                        </a:rPr>
                        <a:t>Acknowledgement (UKCTRL) notifications received</a:t>
                      </a:r>
                    </a:p>
                    <a:p>
                      <a:pPr marL="171450" indent="-171450">
                        <a:buFontTx/>
                        <a:buBlip>
                          <a:blip r:embed="rId21">
                            <a:extLst>
                              <a:ext uri="{96DAC541-7B7A-43D3-8B79-37D633B846F1}">
                                <asvg:svgBlip xmlns:asvg="http://schemas.microsoft.com/office/drawing/2016/SVG/main" r:embed="rId22"/>
                              </a:ext>
                            </a:extLst>
                          </a:blip>
                        </a:buBlip>
                      </a:pPr>
                      <a:r>
                        <a:rPr lang="en-GB" sz="1100">
                          <a:latin typeface="+mn-lt"/>
                          <a:cs typeface="Arial" panose="020B0604020202020204" pitchFamily="34" charset="0"/>
                        </a:rPr>
                        <a:t>Export Master Arrival Response (EMR) will </a:t>
                      </a:r>
                      <a:r>
                        <a:rPr lang="en-GB" sz="1100" b="1">
                          <a:latin typeface="+mn-lt"/>
                          <a:cs typeface="Arial" panose="020B0604020202020204" pitchFamily="34" charset="0"/>
                        </a:rPr>
                        <a:t>not</a:t>
                      </a:r>
                      <a:r>
                        <a:rPr lang="en-GB" sz="1100">
                          <a:latin typeface="+mn-lt"/>
                          <a:cs typeface="Arial" panose="020B0604020202020204" pitchFamily="34" charset="0"/>
                        </a:rPr>
                        <a:t> be sent to message submitter (CR132)</a:t>
                      </a:r>
                      <a:endParaRPr lang="en-GB" sz="1100" b="1">
                        <a:latin typeface="+mn-lt"/>
                        <a:cs typeface="Arial" panose="020B060402020202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928C">
                        <a:tint val="20000"/>
                      </a:srgbClr>
                    </a:solidFill>
                  </a:tcPr>
                </a:tc>
                <a:extLst>
                  <a:ext uri="{0D108BD9-81ED-4DB2-BD59-A6C34878D82A}">
                    <a16:rowId xmlns:a16="http://schemas.microsoft.com/office/drawing/2014/main" val="2649862907"/>
                  </a:ext>
                </a:extLst>
              </a:tr>
            </a:tbl>
          </a:graphicData>
        </a:graphic>
      </p:graphicFrame>
      <p:sp>
        <p:nvSpPr>
          <p:cNvPr id="10" name="TextBox 9">
            <a:extLst>
              <a:ext uri="{FF2B5EF4-FFF2-40B4-BE49-F238E27FC236}">
                <a16:creationId xmlns:a16="http://schemas.microsoft.com/office/drawing/2014/main" id="{676DD0C5-54CF-E5A1-AB2B-61579B51CE8B}"/>
              </a:ext>
            </a:extLst>
          </p:cNvPr>
          <p:cNvSpPr txBox="1"/>
          <p:nvPr/>
        </p:nvSpPr>
        <p:spPr>
          <a:xfrm>
            <a:off x="979675" y="5502333"/>
            <a:ext cx="10232650" cy="827855"/>
          </a:xfrm>
          <a:prstGeom prst="rect">
            <a:avLst/>
          </a:prstGeom>
          <a:solidFill>
            <a:srgbClr val="00928D"/>
          </a:solidFill>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lang="en-GB" sz="1100" b="1" u="sng" kern="0">
                <a:solidFill>
                  <a:schemeClr val="bg1"/>
                </a:solidFill>
                <a:cs typeface="Arial" panose="020B0604020202020204" pitchFamily="34" charset="0"/>
              </a:rPr>
              <a:t>Please Note</a:t>
            </a:r>
            <a:r>
              <a:rPr kumimoji="0" lang="en-GB" sz="1100" b="1" i="0" u="sng" strike="noStrike" kern="0" cap="none" spc="0" normalizeH="0" baseline="0" noProof="0">
                <a:ln>
                  <a:noFill/>
                </a:ln>
                <a:solidFill>
                  <a:schemeClr val="bg1"/>
                </a:solidFill>
                <a:effectLst/>
                <a:uLnTx/>
                <a:uFillTx/>
                <a:cs typeface="Arial" panose="020B0604020202020204" pitchFamily="34" charset="0"/>
              </a:rPr>
              <a:t>:</a:t>
            </a: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schemeClr val="bg1"/>
                </a:solidFill>
                <a:effectLst/>
                <a:uLnTx/>
                <a:uFillTx/>
                <a:cs typeface="Arial" panose="020B0604020202020204" pitchFamily="34" charset="0"/>
              </a:rPr>
              <a:t>Empty movement </a:t>
            </a:r>
            <a:r>
              <a:rPr lang="en-GB" sz="1100" kern="0">
                <a:solidFill>
                  <a:schemeClr val="bg1"/>
                </a:solidFill>
                <a:cs typeface="Arial" panose="020B0604020202020204" pitchFamily="34" charset="0"/>
              </a:rPr>
              <a:t>s</a:t>
            </a:r>
            <a:r>
              <a:rPr kumimoji="0" lang="en-GB" sz="1100" b="0" i="0" u="none" strike="noStrike" kern="0" cap="none" spc="0" normalizeH="0" baseline="0" noProof="0" err="1">
                <a:ln>
                  <a:noFill/>
                </a:ln>
                <a:solidFill>
                  <a:schemeClr val="bg1"/>
                </a:solidFill>
                <a:effectLst/>
                <a:uLnTx/>
                <a:uFillTx/>
                <a:cs typeface="Arial" panose="020B0604020202020204" pitchFamily="34" charset="0"/>
              </a:rPr>
              <a:t>cenarios</a:t>
            </a:r>
            <a:r>
              <a:rPr kumimoji="0" lang="en-GB" sz="1100" b="0" i="0" u="none" strike="noStrike" kern="0" cap="none" spc="0" normalizeH="0" baseline="0" noProof="0">
                <a:ln>
                  <a:noFill/>
                </a:ln>
                <a:solidFill>
                  <a:schemeClr val="bg1"/>
                </a:solidFill>
                <a:effectLst/>
                <a:uLnTx/>
                <a:uFillTx/>
                <a:cs typeface="Arial" panose="020B0604020202020204" pitchFamily="34" charset="0"/>
              </a:rPr>
              <a:t> cannot be practiced, and EMRs will not be received in TDR for MUCR movements due to CR132.</a:t>
            </a: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schemeClr val="bg1"/>
                </a:solidFill>
                <a:effectLst/>
                <a:uLnTx/>
                <a:uFillTx/>
                <a:cs typeface="Arial" panose="020B0604020202020204" pitchFamily="34" charset="0"/>
              </a:rPr>
              <a:t>Users are encouraged to consult the </a:t>
            </a:r>
            <a:r>
              <a:rPr lang="en-GB" sz="1100" kern="0">
                <a:solidFill>
                  <a:schemeClr val="bg1"/>
                </a:solidFill>
                <a:cs typeface="Arial" panose="020B0604020202020204" pitchFamily="34" charset="0"/>
                <a:hlinkClick r:id="rId23">
                  <a:extLst>
                    <a:ext uri="{A12FA001-AC4F-418D-AE19-62706E023703}">
                      <ahyp:hlinkClr xmlns:ahyp="http://schemas.microsoft.com/office/drawing/2018/hyperlinkcolor" val="tx"/>
                    </a:ext>
                  </a:extLst>
                </a:hlinkClick>
              </a:rPr>
              <a:t>Consolidated Workaround Document</a:t>
            </a:r>
            <a:r>
              <a:rPr lang="en-GB" sz="1100" kern="0">
                <a:solidFill>
                  <a:schemeClr val="bg1"/>
                </a:solidFill>
                <a:cs typeface="Arial" panose="020B0604020202020204" pitchFamily="34" charset="0"/>
              </a:rPr>
              <a:t> </a:t>
            </a:r>
            <a:r>
              <a:rPr kumimoji="0" lang="en-GB" sz="1100" b="0" i="0" u="none" strike="noStrike" kern="0" cap="none" spc="0" normalizeH="0" baseline="0" noProof="0">
                <a:ln>
                  <a:noFill/>
                </a:ln>
                <a:solidFill>
                  <a:schemeClr val="bg1"/>
                </a:solidFill>
                <a:effectLst/>
                <a:uLnTx/>
                <a:uFillTx/>
                <a:cs typeface="Arial" panose="020B0604020202020204" pitchFamily="34" charset="0"/>
              </a:rPr>
              <a:t>and KEL to understand the latest defects and workarounds applicable to TDR</a:t>
            </a:r>
            <a:r>
              <a:rPr kumimoji="0" lang="en-GB" sz="1050" b="0" i="0" u="none" strike="noStrike" kern="0" cap="none" spc="0" normalizeH="0" baseline="0" noProof="0">
                <a:ln>
                  <a:noFill/>
                </a:ln>
                <a:solidFill>
                  <a:schemeClr val="bg1"/>
                </a:solidFill>
                <a:effectLst/>
                <a:uLnTx/>
                <a:uFillTx/>
                <a:cs typeface="Arial" panose="020B0604020202020204" pitchFamily="34" charset="0"/>
              </a:rPr>
              <a:t>.</a:t>
            </a:r>
          </a:p>
        </p:txBody>
      </p:sp>
    </p:spTree>
    <p:extLst>
      <p:ext uri="{BB962C8B-B14F-4D97-AF65-F5344CB8AC3E}">
        <p14:creationId xmlns:p14="http://schemas.microsoft.com/office/powerpoint/2010/main" val="3229038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a:solidFill>
                  <a:schemeClr val="tx1"/>
                </a:solidFill>
              </a:rPr>
              <a:t>Going Live: CDS </a:t>
            </a:r>
            <a:endParaRPr lang="en-US">
              <a:solidFill>
                <a:schemeClr val="tx1"/>
              </a:solidFill>
            </a:endParaRPr>
          </a:p>
        </p:txBody>
      </p:sp>
    </p:spTree>
    <p:extLst>
      <p:ext uri="{BB962C8B-B14F-4D97-AF65-F5344CB8AC3E}">
        <p14:creationId xmlns:p14="http://schemas.microsoft.com/office/powerpoint/2010/main" val="1493086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AE8174A-C7C0-4704-9617-A5023F2E6184}"/>
              </a:ext>
            </a:extLst>
          </p:cNvPr>
          <p:cNvSpPr/>
          <p:nvPr/>
        </p:nvSpPr>
        <p:spPr>
          <a:xfrm>
            <a:off x="8096098" y="1160535"/>
            <a:ext cx="4095902" cy="5697465"/>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Diagonal Corners Rounded 30">
            <a:extLst>
              <a:ext uri="{FF2B5EF4-FFF2-40B4-BE49-F238E27FC236}">
                <a16:creationId xmlns:a16="http://schemas.microsoft.com/office/drawing/2014/main" id="{8FC03E66-C664-417A-A151-A48FCF22CA81}"/>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CDS Introduction</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grpSp>
        <p:nvGrpSpPr>
          <p:cNvPr id="28" name="Group 27">
            <a:extLst>
              <a:ext uri="{FF2B5EF4-FFF2-40B4-BE49-F238E27FC236}">
                <a16:creationId xmlns:a16="http://schemas.microsoft.com/office/drawing/2014/main" id="{F6545011-7E6A-4C6B-90FD-AEF4251EFC59}"/>
              </a:ext>
            </a:extLst>
          </p:cNvPr>
          <p:cNvGrpSpPr/>
          <p:nvPr/>
        </p:nvGrpSpPr>
        <p:grpSpPr>
          <a:xfrm>
            <a:off x="5162406" y="-63328"/>
            <a:ext cx="6841472" cy="910091"/>
            <a:chOff x="5162406" y="-63328"/>
            <a:chExt cx="6841472" cy="910091"/>
          </a:xfrm>
        </p:grpSpPr>
        <p:graphicFrame>
          <p:nvGraphicFramePr>
            <p:cNvPr id="29" name="Diagram 28">
              <a:extLst>
                <a:ext uri="{FF2B5EF4-FFF2-40B4-BE49-F238E27FC236}">
                  <a16:creationId xmlns:a16="http://schemas.microsoft.com/office/drawing/2014/main" id="{10BBE114-BB6B-4686-98A5-D174CA817198}"/>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 name="Graphic 29" descr="Clapper board with solid fill">
              <a:extLst>
                <a:ext uri="{FF2B5EF4-FFF2-40B4-BE49-F238E27FC236}">
                  <a16:creationId xmlns:a16="http://schemas.microsoft.com/office/drawing/2014/main" id="{749FCF7A-4516-4AB1-B6AF-3729E7FF54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32" name="Graphic 31" descr="Plugged Unplugged with solid fill">
              <a:extLst>
                <a:ext uri="{FF2B5EF4-FFF2-40B4-BE49-F238E27FC236}">
                  <a16:creationId xmlns:a16="http://schemas.microsoft.com/office/drawing/2014/main" id="{C9A3AF53-3DE0-409D-8096-E6527C109C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33" name="Graphic 32" descr="Internet Of Things with solid fill">
              <a:extLst>
                <a:ext uri="{FF2B5EF4-FFF2-40B4-BE49-F238E27FC236}">
                  <a16:creationId xmlns:a16="http://schemas.microsoft.com/office/drawing/2014/main" id="{4E34A897-C063-4EE0-8439-9DA422AECAE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34" name="Graphic 33" descr="Ui Ux with solid fill">
              <a:extLst>
                <a:ext uri="{FF2B5EF4-FFF2-40B4-BE49-F238E27FC236}">
                  <a16:creationId xmlns:a16="http://schemas.microsoft.com/office/drawing/2014/main" id="{6CB609B9-C68A-457B-BD8A-D70B6ED97F5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35" name="Graphic 34" descr="Open hand with plant with solid fill">
              <a:extLst>
                <a:ext uri="{FF2B5EF4-FFF2-40B4-BE49-F238E27FC236}">
                  <a16:creationId xmlns:a16="http://schemas.microsoft.com/office/drawing/2014/main" id="{0C4264FA-26C5-4794-875C-86BBC24533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36" name="Graphic 35" descr="Books with solid fill">
              <a:extLst>
                <a:ext uri="{FF2B5EF4-FFF2-40B4-BE49-F238E27FC236}">
                  <a16:creationId xmlns:a16="http://schemas.microsoft.com/office/drawing/2014/main" id="{38FE395D-0B8C-401D-9C8D-A6ADEB1871E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37" name="Graphic 36" descr="Questions with solid fill">
              <a:extLst>
                <a:ext uri="{FF2B5EF4-FFF2-40B4-BE49-F238E27FC236}">
                  <a16:creationId xmlns:a16="http://schemas.microsoft.com/office/drawing/2014/main" id="{CF81F02D-49E9-43A8-AFA6-0DC4B1BFF43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sp>
        <p:nvSpPr>
          <p:cNvPr id="27" name="TextBox 26">
            <a:extLst>
              <a:ext uri="{FF2B5EF4-FFF2-40B4-BE49-F238E27FC236}">
                <a16:creationId xmlns:a16="http://schemas.microsoft.com/office/drawing/2014/main" id="{5A93A084-A1B5-4410-A1A4-643D546C961F}"/>
              </a:ext>
            </a:extLst>
          </p:cNvPr>
          <p:cNvSpPr txBox="1"/>
          <p:nvPr/>
        </p:nvSpPr>
        <p:spPr>
          <a:xfrm>
            <a:off x="247440" y="2102484"/>
            <a:ext cx="7329960" cy="4154984"/>
          </a:xfrm>
          <a:prstGeom prst="rect">
            <a:avLst/>
          </a:prstGeom>
          <a:noFill/>
        </p:spPr>
        <p:txBody>
          <a:bodyPr wrap="square" lIns="91440" tIns="45720" rIns="91440" bIns="45720" anchor="ctr">
            <a:spAutoFit/>
          </a:bodyPr>
          <a:lstStyle/>
          <a:p>
            <a:pPr>
              <a:spcAft>
                <a:spcPts val="800"/>
              </a:spcAft>
            </a:pPr>
            <a:r>
              <a:rPr lang="en-GB" sz="1600" b="1" dirty="0">
                <a:solidFill>
                  <a:srgbClr val="008680"/>
                </a:solidFill>
                <a:effectLst/>
                <a:latin typeface="Calibri"/>
                <a:ea typeface="Calibri" panose="020F0502020204030204" pitchFamily="34" charset="0"/>
                <a:cs typeface="Times New Roman"/>
              </a:rPr>
              <a:t>CDS Live</a:t>
            </a:r>
            <a:r>
              <a:rPr lang="en-GB" sz="1600" dirty="0">
                <a:solidFill>
                  <a:srgbClr val="008680"/>
                </a:solidFill>
                <a:effectLst/>
                <a:latin typeface="Calibri"/>
                <a:ea typeface="Calibri" panose="020F0502020204030204" pitchFamily="34" charset="0"/>
                <a:cs typeface="Times New Roman"/>
              </a:rPr>
              <a:t> </a:t>
            </a:r>
            <a:r>
              <a:rPr lang="en-GB" sz="1600" dirty="0">
                <a:effectLst/>
                <a:latin typeface="Calibri"/>
                <a:ea typeface="Calibri" panose="020F0502020204030204" pitchFamily="34" charset="0"/>
                <a:cs typeface="Times New Roman"/>
              </a:rPr>
              <a:t>operates both UK &amp; EU Trade Tariffs and supports Import </a:t>
            </a:r>
            <a:r>
              <a:rPr lang="en-GB" sz="1600" dirty="0">
                <a:latin typeface="Calibri"/>
                <a:ea typeface="Calibri" panose="020F0502020204030204" pitchFamily="34" charset="0"/>
                <a:cs typeface="Times New Roman"/>
              </a:rPr>
              <a:t>declarations </a:t>
            </a:r>
            <a:r>
              <a:rPr lang="en-GB" sz="1600" dirty="0">
                <a:effectLst/>
                <a:latin typeface="Calibri"/>
                <a:ea typeface="Calibri" panose="020F0502020204030204" pitchFamily="34" charset="0"/>
                <a:cs typeface="Times New Roman"/>
              </a:rPr>
              <a:t>and some Export declarations. All Export routes will be available on CDS Live from March 2024.</a:t>
            </a:r>
          </a:p>
          <a:p>
            <a:pPr>
              <a:spcAft>
                <a:spcPts val="800"/>
              </a:spcAft>
            </a:pPr>
            <a:r>
              <a:rPr lang="en-GB" sz="1600" dirty="0">
                <a:effectLst/>
                <a:latin typeface="Calibri"/>
                <a:ea typeface="Calibri" panose="020F0502020204030204" pitchFamily="34" charset="0"/>
                <a:cs typeface="Times New Roman"/>
              </a:rPr>
              <a:t>CDS Live saves Declarants time by:</a:t>
            </a:r>
          </a:p>
          <a:p>
            <a:pPr marL="342900" lvl="0" indent="-342900">
              <a:spcAft>
                <a:spcPts val="800"/>
              </a:spcAft>
              <a:buFont typeface="Symbol" panose="05050102010706020507" pitchFamily="18" charset="2"/>
              <a:buChar char=""/>
              <a:tabLst>
                <a:tab pos="457200" algn="l"/>
              </a:tabLst>
            </a:pPr>
            <a:r>
              <a:rPr lang="en-GB" sz="1600">
                <a:latin typeface="Calibri"/>
                <a:ea typeface="Calibri" panose="020F0502020204030204" pitchFamily="34" charset="0"/>
                <a:cs typeface="Times New Roman"/>
              </a:rPr>
              <a:t>A</a:t>
            </a:r>
            <a:r>
              <a:rPr lang="en-GB" sz="1600">
                <a:effectLst/>
                <a:latin typeface="Calibri"/>
                <a:ea typeface="Calibri" panose="020F0502020204030204" pitchFamily="34" charset="0"/>
                <a:cs typeface="Times New Roman"/>
              </a:rPr>
              <a:t>llowing </a:t>
            </a:r>
            <a:r>
              <a:rPr lang="en-GB" sz="1600" dirty="0">
                <a:effectLst/>
                <a:latin typeface="Calibri"/>
                <a:ea typeface="Calibri" panose="020F0502020204030204" pitchFamily="34" charset="0"/>
                <a:cs typeface="Times New Roman"/>
              </a:rPr>
              <a:t>Declarants to securely upload documents and receive messages.</a:t>
            </a:r>
          </a:p>
          <a:p>
            <a:pPr marL="342900" indent="-342900">
              <a:spcAft>
                <a:spcPts val="800"/>
              </a:spcAft>
              <a:buFont typeface="Symbol" panose="05050102010706020507" pitchFamily="18" charset="2"/>
              <a:buChar char=""/>
              <a:tabLst>
                <a:tab pos="457200" algn="l"/>
              </a:tabLst>
            </a:pPr>
            <a:r>
              <a:rPr lang="en-GB" sz="1600">
                <a:latin typeface="Calibri"/>
                <a:ea typeface="Calibri" panose="020F0502020204030204" pitchFamily="34" charset="0"/>
                <a:cs typeface="Times New Roman"/>
              </a:rPr>
              <a:t>P</a:t>
            </a:r>
            <a:r>
              <a:rPr lang="en-GB" sz="1600">
                <a:effectLst/>
                <a:latin typeface="Calibri"/>
                <a:ea typeface="Calibri" panose="020F0502020204030204" pitchFamily="34" charset="0"/>
                <a:cs typeface="Times New Roman"/>
              </a:rPr>
              <a:t>roviding </a:t>
            </a:r>
            <a:r>
              <a:rPr lang="en-GB" sz="1600" dirty="0">
                <a:effectLst/>
                <a:latin typeface="Calibri"/>
                <a:ea typeface="Calibri" panose="020F0502020204030204" pitchFamily="34" charset="0"/>
                <a:cs typeface="Times New Roman"/>
              </a:rPr>
              <a:t>real-time notifications and alerts on all a Declarants’</a:t>
            </a:r>
            <a:r>
              <a:rPr lang="en-GB" sz="1600" dirty="0">
                <a:latin typeface="Calibri"/>
                <a:ea typeface="Calibri" panose="020F0502020204030204" pitchFamily="34" charset="0"/>
                <a:cs typeface="Times New Roman"/>
              </a:rPr>
              <a:t> I</a:t>
            </a:r>
            <a:r>
              <a:rPr lang="en-GB" sz="1600" dirty="0">
                <a:effectLst/>
                <a:latin typeface="Calibri"/>
                <a:ea typeface="Calibri" panose="020F0502020204030204" pitchFamily="34" charset="0"/>
                <a:cs typeface="Times New Roman"/>
              </a:rPr>
              <a:t>mport and Export movements.</a:t>
            </a:r>
          </a:p>
          <a:p>
            <a:pPr marL="342900" lvl="0" indent="-342900">
              <a:spcAft>
                <a:spcPts val="800"/>
              </a:spcAft>
              <a:buFont typeface="Symbol" panose="05050102010706020507" pitchFamily="18" charset="2"/>
              <a:buChar char=""/>
              <a:tabLst>
                <a:tab pos="457200" algn="l"/>
              </a:tabLst>
            </a:pPr>
            <a:r>
              <a:rPr lang="en-GB" sz="1600">
                <a:latin typeface="Calibri"/>
                <a:ea typeface="Calibri" panose="020F0502020204030204" pitchFamily="34" charset="0"/>
                <a:cs typeface="Times New Roman"/>
              </a:rPr>
              <a:t>A</a:t>
            </a:r>
            <a:r>
              <a:rPr lang="en-GB" sz="1600">
                <a:effectLst/>
                <a:latin typeface="Calibri"/>
                <a:ea typeface="Calibri" panose="020F0502020204030204" pitchFamily="34" charset="0"/>
                <a:cs typeface="Times New Roman"/>
              </a:rPr>
              <a:t>llowing</a:t>
            </a:r>
            <a:r>
              <a:rPr lang="en-GB" sz="1600" dirty="0">
                <a:effectLst/>
                <a:latin typeface="Calibri"/>
                <a:ea typeface="Calibri" panose="020F0502020204030204" pitchFamily="34" charset="0"/>
                <a:cs typeface="Times New Roman"/>
              </a:rPr>
              <a:t> Declarants to manage their business finances by opening duty deferment accounts and making payments by card or bank transfer, enabling goods to clear without delay.</a:t>
            </a:r>
          </a:p>
          <a:p>
            <a:pPr>
              <a:spcAft>
                <a:spcPts val="800"/>
              </a:spcAft>
            </a:pPr>
            <a:r>
              <a:rPr lang="en-GB" sz="1600" dirty="0">
                <a:effectLst/>
                <a:latin typeface="Calibri"/>
                <a:ea typeface="Calibri" panose="020F0502020204030204" pitchFamily="34" charset="0"/>
                <a:cs typeface="Times New Roman"/>
              </a:rPr>
              <a:t>Declarants are expected to contact their chosen Software Developer once they are ready to start making </a:t>
            </a:r>
            <a:r>
              <a:rPr lang="en-GB" sz="1600" b="1" dirty="0">
                <a:solidFill>
                  <a:srgbClr val="00928D"/>
                </a:solidFill>
              </a:rPr>
              <a:t>Import &amp;</a:t>
            </a:r>
            <a:r>
              <a:rPr lang="en-GB" sz="1600" dirty="0">
                <a:solidFill>
                  <a:srgbClr val="00928D"/>
                </a:solidFill>
              </a:rPr>
              <a:t> </a:t>
            </a:r>
            <a:r>
              <a:rPr kumimoji="0" lang="en-GB" sz="1600" b="1" i="0" u="none" strike="noStrike" kern="1200" cap="none" spc="0" normalizeH="0" baseline="0" noProof="0" dirty="0">
                <a:ln>
                  <a:noFill/>
                </a:ln>
                <a:solidFill>
                  <a:srgbClr val="00928D"/>
                </a:solidFill>
                <a:effectLst/>
                <a:uLnTx/>
                <a:uFillTx/>
                <a:ea typeface="+mn-ea"/>
                <a:cs typeface="+mn-cs"/>
              </a:rPr>
              <a:t>Export</a:t>
            </a:r>
            <a:r>
              <a:rPr lang="en-GB" sz="1600" dirty="0">
                <a:effectLst/>
                <a:latin typeface="Calibri"/>
                <a:ea typeface="Calibri" panose="020F0502020204030204" pitchFamily="34" charset="0"/>
                <a:cs typeface="Times New Roman"/>
              </a:rPr>
              <a:t> declarations in CDS Live.</a:t>
            </a:r>
          </a:p>
          <a:p>
            <a:pPr>
              <a:spcAft>
                <a:spcPts val="800"/>
              </a:spcAft>
            </a:pPr>
            <a:r>
              <a:rPr lang="en-GB" sz="1600" dirty="0">
                <a:solidFill>
                  <a:schemeClr val="tx1"/>
                </a:solidFill>
                <a:effectLst/>
                <a:latin typeface="Calibri"/>
                <a:ea typeface="Calibri" panose="020F0502020204030204" pitchFamily="34" charset="0"/>
                <a:cs typeface="Times New Roman"/>
              </a:rPr>
              <a:t>It is also important to remind Declarants to </a:t>
            </a:r>
            <a:r>
              <a:rPr lang="en-GB" sz="1600" b="1" dirty="0">
                <a:solidFill>
                  <a:srgbClr val="008680"/>
                </a:solidFill>
                <a:effectLst/>
                <a:latin typeface="Calibri"/>
                <a:ea typeface="Calibri" panose="020F0502020204030204" pitchFamily="34" charset="0"/>
                <a:cs typeface="Times New Roman"/>
              </a:rPr>
              <a:t>securely </a:t>
            </a:r>
            <a:r>
              <a:rPr lang="en-GB" sz="1600" b="1" dirty="0">
                <a:solidFill>
                  <a:srgbClr val="008680"/>
                </a:solidFill>
                <a:latin typeface="Calibri"/>
                <a:ea typeface="Calibri" panose="020F0502020204030204" pitchFamily="34" charset="0"/>
                <a:cs typeface="Times New Roman"/>
              </a:rPr>
              <a:t>u</a:t>
            </a:r>
            <a:r>
              <a:rPr lang="en-GB" sz="1600" b="1" dirty="0">
                <a:solidFill>
                  <a:srgbClr val="008680"/>
                </a:solidFill>
                <a:effectLst/>
                <a:latin typeface="Calibri"/>
                <a:ea typeface="Calibri" panose="020F0502020204030204" pitchFamily="34" charset="0"/>
                <a:cs typeface="Times New Roman"/>
              </a:rPr>
              <a:t>pload</a:t>
            </a:r>
            <a:r>
              <a:rPr lang="en-GB" sz="1600" dirty="0">
                <a:solidFill>
                  <a:srgbClr val="008680"/>
                </a:solidFill>
                <a:effectLst/>
                <a:latin typeface="Calibri"/>
                <a:ea typeface="Calibri" panose="020F0502020204030204" pitchFamily="34" charset="0"/>
                <a:cs typeface="Times New Roman"/>
              </a:rPr>
              <a:t> </a:t>
            </a:r>
            <a:r>
              <a:rPr lang="en-GB" sz="1600" dirty="0">
                <a:solidFill>
                  <a:schemeClr val="tx1"/>
                </a:solidFill>
                <a:effectLst/>
                <a:latin typeface="Calibri"/>
                <a:ea typeface="Calibri" panose="020F0502020204030204" pitchFamily="34" charset="0"/>
                <a:cs typeface="Times New Roman"/>
              </a:rPr>
              <a:t>when providing their supporting documents, like </a:t>
            </a:r>
            <a:r>
              <a:rPr lang="en-GB" sz="1600" dirty="0">
                <a:latin typeface="Calibri"/>
                <a:ea typeface="Calibri" panose="020F0502020204030204" pitchFamily="34" charset="0"/>
                <a:cs typeface="Times New Roman"/>
              </a:rPr>
              <a:t>L</a:t>
            </a:r>
            <a:r>
              <a:rPr lang="en-GB" sz="1600" dirty="0">
                <a:solidFill>
                  <a:schemeClr val="tx1"/>
                </a:solidFill>
                <a:effectLst/>
                <a:latin typeface="Calibri"/>
                <a:ea typeface="Calibri" panose="020F0502020204030204" pitchFamily="34" charset="0"/>
                <a:cs typeface="Times New Roman"/>
              </a:rPr>
              <a:t>icenses or Certificates of Origin.</a:t>
            </a:r>
          </a:p>
        </p:txBody>
      </p:sp>
      <p:sp>
        <p:nvSpPr>
          <p:cNvPr id="39" name="TextBox 38">
            <a:extLst>
              <a:ext uri="{FF2B5EF4-FFF2-40B4-BE49-F238E27FC236}">
                <a16:creationId xmlns:a16="http://schemas.microsoft.com/office/drawing/2014/main" id="{4753F9CD-FAE5-45D0-9CBF-09B27771E936}"/>
              </a:ext>
            </a:extLst>
          </p:cNvPr>
          <p:cNvSpPr txBox="1"/>
          <p:nvPr/>
        </p:nvSpPr>
        <p:spPr>
          <a:xfrm>
            <a:off x="8307848" y="2254433"/>
            <a:ext cx="3638038" cy="2123658"/>
          </a:xfrm>
          <a:prstGeom prst="rect">
            <a:avLst/>
          </a:prstGeom>
          <a:noFill/>
        </p:spPr>
        <p:txBody>
          <a:bodyPr wrap="square">
            <a:spAutoFit/>
          </a:bodyPr>
          <a:lstStyle/>
          <a:p>
            <a:pPr>
              <a:spcAft>
                <a:spcPts val="800"/>
              </a:spcAft>
            </a:pPr>
            <a:r>
              <a:rPr lang="en-GB" sz="1400">
                <a:solidFill>
                  <a:schemeClr val="bg1"/>
                </a:solidFill>
                <a:effectLst/>
                <a:latin typeface="Calibri"/>
                <a:ea typeface="Calibri" panose="020F0502020204030204" pitchFamily="34" charset="0"/>
                <a:cs typeface="Times New Roman"/>
              </a:rPr>
              <a:t>Software Developers will find it beneficial to provide a Declarant with guidance such as:</a:t>
            </a:r>
          </a:p>
          <a:p>
            <a:pPr marL="285750" indent="-285750">
              <a:spcAft>
                <a:spcPts val="800"/>
              </a:spcAft>
              <a:buFont typeface="Arial" panose="020B0604020202020204" pitchFamily="34" charset="0"/>
              <a:buChar char="•"/>
            </a:pPr>
            <a:r>
              <a:rPr lang="en-GB" sz="1400" b="1" u="sng">
                <a:solidFill>
                  <a:schemeClr val="bg1"/>
                </a:solidFill>
                <a:effectLst/>
                <a:latin typeface="Calibri"/>
                <a:ea typeface="Calibri" panose="020F0502020204030204" pitchFamily="34" charset="0"/>
                <a:cs typeface="Times New Roman"/>
                <a:hlinkClick r:id="rId22">
                  <a:extLst>
                    <a:ext uri="{A12FA001-AC4F-418D-AE19-62706E023703}">
                      <ahyp:hlinkClr xmlns:ahyp="http://schemas.microsoft.com/office/drawing/2018/hyperlinkcolor" val="tx"/>
                    </a:ext>
                  </a:extLst>
                </a:hlinkClick>
              </a:rPr>
              <a:t>Navigate the CDS Declaration Instructions for Imports</a:t>
            </a:r>
            <a:r>
              <a:rPr lang="en-GB" sz="1400" b="1" u="sng">
                <a:solidFill>
                  <a:schemeClr val="bg1"/>
                </a:solidFill>
                <a:latin typeface="Calibri"/>
                <a:ea typeface="Calibri" panose="020F0502020204030204" pitchFamily="34" charset="0"/>
                <a:cs typeface="Times New Roman"/>
              </a:rPr>
              <a:t>.</a:t>
            </a:r>
            <a:endParaRPr lang="en-GB" sz="1400">
              <a:solidFill>
                <a:schemeClr val="bg1"/>
              </a:solidFill>
              <a:effectLst/>
              <a:latin typeface="Calibri"/>
              <a:ea typeface="Calibri" panose="020F0502020204030204" pitchFamily="34" charset="0"/>
              <a:cs typeface="Times New Roman"/>
            </a:endParaRPr>
          </a:p>
          <a:p>
            <a:pPr marL="285750" indent="-285750">
              <a:spcAft>
                <a:spcPts val="800"/>
              </a:spcAft>
              <a:buFont typeface="Arial" panose="020B0604020202020204" pitchFamily="34" charset="0"/>
              <a:buChar char="•"/>
            </a:pPr>
            <a:r>
              <a:rPr lang="en-GB" sz="1400" b="1">
                <a:solidFill>
                  <a:schemeClr val="bg1"/>
                </a:solidFill>
                <a:latin typeface="Calibri"/>
                <a:ea typeface="Calibri" panose="020F0502020204030204" pitchFamily="34" charset="0"/>
                <a:cs typeface="Times New Roman"/>
                <a:hlinkClick r:id="rId23">
                  <a:extLst>
                    <a:ext uri="{A12FA001-AC4F-418D-AE19-62706E023703}">
                      <ahyp:hlinkClr xmlns:ahyp="http://schemas.microsoft.com/office/drawing/2018/hyperlinkcolor" val="tx"/>
                    </a:ext>
                  </a:extLst>
                </a:hlinkClick>
              </a:rPr>
              <a:t>Navigate the CDS Declaration Instructions for Exports</a:t>
            </a:r>
            <a:r>
              <a:rPr lang="en-GB" sz="1400" b="1">
                <a:solidFill>
                  <a:schemeClr val="bg1"/>
                </a:solidFill>
                <a:latin typeface="Calibri"/>
                <a:ea typeface="Calibri" panose="020F0502020204030204" pitchFamily="34" charset="0"/>
                <a:cs typeface="Times New Roman"/>
              </a:rPr>
              <a:t>.</a:t>
            </a:r>
          </a:p>
          <a:p>
            <a:pPr marL="285750" indent="-285750">
              <a:spcAft>
                <a:spcPts val="800"/>
              </a:spcAft>
              <a:buFont typeface="Arial" panose="020B0604020202020204" pitchFamily="34" charset="0"/>
              <a:buChar char="•"/>
            </a:pPr>
            <a:r>
              <a:rPr lang="en-GB" sz="1400" b="1" i="0" u="sng">
                <a:solidFill>
                  <a:schemeClr val="bg1"/>
                </a:solidFill>
                <a:effectLst/>
                <a:hlinkClick r:id="rId24">
                  <a:extLst>
                    <a:ext uri="{A12FA001-AC4F-418D-AE19-62706E023703}">
                      <ahyp:hlinkClr xmlns:ahyp="http://schemas.microsoft.com/office/drawing/2018/hyperlinkcolor" val="tx"/>
                    </a:ext>
                  </a:extLst>
                </a:hlinkClick>
              </a:rPr>
              <a:t>General Notes on Reading Data Element Completion Rules</a:t>
            </a:r>
            <a:r>
              <a:rPr lang="en-GB" sz="1400" b="1" i="0" u="sng">
                <a:solidFill>
                  <a:schemeClr val="bg1"/>
                </a:solidFill>
                <a:effectLst/>
              </a:rPr>
              <a:t>.</a:t>
            </a:r>
          </a:p>
        </p:txBody>
      </p:sp>
      <p:sp>
        <p:nvSpPr>
          <p:cNvPr id="40" name="TextBox 39">
            <a:extLst>
              <a:ext uri="{FF2B5EF4-FFF2-40B4-BE49-F238E27FC236}">
                <a16:creationId xmlns:a16="http://schemas.microsoft.com/office/drawing/2014/main" id="{58079333-F445-4D13-B12C-4514A745BC0F}"/>
              </a:ext>
            </a:extLst>
          </p:cNvPr>
          <p:cNvSpPr txBox="1"/>
          <p:nvPr/>
        </p:nvSpPr>
        <p:spPr>
          <a:xfrm>
            <a:off x="8307847" y="4438136"/>
            <a:ext cx="3638037" cy="1056700"/>
          </a:xfrm>
          <a:prstGeom prst="rect">
            <a:avLst/>
          </a:prstGeom>
          <a:noFill/>
        </p:spPr>
        <p:txBody>
          <a:bodyPr wrap="square">
            <a:spAutoFit/>
          </a:bodyPr>
          <a:lstStyle/>
          <a:p>
            <a:pPr>
              <a:spcAft>
                <a:spcPts val="800"/>
              </a:spcAft>
            </a:pPr>
            <a:r>
              <a:rPr lang="en-GB" sz="1400">
                <a:solidFill>
                  <a:schemeClr val="bg1"/>
                </a:solidFill>
                <a:effectLst/>
                <a:latin typeface="Calibri"/>
                <a:ea typeface="Calibri" panose="020F0502020204030204" pitchFamily="34" charset="0"/>
                <a:cs typeface="Times New Roman"/>
              </a:rPr>
              <a:t>HMRC provide a variety of communication products to help Software Developers, Declarants and Traders use CDS:</a:t>
            </a:r>
          </a:p>
          <a:p>
            <a:pPr marL="285750" indent="-285750">
              <a:spcAft>
                <a:spcPts val="800"/>
              </a:spcAft>
              <a:buFont typeface="Arial" panose="020B0604020202020204" pitchFamily="34" charset="0"/>
              <a:buChar char="•"/>
            </a:pPr>
            <a:r>
              <a:rPr lang="en-GB" sz="1400" b="1" u="sng">
                <a:solidFill>
                  <a:schemeClr val="bg1"/>
                </a:solidFill>
                <a:latin typeface="Calibri"/>
                <a:ea typeface="Calibri" panose="020F0502020204030204" pitchFamily="34" charset="0"/>
                <a:cs typeface="Times New Roman"/>
                <a:hlinkClick r:id="rId25">
                  <a:extLst>
                    <a:ext uri="{A12FA001-AC4F-418D-AE19-62706E023703}">
                      <ahyp:hlinkClr xmlns:ahyp="http://schemas.microsoft.com/office/drawing/2018/hyperlinkcolor" val="tx"/>
                    </a:ext>
                  </a:extLst>
                </a:hlinkClick>
              </a:rPr>
              <a:t>CDS Communication Products</a:t>
            </a:r>
            <a:r>
              <a:rPr lang="en-GB" sz="1400" b="1">
                <a:solidFill>
                  <a:schemeClr val="bg1"/>
                </a:solidFill>
                <a:latin typeface="Calibri"/>
                <a:ea typeface="Calibri" panose="020F0502020204030204" pitchFamily="34" charset="0"/>
                <a:cs typeface="Times New Roman"/>
              </a:rPr>
              <a:t>.</a:t>
            </a:r>
            <a:endParaRPr lang="en-GB"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TextBox 40">
            <a:extLst>
              <a:ext uri="{FF2B5EF4-FFF2-40B4-BE49-F238E27FC236}">
                <a16:creationId xmlns:a16="http://schemas.microsoft.com/office/drawing/2014/main" id="{1D5154D9-00F4-4550-BBFA-9F1AC16AB307}"/>
              </a:ext>
            </a:extLst>
          </p:cNvPr>
          <p:cNvSpPr txBox="1"/>
          <p:nvPr/>
        </p:nvSpPr>
        <p:spPr>
          <a:xfrm>
            <a:off x="8307848" y="5896252"/>
            <a:ext cx="3638036" cy="738664"/>
          </a:xfrm>
          <a:prstGeom prst="rect">
            <a:avLst/>
          </a:prstGeom>
          <a:noFill/>
        </p:spPr>
        <p:txBody>
          <a:bodyPr wrap="square">
            <a:spAutoFit/>
          </a:bodyPr>
          <a:lstStyle/>
          <a:p>
            <a:pPr>
              <a:spcAft>
                <a:spcPts val="800"/>
              </a:spcAft>
            </a:pPr>
            <a:r>
              <a:rPr lang="en-GB" sz="1400">
                <a:solidFill>
                  <a:schemeClr val="bg1"/>
                </a:solidFill>
                <a:effectLst/>
                <a:latin typeface="Calibri"/>
                <a:ea typeface="Calibri" panose="020F0502020204030204" pitchFamily="34" charset="0"/>
                <a:cs typeface="Times New Roman"/>
              </a:rPr>
              <a:t>These communication </a:t>
            </a:r>
            <a:r>
              <a:rPr lang="en-GB" sz="1400">
                <a:solidFill>
                  <a:schemeClr val="bg1"/>
                </a:solidFill>
                <a:latin typeface="Calibri"/>
                <a:ea typeface="Calibri" panose="020F0502020204030204" pitchFamily="34" charset="0"/>
                <a:cs typeface="Times New Roman"/>
              </a:rPr>
              <a:t>p</a:t>
            </a:r>
            <a:r>
              <a:rPr lang="en-GB" sz="1400">
                <a:solidFill>
                  <a:schemeClr val="bg1"/>
                </a:solidFill>
                <a:effectLst/>
                <a:latin typeface="Calibri"/>
                <a:ea typeface="Calibri" panose="020F0502020204030204" pitchFamily="34" charset="0"/>
                <a:cs typeface="Times New Roman"/>
              </a:rPr>
              <a:t>roducts are regularly updated and contain information about the latest developments.</a:t>
            </a:r>
          </a:p>
        </p:txBody>
      </p:sp>
      <p:sp>
        <p:nvSpPr>
          <p:cNvPr id="42" name="Title 1">
            <a:extLst>
              <a:ext uri="{FF2B5EF4-FFF2-40B4-BE49-F238E27FC236}">
                <a16:creationId xmlns:a16="http://schemas.microsoft.com/office/drawing/2014/main" id="{4D4977CF-A2F2-43E9-B3E7-A41B32B225BB}"/>
              </a:ext>
            </a:extLst>
          </p:cNvPr>
          <p:cNvSpPr txBox="1">
            <a:spLocks/>
          </p:cNvSpPr>
          <p:nvPr/>
        </p:nvSpPr>
        <p:spPr>
          <a:xfrm>
            <a:off x="8365933" y="1733921"/>
            <a:ext cx="3521864" cy="388247"/>
          </a:xfrm>
          <a:prstGeom prst="rect">
            <a:avLst/>
          </a:prstGeom>
        </p:spPr>
        <p:txBody>
          <a:bodyPr vert="horz" lIns="0" tIns="0" rIns="0" bIns="0" rtlCol="0" anchor="b">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all" spc="0" normalizeH="0" baseline="0" noProof="0">
                <a:ln>
                  <a:noFill/>
                </a:ln>
                <a:solidFill>
                  <a:schemeClr val="bg1"/>
                </a:solidFill>
                <a:effectLst/>
                <a:uLnTx/>
                <a:uFillTx/>
                <a:latin typeface="Calibri" panose="020F0502020204030204"/>
                <a:ea typeface="+mj-ea"/>
                <a:cs typeface="+mj-cs"/>
              </a:rPr>
              <a:t>Useful Links</a:t>
            </a:r>
          </a:p>
        </p:txBody>
      </p:sp>
      <p:sp>
        <p:nvSpPr>
          <p:cNvPr id="38" name="Rectangle: Diagonal Corners Snipped 37">
            <a:extLst>
              <a:ext uri="{FF2B5EF4-FFF2-40B4-BE49-F238E27FC236}">
                <a16:creationId xmlns:a16="http://schemas.microsoft.com/office/drawing/2014/main" id="{FE09A563-EF48-42BC-A1BD-AB17B6BFBAF3}"/>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CDS Live</a:t>
            </a: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 is resilient, reliable and adaptable to the future needs of business.</a:t>
            </a:r>
          </a:p>
        </p:txBody>
      </p:sp>
      <p:sp>
        <p:nvSpPr>
          <p:cNvPr id="2" name="Slide Number Placeholder 1">
            <a:extLst>
              <a:ext uri="{FF2B5EF4-FFF2-40B4-BE49-F238E27FC236}">
                <a16:creationId xmlns:a16="http://schemas.microsoft.com/office/drawing/2014/main" id="{4741D390-68E3-4D7D-A879-C21F85E29039}"/>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16</a:t>
            </a:fld>
            <a:endParaRPr lang="en-US">
              <a:solidFill>
                <a:srgbClr val="000000">
                  <a:tint val="75000"/>
                </a:srgbClr>
              </a:solidFill>
            </a:endParaRPr>
          </a:p>
        </p:txBody>
      </p:sp>
    </p:spTree>
    <p:extLst>
      <p:ext uri="{BB962C8B-B14F-4D97-AF65-F5344CB8AC3E}">
        <p14:creationId xmlns:p14="http://schemas.microsoft.com/office/powerpoint/2010/main" val="952831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82F5C9E-1408-4685-BAE0-3AAEDE17605A}"/>
              </a:ext>
            </a:extLst>
          </p:cNvPr>
          <p:cNvGrpSpPr/>
          <p:nvPr/>
        </p:nvGrpSpPr>
        <p:grpSpPr>
          <a:xfrm>
            <a:off x="5162406" y="-63328"/>
            <a:ext cx="6841472" cy="910091"/>
            <a:chOff x="5162406" y="-63328"/>
            <a:chExt cx="6841472" cy="910091"/>
          </a:xfrm>
        </p:grpSpPr>
        <p:graphicFrame>
          <p:nvGraphicFramePr>
            <p:cNvPr id="6" name="Diagram 5">
              <a:extLst>
                <a:ext uri="{FF2B5EF4-FFF2-40B4-BE49-F238E27FC236}">
                  <a16:creationId xmlns:a16="http://schemas.microsoft.com/office/drawing/2014/main" id="{BF702B50-7674-4094-83AB-F8A15408272D}"/>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phic 6" descr="Clapper board with solid fill">
              <a:extLst>
                <a:ext uri="{FF2B5EF4-FFF2-40B4-BE49-F238E27FC236}">
                  <a16:creationId xmlns:a16="http://schemas.microsoft.com/office/drawing/2014/main" id="{99B2259C-F3C5-4BC6-B62B-B442EEAD924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8" name="Graphic 7" descr="Plugged Unplugged with solid fill">
              <a:extLst>
                <a:ext uri="{FF2B5EF4-FFF2-40B4-BE49-F238E27FC236}">
                  <a16:creationId xmlns:a16="http://schemas.microsoft.com/office/drawing/2014/main" id="{3C850324-846F-4369-A1D2-7DE70378BEB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9" name="Graphic 8" descr="Internet Of Things with solid fill">
              <a:extLst>
                <a:ext uri="{FF2B5EF4-FFF2-40B4-BE49-F238E27FC236}">
                  <a16:creationId xmlns:a16="http://schemas.microsoft.com/office/drawing/2014/main" id="{82A5F2D4-23E4-4B33-BE1C-CD3CD4A583B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0" name="Graphic 9" descr="Ui Ux with solid fill">
              <a:extLst>
                <a:ext uri="{FF2B5EF4-FFF2-40B4-BE49-F238E27FC236}">
                  <a16:creationId xmlns:a16="http://schemas.microsoft.com/office/drawing/2014/main" id="{7988FD30-4B87-456E-92CF-2723779E8FD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1" name="Graphic 10" descr="Open hand with plant with solid fill">
              <a:extLst>
                <a:ext uri="{FF2B5EF4-FFF2-40B4-BE49-F238E27FC236}">
                  <a16:creationId xmlns:a16="http://schemas.microsoft.com/office/drawing/2014/main" id="{2848C027-DC76-41EB-AC75-24B6A75B90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2" name="Graphic 11" descr="Books with solid fill">
              <a:extLst>
                <a:ext uri="{FF2B5EF4-FFF2-40B4-BE49-F238E27FC236}">
                  <a16:creationId xmlns:a16="http://schemas.microsoft.com/office/drawing/2014/main" id="{6EBD7C3B-0756-4817-8AC9-263117D036D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3" name="Graphic 12" descr="Questions with solid fill">
              <a:extLst>
                <a:ext uri="{FF2B5EF4-FFF2-40B4-BE49-F238E27FC236}">
                  <a16:creationId xmlns:a16="http://schemas.microsoft.com/office/drawing/2014/main" id="{C5B33C0D-ED25-4A79-A3B6-A8A5B09E294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4" name="Rectangle: Diagonal Corners Rounded 13">
            <a:extLst>
              <a:ext uri="{FF2B5EF4-FFF2-40B4-BE49-F238E27FC236}">
                <a16:creationId xmlns:a16="http://schemas.microsoft.com/office/drawing/2014/main" id="{A8A8C9A9-E65B-4000-8FB4-F887EA6265EB}"/>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Submitting into CDS Live</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5" name="Rectangle: Diagonal Corners Snipped 14">
            <a:extLst>
              <a:ext uri="{FF2B5EF4-FFF2-40B4-BE49-F238E27FC236}">
                <a16:creationId xmlns:a16="http://schemas.microsoft.com/office/drawing/2014/main" id="{5B4E7DEC-3A8D-476A-B235-6EEE74A40717}"/>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Movement into CDS Live (Production) has been designed to be both simple &amp; easy to navigate</a:t>
            </a: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a:t>
            </a:r>
            <a:endParaRPr kumimoji="0" lang="en-GB" sz="180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238C00A2-92E1-4186-8C28-152F9EB65F24}"/>
              </a:ext>
            </a:extLst>
          </p:cNvPr>
          <p:cNvSpPr txBox="1"/>
          <p:nvPr/>
        </p:nvSpPr>
        <p:spPr>
          <a:xfrm>
            <a:off x="3893465" y="1876575"/>
            <a:ext cx="8110413" cy="539443"/>
          </a:xfrm>
          <a:prstGeom prst="rect">
            <a:avLst/>
          </a:prstGeom>
          <a:noFill/>
        </p:spPr>
        <p:txBody>
          <a:bodyPr wrap="square" lIns="91440" tIns="45720" rIns="91440" bIns="45720" rtlCol="0" anchor="t">
            <a:spAutoFit/>
          </a:bodyPr>
          <a:lstStyle/>
          <a:p>
            <a:pPr>
              <a:lnSpc>
                <a:spcPct val="106000"/>
              </a:lnSpc>
              <a:spcAft>
                <a:spcPts val="800"/>
              </a:spcAft>
            </a:pPr>
            <a:r>
              <a:rPr lang="en-GB" sz="1400" kern="1200" dirty="0">
                <a:solidFill>
                  <a:srgbClr val="000000"/>
                </a:solidFill>
                <a:effectLst/>
                <a:ea typeface="Calibri" panose="020F0502020204030204" pitchFamily="34" charset="0"/>
              </a:rPr>
              <a:t>Like TT and TDR, moving into CDS Live has been designed to be both simple &amp; easy to navigate. Again, the process is similar to TDR and several steps are repeated, however, </a:t>
            </a:r>
            <a:r>
              <a:rPr lang="en-GB" sz="1400" b="1" kern="1200" dirty="0">
                <a:solidFill>
                  <a:srgbClr val="008680"/>
                </a:solidFill>
                <a:effectLst/>
                <a:ea typeface="Calibri" panose="020F0502020204030204" pitchFamily="34" charset="0"/>
              </a:rPr>
              <a:t>additional information is required</a:t>
            </a:r>
            <a:r>
              <a:rPr lang="en-GB" sz="1400" kern="1200" dirty="0">
                <a:solidFill>
                  <a:srgbClr val="000000"/>
                </a:solidFill>
                <a:effectLst/>
                <a:ea typeface="Calibri" panose="020F0502020204030204" pitchFamily="34" charset="0"/>
              </a:rPr>
              <a:t>.</a:t>
            </a:r>
            <a:endParaRPr lang="en-GB" sz="1200" dirty="0">
              <a:effectLst/>
              <a:ea typeface="Times New Roman" panose="02020603050405020304" pitchFamily="18" charset="0"/>
            </a:endParaRPr>
          </a:p>
        </p:txBody>
      </p:sp>
      <p:sp>
        <p:nvSpPr>
          <p:cNvPr id="26" name="TextBox 25">
            <a:extLst>
              <a:ext uri="{FF2B5EF4-FFF2-40B4-BE49-F238E27FC236}">
                <a16:creationId xmlns:a16="http://schemas.microsoft.com/office/drawing/2014/main" id="{1BF44738-EFDF-4C36-AA5F-C650199CC009}"/>
              </a:ext>
            </a:extLst>
          </p:cNvPr>
          <p:cNvSpPr txBox="1"/>
          <p:nvPr/>
        </p:nvSpPr>
        <p:spPr>
          <a:xfrm>
            <a:off x="3893465" y="2953834"/>
            <a:ext cx="3260865" cy="2571794"/>
          </a:xfrm>
          <a:prstGeom prst="rect">
            <a:avLst/>
          </a:prstGeom>
          <a:noFill/>
        </p:spPr>
        <p:txBody>
          <a:bodyPr wrap="square">
            <a:spAutoFit/>
          </a:bodyPr>
          <a:lstStyle/>
          <a:p>
            <a:pPr>
              <a:lnSpc>
                <a:spcPct val="106000"/>
              </a:lnSpc>
              <a:spcAft>
                <a:spcPts val="800"/>
              </a:spcAft>
            </a:pPr>
            <a:r>
              <a:rPr lang="en-GB" sz="1400" b="1" kern="1200" dirty="0">
                <a:solidFill>
                  <a:srgbClr val="008680"/>
                </a:solidFill>
                <a:effectLst/>
                <a:ea typeface="Calibri" panose="020F0502020204030204" pitchFamily="34" charset="0"/>
              </a:rPr>
              <a:t>Software Developers</a:t>
            </a:r>
            <a:r>
              <a:rPr lang="en-GB" sz="1400" kern="1200" dirty="0">
                <a:solidFill>
                  <a:srgbClr val="000000"/>
                </a:solidFill>
                <a:effectLst/>
                <a:ea typeface="Calibri" panose="020F0502020204030204" pitchFamily="34" charset="0"/>
              </a:rPr>
              <a:t>, on behalf of their Declarant, must request access to CDS Live from </a:t>
            </a:r>
            <a:r>
              <a:rPr lang="en-GB" sz="1400" b="1" kern="1200" dirty="0">
                <a:solidFill>
                  <a:srgbClr val="008680"/>
                </a:solidFill>
                <a:effectLst/>
                <a:ea typeface="Calibri" panose="020F0502020204030204" pitchFamily="34" charset="0"/>
              </a:rPr>
              <a:t>SDST,</a:t>
            </a:r>
            <a:r>
              <a:rPr lang="en-GB" sz="1400" kern="1200" dirty="0">
                <a:solidFill>
                  <a:srgbClr val="000000"/>
                </a:solidFill>
                <a:effectLst/>
                <a:ea typeface="Calibri" panose="020F0502020204030204" pitchFamily="34" charset="0"/>
              </a:rPr>
              <a:t> who will review the application before providing the necessary APIs.</a:t>
            </a:r>
            <a:endParaRPr lang="en-GB" sz="1400" dirty="0">
              <a:solidFill>
                <a:srgbClr val="000000"/>
              </a:solidFill>
              <a:ea typeface="Calibri" panose="020F0502020204030204" pitchFamily="34" charset="0"/>
            </a:endParaRPr>
          </a:p>
          <a:p>
            <a:pPr>
              <a:lnSpc>
                <a:spcPct val="106000"/>
              </a:lnSpc>
              <a:spcAft>
                <a:spcPts val="800"/>
              </a:spcAft>
            </a:pPr>
            <a:r>
              <a:rPr lang="en-GB" sz="1400" dirty="0">
                <a:ea typeface="Calibri" panose="020F0502020204030204" pitchFamily="34" charset="0"/>
                <a:cs typeface="Calibri"/>
              </a:rPr>
              <a:t>Unlike TDR, in </a:t>
            </a:r>
            <a:r>
              <a:rPr lang="en-GB" sz="1400" b="1" dirty="0">
                <a:solidFill>
                  <a:srgbClr val="00928D"/>
                </a:solidFill>
                <a:ea typeface="Calibri" panose="020F0502020204030204" pitchFamily="34" charset="0"/>
                <a:cs typeface="Calibri"/>
              </a:rPr>
              <a:t>CDS Live</a:t>
            </a:r>
            <a:r>
              <a:rPr lang="en-GB" sz="1400" dirty="0">
                <a:solidFill>
                  <a:srgbClr val="00928D"/>
                </a:solidFill>
                <a:ea typeface="Calibri" panose="020F0502020204030204" pitchFamily="34" charset="0"/>
                <a:cs typeface="Calibri"/>
              </a:rPr>
              <a:t> </a:t>
            </a:r>
            <a:r>
              <a:rPr lang="en-GB" sz="1400" dirty="0">
                <a:ea typeface="Calibri" panose="020F0502020204030204" pitchFamily="34" charset="0"/>
                <a:cs typeface="Calibri"/>
              </a:rPr>
              <a:t>a </a:t>
            </a:r>
            <a:r>
              <a:rPr lang="en-GB" sz="1400" b="1" dirty="0">
                <a:solidFill>
                  <a:srgbClr val="008680"/>
                </a:solidFill>
                <a:ea typeface="Calibri" panose="020F0502020204030204" pitchFamily="34" charset="0"/>
                <a:cs typeface="Calibri"/>
              </a:rPr>
              <a:t>Declarant</a:t>
            </a:r>
            <a:r>
              <a:rPr lang="en-GB" sz="1400" dirty="0">
                <a:ea typeface="Calibri" panose="020F0502020204030204" pitchFamily="34" charset="0"/>
                <a:cs typeface="Calibri"/>
              </a:rPr>
              <a:t> authenticates directly with HMRC using their Government Gateway ID credentials.</a:t>
            </a:r>
            <a:endParaRPr lang="en-GB" sz="1400" kern="1200" dirty="0">
              <a:solidFill>
                <a:srgbClr val="000000"/>
              </a:solidFill>
              <a:effectLst/>
              <a:ea typeface="Calibri" panose="020F0502020204030204" pitchFamily="34" charset="0"/>
            </a:endParaRPr>
          </a:p>
          <a:p>
            <a:pPr>
              <a:lnSpc>
                <a:spcPct val="106000"/>
              </a:lnSpc>
              <a:spcAft>
                <a:spcPts val="800"/>
              </a:spcAft>
            </a:pPr>
            <a:r>
              <a:rPr lang="en-GB" sz="1400" kern="1200" dirty="0">
                <a:effectLst/>
                <a:ea typeface="Calibri" panose="020F0502020204030204" pitchFamily="34" charset="0"/>
              </a:rPr>
              <a:t>In addition, Developers should complete the </a:t>
            </a:r>
            <a:r>
              <a:rPr lang="en-GB" sz="1400" b="1" u="sng" kern="1200" dirty="0">
                <a:solidFill>
                  <a:srgbClr val="00928D"/>
                </a:solidFill>
                <a:effectLst/>
                <a:ea typeface="Calibri" panose="020F0502020204030204" pitchFamily="34" charset="0"/>
                <a:hlinkClick r:id="rId21">
                  <a:extLst>
                    <a:ext uri="{A12FA001-AC4F-418D-AE19-62706E023703}">
                      <ahyp:hlinkClr xmlns:ahyp="http://schemas.microsoft.com/office/drawing/2018/hyperlinkcolor" val="tx"/>
                    </a:ext>
                  </a:extLst>
                </a:hlinkClick>
              </a:rPr>
              <a:t>Pre-Live Checklist</a:t>
            </a:r>
            <a:r>
              <a:rPr lang="en-GB" sz="1400" kern="1200" dirty="0">
                <a:solidFill>
                  <a:srgbClr val="00928D"/>
                </a:solidFill>
                <a:effectLst/>
                <a:ea typeface="Calibri" panose="020F0502020204030204" pitchFamily="34" charset="0"/>
              </a:rPr>
              <a:t>.</a:t>
            </a:r>
            <a:endParaRPr lang="en-GB" sz="1200" dirty="0">
              <a:solidFill>
                <a:srgbClr val="00928D"/>
              </a:solidFill>
              <a:effectLst/>
              <a:ea typeface="Times New Roman" panose="02020603050405020304" pitchFamily="18" charset="0"/>
            </a:endParaRPr>
          </a:p>
        </p:txBody>
      </p:sp>
      <p:sp>
        <p:nvSpPr>
          <p:cNvPr id="27" name="TextBox 26">
            <a:extLst>
              <a:ext uri="{FF2B5EF4-FFF2-40B4-BE49-F238E27FC236}">
                <a16:creationId xmlns:a16="http://schemas.microsoft.com/office/drawing/2014/main" id="{F73ED03C-0FB8-46C4-B75D-593B3F3AD14F}"/>
              </a:ext>
            </a:extLst>
          </p:cNvPr>
          <p:cNvSpPr txBox="1"/>
          <p:nvPr/>
        </p:nvSpPr>
        <p:spPr>
          <a:xfrm>
            <a:off x="7337550" y="3263689"/>
            <a:ext cx="4611626" cy="311047"/>
          </a:xfrm>
          <a:prstGeom prst="rect">
            <a:avLst/>
          </a:prstGeom>
          <a:solidFill>
            <a:schemeClr val="bg1"/>
          </a:solidFill>
        </p:spPr>
        <p:txBody>
          <a:bodyPr wrap="square" lIns="91440" tIns="45720" rIns="91440" bIns="45720" rtlCol="0" anchor="t">
            <a:spAutoFit/>
          </a:bodyPr>
          <a:lstStyle/>
          <a:p>
            <a:pPr>
              <a:lnSpc>
                <a:spcPct val="106000"/>
              </a:lnSpc>
              <a:spcAft>
                <a:spcPts val="800"/>
              </a:spcAft>
            </a:pPr>
            <a:r>
              <a:rPr lang="en-GB" sz="1400">
                <a:effectLst/>
                <a:latin typeface="Calibri"/>
                <a:ea typeface="Times New Roman" panose="02020603050405020304" pitchFamily="18" charset="0"/>
              </a:rPr>
              <a:t>1. Visit ‘Get production credentials’ on Developer Hub.</a:t>
            </a:r>
          </a:p>
        </p:txBody>
      </p:sp>
      <p:sp>
        <p:nvSpPr>
          <p:cNvPr id="28" name="TextBox 27">
            <a:extLst>
              <a:ext uri="{FF2B5EF4-FFF2-40B4-BE49-F238E27FC236}">
                <a16:creationId xmlns:a16="http://schemas.microsoft.com/office/drawing/2014/main" id="{8F2E5D37-C7DA-4D17-8DE5-6BFF9C75733A}"/>
              </a:ext>
            </a:extLst>
          </p:cNvPr>
          <p:cNvSpPr txBox="1"/>
          <p:nvPr/>
        </p:nvSpPr>
        <p:spPr>
          <a:xfrm>
            <a:off x="7337550" y="3726809"/>
            <a:ext cx="4611626" cy="311047"/>
          </a:xfrm>
          <a:prstGeom prst="rect">
            <a:avLst/>
          </a:prstGeom>
          <a:solidFill>
            <a:schemeClr val="bg1"/>
          </a:solidFill>
        </p:spPr>
        <p:txBody>
          <a:bodyPr wrap="square" lIns="91440" tIns="45720" rIns="91440" bIns="45720" rtlCol="0" anchor="t">
            <a:spAutoFit/>
          </a:bodyPr>
          <a:lstStyle/>
          <a:p>
            <a:pPr>
              <a:lnSpc>
                <a:spcPct val="106000"/>
              </a:lnSpc>
              <a:spcAft>
                <a:spcPts val="800"/>
              </a:spcAft>
            </a:pPr>
            <a:r>
              <a:rPr lang="en-GB" sz="1400">
                <a:effectLst/>
                <a:latin typeface="Calibri"/>
                <a:ea typeface="Times New Roman" panose="02020603050405020304" pitchFamily="18" charset="0"/>
              </a:rPr>
              <a:t>2. Configure the application &amp; complete Terms of Use.</a:t>
            </a:r>
          </a:p>
        </p:txBody>
      </p:sp>
      <p:sp>
        <p:nvSpPr>
          <p:cNvPr id="29" name="TextBox 28">
            <a:extLst>
              <a:ext uri="{FF2B5EF4-FFF2-40B4-BE49-F238E27FC236}">
                <a16:creationId xmlns:a16="http://schemas.microsoft.com/office/drawing/2014/main" id="{EDFA468F-9C5B-46FB-A117-5E1304B66631}"/>
              </a:ext>
            </a:extLst>
          </p:cNvPr>
          <p:cNvSpPr txBox="1"/>
          <p:nvPr/>
        </p:nvSpPr>
        <p:spPr>
          <a:xfrm>
            <a:off x="7337550" y="4189929"/>
            <a:ext cx="4624268" cy="539443"/>
          </a:xfrm>
          <a:prstGeom prst="rect">
            <a:avLst/>
          </a:prstGeom>
          <a:solidFill>
            <a:schemeClr val="bg1"/>
          </a:solidFill>
        </p:spPr>
        <p:txBody>
          <a:bodyPr wrap="square" lIns="91440" tIns="45720" rIns="91440" bIns="45720" rtlCol="0" anchor="t">
            <a:spAutoFit/>
          </a:bodyPr>
          <a:lstStyle/>
          <a:p>
            <a:pPr>
              <a:lnSpc>
                <a:spcPct val="106000"/>
              </a:lnSpc>
              <a:spcAft>
                <a:spcPts val="800"/>
              </a:spcAft>
            </a:pPr>
            <a:r>
              <a:rPr lang="en-GB" sz="1400" dirty="0">
                <a:effectLst/>
                <a:latin typeface="Calibri"/>
                <a:ea typeface="Times New Roman" panose="02020603050405020304" pitchFamily="18" charset="0"/>
              </a:rPr>
              <a:t>3. Submit the application for SDST approval (evidence of successful integration in TT or TDR may be required).</a:t>
            </a:r>
          </a:p>
        </p:txBody>
      </p:sp>
      <p:sp>
        <p:nvSpPr>
          <p:cNvPr id="30" name="TextBox 29">
            <a:extLst>
              <a:ext uri="{FF2B5EF4-FFF2-40B4-BE49-F238E27FC236}">
                <a16:creationId xmlns:a16="http://schemas.microsoft.com/office/drawing/2014/main" id="{27CA7145-B512-48F1-9611-6C482F799641}"/>
              </a:ext>
            </a:extLst>
          </p:cNvPr>
          <p:cNvSpPr txBox="1"/>
          <p:nvPr/>
        </p:nvSpPr>
        <p:spPr>
          <a:xfrm>
            <a:off x="7337550" y="4881445"/>
            <a:ext cx="4624268" cy="539443"/>
          </a:xfrm>
          <a:prstGeom prst="rect">
            <a:avLst/>
          </a:prstGeom>
          <a:solidFill>
            <a:schemeClr val="bg1"/>
          </a:solidFill>
        </p:spPr>
        <p:txBody>
          <a:bodyPr wrap="square" lIns="91440" tIns="45720" rIns="91440" bIns="45720" rtlCol="0" anchor="t">
            <a:spAutoFit/>
          </a:bodyPr>
          <a:lstStyle/>
          <a:p>
            <a:pPr>
              <a:lnSpc>
                <a:spcPct val="106000"/>
              </a:lnSpc>
              <a:spcAft>
                <a:spcPts val="800"/>
              </a:spcAft>
            </a:pPr>
            <a:r>
              <a:rPr lang="en-GB" sz="1400">
                <a:effectLst/>
                <a:latin typeface="Calibri"/>
                <a:ea typeface="Times New Roman" panose="02020603050405020304" pitchFamily="18" charset="0"/>
              </a:rPr>
              <a:t>4. Access will be granted after the application has been validated.</a:t>
            </a:r>
          </a:p>
        </p:txBody>
      </p:sp>
      <p:sp>
        <p:nvSpPr>
          <p:cNvPr id="31" name="TextBox 30">
            <a:extLst>
              <a:ext uri="{FF2B5EF4-FFF2-40B4-BE49-F238E27FC236}">
                <a16:creationId xmlns:a16="http://schemas.microsoft.com/office/drawing/2014/main" id="{EAA282ED-7290-46F9-9CEB-01B642002A59}"/>
              </a:ext>
            </a:extLst>
          </p:cNvPr>
          <p:cNvSpPr txBox="1"/>
          <p:nvPr/>
        </p:nvSpPr>
        <p:spPr>
          <a:xfrm>
            <a:off x="7337550" y="5572961"/>
            <a:ext cx="4613048" cy="767839"/>
          </a:xfrm>
          <a:prstGeom prst="rect">
            <a:avLst/>
          </a:prstGeom>
          <a:solidFill>
            <a:srgbClr val="00928D"/>
          </a:solidFill>
        </p:spPr>
        <p:txBody>
          <a:bodyPr wrap="square" lIns="91440" tIns="45720" rIns="91440" bIns="45720" rtlCol="0" anchor="t">
            <a:spAutoFit/>
          </a:bodyPr>
          <a:lstStyle/>
          <a:p>
            <a:pPr algn="ctr">
              <a:lnSpc>
                <a:spcPct val="106000"/>
              </a:lnSpc>
              <a:spcAft>
                <a:spcPts val="800"/>
              </a:spcAft>
            </a:pPr>
            <a:r>
              <a:rPr lang="en-GB" sz="1400" b="1">
                <a:solidFill>
                  <a:schemeClr val="bg1"/>
                </a:solidFill>
                <a:effectLst/>
                <a:ea typeface="Times New Roman" panose="02020603050405020304" pitchFamily="18" charset="0"/>
              </a:rPr>
              <a:t>If the request is to add a new subscription to an existing application, start from Step 3 and contact SDST to request the necessary subscriptions.</a:t>
            </a:r>
          </a:p>
        </p:txBody>
      </p:sp>
      <p:sp>
        <p:nvSpPr>
          <p:cNvPr id="32" name="TextBox 31">
            <a:extLst>
              <a:ext uri="{FF2B5EF4-FFF2-40B4-BE49-F238E27FC236}">
                <a16:creationId xmlns:a16="http://schemas.microsoft.com/office/drawing/2014/main" id="{CAD4A8E3-4BE3-48EA-A753-34ECEF0CBD86}"/>
              </a:ext>
            </a:extLst>
          </p:cNvPr>
          <p:cNvSpPr txBox="1"/>
          <p:nvPr/>
        </p:nvSpPr>
        <p:spPr>
          <a:xfrm>
            <a:off x="7337550" y="2877490"/>
            <a:ext cx="2902570" cy="338554"/>
          </a:xfrm>
          <a:prstGeom prst="rect">
            <a:avLst/>
          </a:prstGeom>
          <a:noFill/>
        </p:spPr>
        <p:txBody>
          <a:bodyPr wrap="square" rtlCol="0">
            <a:spAutoFit/>
          </a:bodyPr>
          <a:lstStyle/>
          <a:p>
            <a:r>
              <a:rPr lang="en-GB" sz="1600" b="1">
                <a:solidFill>
                  <a:srgbClr val="008680"/>
                </a:solidFill>
              </a:rPr>
              <a:t>Steps to access CDS:</a:t>
            </a:r>
          </a:p>
        </p:txBody>
      </p:sp>
      <p:sp>
        <p:nvSpPr>
          <p:cNvPr id="33" name="Slide Number Placeholder 4">
            <a:extLst>
              <a:ext uri="{FF2B5EF4-FFF2-40B4-BE49-F238E27FC236}">
                <a16:creationId xmlns:a16="http://schemas.microsoft.com/office/drawing/2014/main" id="{04A26B54-8315-4FC9-B178-1F8BFED7B336}"/>
              </a:ext>
            </a:extLst>
          </p:cNvPr>
          <p:cNvSpPr>
            <a:spLocks noGrp="1"/>
          </p:cNvSpPr>
          <p:nvPr>
            <p:ph type="sldNum" sz="quarter" idx="12"/>
          </p:nvPr>
        </p:nvSpPr>
        <p:spPr>
          <a:xfrm>
            <a:off x="9298661" y="6356350"/>
            <a:ext cx="2743200" cy="365125"/>
          </a:xfrm>
        </p:spPr>
        <p:txBody>
          <a:bodyPr/>
          <a:lstStyle/>
          <a:p>
            <a:fld id="{831A7E15-3B48-4B7B-BB52-54578FC31682}" type="slidenum">
              <a:rPr lang="en-GB" smtClean="0"/>
              <a:t>17</a:t>
            </a:fld>
            <a:endParaRPr lang="en-GB"/>
          </a:p>
        </p:txBody>
      </p:sp>
      <p:sp>
        <p:nvSpPr>
          <p:cNvPr id="34" name="Rectangle 33">
            <a:extLst>
              <a:ext uri="{FF2B5EF4-FFF2-40B4-BE49-F238E27FC236}">
                <a16:creationId xmlns:a16="http://schemas.microsoft.com/office/drawing/2014/main" id="{480F46F1-A7B4-48C6-B844-9A3BE0ED6F92}"/>
              </a:ext>
            </a:extLst>
          </p:cNvPr>
          <p:cNvSpPr/>
          <p:nvPr/>
        </p:nvSpPr>
        <p:spPr>
          <a:xfrm>
            <a:off x="838200" y="4793344"/>
            <a:ext cx="2597977" cy="1600438"/>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8680"/>
                </a:solidFill>
                <a:effectLst/>
                <a:uLnTx/>
                <a:uFillTx/>
                <a:latin typeface="Calibri" panose="020F0502020204030204"/>
                <a:ea typeface="Verdana"/>
                <a:cs typeface="+mn-cs"/>
              </a:rPr>
              <a:t>Before moving </a:t>
            </a:r>
            <a:r>
              <a:rPr kumimoji="0" lang="en-GB" sz="1400" b="0" i="0" u="none" strike="noStrike" kern="1200" cap="none" spc="0" normalizeH="0" baseline="0" noProof="0">
                <a:ln>
                  <a:noFill/>
                </a:ln>
                <a:solidFill>
                  <a:srgbClr val="008680"/>
                </a:solidFill>
                <a:effectLst/>
                <a:uLnTx/>
                <a:uFillTx/>
                <a:latin typeface="Calibri" panose="020F0502020204030204"/>
                <a:ea typeface="Verdana"/>
                <a:cs typeface="+mn-cs"/>
              </a:rPr>
              <a:t>a Declarant into CDS Live, </a:t>
            </a:r>
            <a:r>
              <a:rPr kumimoji="0" lang="en-GB" sz="1400" b="1" i="0" u="none" strike="noStrike" kern="1200" cap="none" spc="0" normalizeH="0" baseline="0" noProof="0">
                <a:ln>
                  <a:noFill/>
                </a:ln>
                <a:solidFill>
                  <a:srgbClr val="008680"/>
                </a:solidFill>
                <a:effectLst/>
                <a:uLnTx/>
                <a:uFillTx/>
                <a:latin typeface="Calibri" panose="020F0502020204030204"/>
                <a:ea typeface="Verdana"/>
                <a:cs typeface="+mn-cs"/>
              </a:rPr>
              <a:t>it</a:t>
            </a:r>
            <a:r>
              <a:rPr lang="en-GB" sz="1400" b="1">
                <a:solidFill>
                  <a:srgbClr val="008680"/>
                </a:solidFill>
                <a:latin typeface="Calibri" panose="020F0502020204030204"/>
                <a:ea typeface="Verdana"/>
              </a:rPr>
              <a:t> is</a:t>
            </a:r>
            <a:r>
              <a:rPr kumimoji="0" lang="en-GB" sz="1400" b="1" i="0" u="none" strike="noStrike" kern="1200" cap="none" spc="0" normalizeH="0" baseline="0" noProof="0">
                <a:ln>
                  <a:noFill/>
                </a:ln>
                <a:solidFill>
                  <a:srgbClr val="008680"/>
                </a:solidFill>
                <a:effectLst/>
                <a:uLnTx/>
                <a:uFillTx/>
                <a:latin typeface="Calibri" panose="020F0502020204030204"/>
                <a:ea typeface="Verdana"/>
                <a:cs typeface="+mn-cs"/>
              </a:rPr>
              <a:t> a good idea for both the Software Developer and a CSP</a:t>
            </a:r>
            <a:r>
              <a:rPr kumimoji="0" lang="en-GB" sz="1400" b="0" i="0" u="none" strike="noStrike" kern="1200" cap="none" spc="0" normalizeH="0" baseline="0" noProof="0">
                <a:ln>
                  <a:noFill/>
                </a:ln>
                <a:solidFill>
                  <a:srgbClr val="008680"/>
                </a:solidFill>
                <a:effectLst/>
                <a:uLnTx/>
                <a:uFillTx/>
                <a:latin typeface="Calibri" panose="020F0502020204030204"/>
                <a:ea typeface="Verdana"/>
                <a:cs typeface="+mn-cs"/>
              </a:rPr>
              <a:t> to coordinate any changes &amp; plan a Go Live date.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8680"/>
                </a:solidFill>
                <a:effectLst/>
                <a:uLnTx/>
                <a:uFillTx/>
                <a:latin typeface="Calibri" panose="020F0502020204030204"/>
                <a:ea typeface="Verdana"/>
                <a:cs typeface="+mn-cs"/>
              </a:rPr>
              <a:t>This is particularly important if a Declarant uses location </a:t>
            </a:r>
            <a:r>
              <a:rPr lang="en-GB" sz="1400">
                <a:solidFill>
                  <a:srgbClr val="008680"/>
                </a:solidFill>
                <a:latin typeface="Calibri" panose="020F0502020204030204"/>
                <a:ea typeface="Verdana"/>
              </a:rPr>
              <a:t>b</a:t>
            </a:r>
            <a:r>
              <a:rPr kumimoji="0" lang="en-GB" sz="1400" b="0" i="0" u="none" strike="noStrike" kern="1200" cap="none" spc="0" normalizeH="0" baseline="0" noProof="0">
                <a:ln>
                  <a:noFill/>
                </a:ln>
                <a:solidFill>
                  <a:srgbClr val="008680"/>
                </a:solidFill>
                <a:effectLst/>
                <a:uLnTx/>
                <a:uFillTx/>
                <a:latin typeface="Calibri" panose="020F0502020204030204"/>
                <a:ea typeface="Verdana"/>
                <a:cs typeface="+mn-cs"/>
              </a:rPr>
              <a:t>adges.</a:t>
            </a:r>
          </a:p>
        </p:txBody>
      </p:sp>
      <p:pic>
        <p:nvPicPr>
          <p:cNvPr id="35" name="Graphic 34" descr="Box outline">
            <a:extLst>
              <a:ext uri="{FF2B5EF4-FFF2-40B4-BE49-F238E27FC236}">
                <a16:creationId xmlns:a16="http://schemas.microsoft.com/office/drawing/2014/main" id="{662BBF2E-2C58-42F8-AEA4-9D04242A769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p:blipFill>
        <p:spPr>
          <a:xfrm>
            <a:off x="0" y="4819540"/>
            <a:ext cx="797207" cy="797207"/>
          </a:xfrm>
          <a:prstGeom prst="rect">
            <a:avLst/>
          </a:prstGeom>
        </p:spPr>
      </p:pic>
      <p:sp>
        <p:nvSpPr>
          <p:cNvPr id="36" name="Title 1">
            <a:extLst>
              <a:ext uri="{FF2B5EF4-FFF2-40B4-BE49-F238E27FC236}">
                <a16:creationId xmlns:a16="http://schemas.microsoft.com/office/drawing/2014/main" id="{98CB0E54-4788-468E-B85D-7ED3D128B8AD}"/>
              </a:ext>
            </a:extLst>
          </p:cNvPr>
          <p:cNvSpPr txBox="1">
            <a:spLocks/>
          </p:cNvSpPr>
          <p:nvPr/>
        </p:nvSpPr>
        <p:spPr>
          <a:xfrm>
            <a:off x="99154" y="1756233"/>
            <a:ext cx="3521864" cy="388247"/>
          </a:xfrm>
          <a:prstGeom prst="rect">
            <a:avLst/>
          </a:prstGeom>
        </p:spPr>
        <p:txBody>
          <a:bodyPr vert="horz" lIns="0" tIns="0" rIns="0" bIns="0" rtlCol="0" anchor="b">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all" spc="0" normalizeH="0" baseline="0" noProof="0">
                <a:ln>
                  <a:noFill/>
                </a:ln>
                <a:solidFill>
                  <a:srgbClr val="008680"/>
                </a:solidFill>
                <a:effectLst/>
                <a:uLnTx/>
                <a:uFillTx/>
                <a:latin typeface="Calibri" panose="020F0502020204030204"/>
                <a:ea typeface="+mj-ea"/>
                <a:cs typeface="+mj-cs"/>
              </a:rPr>
              <a:t>BETTER WAYS OF WORKING</a:t>
            </a:r>
          </a:p>
        </p:txBody>
      </p:sp>
      <p:pic>
        <p:nvPicPr>
          <p:cNvPr id="37" name="Graphic 36" descr="Good Idea outline">
            <a:extLst>
              <a:ext uri="{FF2B5EF4-FFF2-40B4-BE49-F238E27FC236}">
                <a16:creationId xmlns:a16="http://schemas.microsoft.com/office/drawing/2014/main" id="{108F4CD3-F6A4-4285-9A49-524883F02F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p:blipFill>
        <p:spPr>
          <a:xfrm>
            <a:off x="0" y="2387272"/>
            <a:ext cx="797207" cy="797207"/>
          </a:xfrm>
          <a:prstGeom prst="rect">
            <a:avLst/>
          </a:prstGeom>
        </p:spPr>
      </p:pic>
      <p:sp>
        <p:nvSpPr>
          <p:cNvPr id="38" name="Rectangle 37">
            <a:extLst>
              <a:ext uri="{FF2B5EF4-FFF2-40B4-BE49-F238E27FC236}">
                <a16:creationId xmlns:a16="http://schemas.microsoft.com/office/drawing/2014/main" id="{9E2A5966-1BAB-4A2C-9F1E-04578FED673F}"/>
              </a:ext>
            </a:extLst>
          </p:cNvPr>
          <p:cNvSpPr/>
          <p:nvPr/>
        </p:nvSpPr>
        <p:spPr>
          <a:xfrm>
            <a:off x="838201" y="2308475"/>
            <a:ext cx="2730500" cy="2387257"/>
          </a:xfrm>
          <a:prstGeom prst="rect">
            <a:avLst/>
          </a:prstGeom>
        </p:spPr>
        <p:txBody>
          <a:bodyPr wrap="square" lIns="91440" tIns="45720" rIns="91440" bIns="45720" anchor="t">
            <a:spAutoFit/>
          </a:bodyPr>
          <a:lstStyle/>
          <a:p>
            <a:pPr>
              <a:lnSpc>
                <a:spcPct val="107000"/>
              </a:lnSpc>
              <a:spcAft>
                <a:spcPts val="800"/>
              </a:spcAft>
            </a:pP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It is strongly recommended</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 </a:t>
            </a: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that</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 all Declarants practice </a:t>
            </a: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in TDR before moving to CDS Live. Although, not a requirement, users who practice in TDR experience </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significantly higher success rates </a:t>
            </a: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in CDS Live</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 encounter fewer delays </a:t>
            </a: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and</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 are less likely to raise a support query </a:t>
            </a:r>
            <a:r>
              <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with either their Software Developer or HMRC</a:t>
            </a:r>
            <a:r>
              <a:rPr lang="en-GB" sz="1400" b="1"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400" dirty="0">
              <a:solidFill>
                <a:srgbClr val="00868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0519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FE52225-2765-4CB8-821C-D05BC8405961}"/>
              </a:ext>
            </a:extLst>
          </p:cNvPr>
          <p:cNvSpPr txBox="1">
            <a:spLocks/>
          </p:cNvSpPr>
          <p:nvPr/>
        </p:nvSpPr>
        <p:spPr>
          <a:xfrm>
            <a:off x="411548" y="1895362"/>
            <a:ext cx="7422218" cy="4004924"/>
          </a:xfrm>
          <a:prstGeom prst="rect">
            <a:avLst/>
          </a:prstGeom>
          <a:noFill/>
          <a:ln w="57150">
            <a:noFill/>
          </a:ln>
        </p:spPr>
        <p:txBody>
          <a:bodyPr wrap="square" lIns="91440" tIns="45720" rIns="91440" bIns="45720" rtlCol="0" anchor="t">
            <a:noAutofit/>
          </a:bodyPr>
          <a:lstStyle/>
          <a:p>
            <a:r>
              <a:rPr lang="en-GB" sz="1400" dirty="0">
                <a:ea typeface="+mn-lt"/>
                <a:cs typeface="+mn-lt"/>
              </a:rPr>
              <a:t>Export Inventory Linking is the process by which goods are associated to their declarations, with the CSPs actioning the movement in and out of the UK at CSP locations. It’s a process most used by Fast Parcel services and high-volume Declarants. </a:t>
            </a:r>
          </a:p>
          <a:p>
            <a:endParaRPr lang="en-GB" sz="1400" dirty="0">
              <a:ea typeface="+mn-lt"/>
              <a:cs typeface="+mn-lt"/>
            </a:endParaRPr>
          </a:p>
          <a:p>
            <a:r>
              <a:rPr lang="en-GB" sz="1400" dirty="0">
                <a:ea typeface="+mn-lt"/>
                <a:cs typeface="+mn-lt"/>
              </a:rPr>
              <a:t>Declarants who export less frequently or lower volumes can continue to submit declarations directly  using either CHIEF NESWEB (until 31</a:t>
            </a:r>
            <a:r>
              <a:rPr lang="en-GB" sz="1400" baseline="30000" dirty="0">
                <a:ea typeface="+mn-lt"/>
                <a:cs typeface="+mn-lt"/>
              </a:rPr>
              <a:t>st</a:t>
            </a:r>
            <a:r>
              <a:rPr lang="en-GB" sz="1400" dirty="0">
                <a:ea typeface="+mn-lt"/>
                <a:cs typeface="+mn-lt"/>
              </a:rPr>
              <a:t> March 2024), or the new Make an Export Declaration Online service that will replace NESWEB.</a:t>
            </a:r>
          </a:p>
          <a:p>
            <a:r>
              <a:rPr lang="en-GB" sz="1400" dirty="0">
                <a:ea typeface="+mn-lt"/>
                <a:cs typeface="+mn-lt"/>
              </a:rPr>
              <a:t> </a:t>
            </a:r>
          </a:p>
          <a:p>
            <a:r>
              <a:rPr lang="en-GB" sz="1400" dirty="0">
                <a:ea typeface="+mn-lt"/>
                <a:cs typeface="+mn-lt"/>
              </a:rPr>
              <a:t>To reduce the impact on businesses, a phased migration approach for Export Inventory Linking has been introduced utilising Dual Running. During Phase 1 of the journey to CDS, Export declarations will continue to be entered through CHIEF but movement messages will be sent through CDS. </a:t>
            </a:r>
          </a:p>
          <a:p>
            <a:endParaRPr lang="en-GB" sz="1400" dirty="0">
              <a:ea typeface="+mn-lt"/>
              <a:cs typeface="+mn-lt"/>
            </a:endParaRPr>
          </a:p>
          <a:p>
            <a:r>
              <a:rPr lang="en-GB" sz="1400" dirty="0">
                <a:ea typeface="+mn-lt"/>
                <a:cs typeface="+mn-lt"/>
              </a:rPr>
              <a:t>Only CSPs and Software Developers will be affected during Phase 1. Both will need to undertake additional testing in TT. TDR is an isolated practice environment and will not be connected to CHIEF so will not be able to support Dual Running.</a:t>
            </a:r>
          </a:p>
          <a:p>
            <a:endParaRPr lang="en-GB" sz="1400" dirty="0">
              <a:ea typeface="+mn-lt"/>
              <a:cs typeface="+mn-lt"/>
            </a:endParaRPr>
          </a:p>
          <a:p>
            <a:r>
              <a:rPr lang="en-GB" sz="1400" dirty="0">
                <a:ea typeface="+mn-lt"/>
                <a:cs typeface="+mn-lt"/>
              </a:rPr>
              <a:t>For more information on the future of Exports visit: </a:t>
            </a:r>
            <a:r>
              <a:rPr lang="en-GB" sz="1400" dirty="0">
                <a:solidFill>
                  <a:srgbClr val="008680"/>
                </a:solidFill>
                <a:ea typeface="+mn-lt"/>
                <a:cs typeface="+mn-lt"/>
                <a:hlinkClick r:id="rId3">
                  <a:extLst>
                    <a:ext uri="{A12FA001-AC4F-418D-AE19-62706E023703}">
                      <ahyp:hlinkClr xmlns:ahyp="http://schemas.microsoft.com/office/drawing/2018/hyperlinkcolor" val="tx"/>
                    </a:ext>
                  </a:extLst>
                </a:hlinkClick>
              </a:rPr>
              <a:t>Developer Hub</a:t>
            </a:r>
            <a:r>
              <a:rPr lang="en-GB" sz="1400" dirty="0">
                <a:ea typeface="+mn-lt"/>
                <a:cs typeface="+mn-lt"/>
              </a:rPr>
              <a:t>.</a:t>
            </a:r>
          </a:p>
        </p:txBody>
      </p:sp>
      <p:sp>
        <p:nvSpPr>
          <p:cNvPr id="15" name="Rectangle 14">
            <a:extLst>
              <a:ext uri="{FF2B5EF4-FFF2-40B4-BE49-F238E27FC236}">
                <a16:creationId xmlns:a16="http://schemas.microsoft.com/office/drawing/2014/main" id="{272127E4-A9E6-4FAD-9136-FA68EC42B8E4}"/>
              </a:ext>
            </a:extLst>
          </p:cNvPr>
          <p:cNvSpPr/>
          <p:nvPr/>
        </p:nvSpPr>
        <p:spPr>
          <a:xfrm>
            <a:off x="8410499" y="2407741"/>
            <a:ext cx="3483937" cy="2854945"/>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D036027-D7B9-4D10-86A9-A2F97548D156}"/>
              </a:ext>
            </a:extLst>
          </p:cNvPr>
          <p:cNvSpPr txBox="1"/>
          <p:nvPr/>
        </p:nvSpPr>
        <p:spPr>
          <a:xfrm>
            <a:off x="8606764" y="2566382"/>
            <a:ext cx="3091407" cy="2349361"/>
          </a:xfrm>
          <a:prstGeom prst="rect">
            <a:avLst/>
          </a:prstGeom>
          <a:noFill/>
        </p:spPr>
        <p:txBody>
          <a:bodyPr wrap="square">
            <a:spAutoFit/>
          </a:bodyPr>
          <a:lstStyle/>
          <a:p>
            <a:pPr algn="ctr">
              <a:spcAft>
                <a:spcPts val="800"/>
              </a:spcAft>
            </a:pPr>
            <a:r>
              <a:rPr lang="en-GB" sz="1400">
                <a:solidFill>
                  <a:schemeClr val="bg1"/>
                </a:solidFill>
                <a:effectLst/>
                <a:ea typeface="Calibri" panose="020F0502020204030204" pitchFamily="34" charset="0"/>
                <a:cs typeface="Calibri"/>
              </a:rPr>
              <a:t>During the migration to Dual Running, CSPs will continue to provide Inventory systems that are used by CSP Ports and Airports to manage the movement of cargo out of the UK.</a:t>
            </a:r>
          </a:p>
          <a:p>
            <a:pPr algn="ctr">
              <a:spcAft>
                <a:spcPts val="800"/>
              </a:spcAft>
            </a:pPr>
            <a:r>
              <a:rPr lang="en-GB" sz="1400">
                <a:solidFill>
                  <a:schemeClr val="bg1"/>
                </a:solidFill>
                <a:effectLst/>
                <a:ea typeface="Calibri" panose="020F0502020204030204" pitchFamily="34" charset="0"/>
                <a:cs typeface="Calibri"/>
              </a:rPr>
              <a:t>CSPs will continue to notify HMRC of movements using different message types. HMRC will confirm whether goods can be progressed to departure, or if they need to be controlled.</a:t>
            </a:r>
          </a:p>
        </p:txBody>
      </p:sp>
      <p:grpSp>
        <p:nvGrpSpPr>
          <p:cNvPr id="19" name="Group 18">
            <a:extLst>
              <a:ext uri="{FF2B5EF4-FFF2-40B4-BE49-F238E27FC236}">
                <a16:creationId xmlns:a16="http://schemas.microsoft.com/office/drawing/2014/main" id="{EBA67E60-9340-468D-80F6-72153BFE4469}"/>
              </a:ext>
            </a:extLst>
          </p:cNvPr>
          <p:cNvGrpSpPr/>
          <p:nvPr/>
        </p:nvGrpSpPr>
        <p:grpSpPr>
          <a:xfrm>
            <a:off x="5162406" y="-63328"/>
            <a:ext cx="6841472" cy="910091"/>
            <a:chOff x="5162406" y="-63328"/>
            <a:chExt cx="6841472" cy="910091"/>
          </a:xfrm>
        </p:grpSpPr>
        <p:graphicFrame>
          <p:nvGraphicFramePr>
            <p:cNvPr id="20" name="Diagram 19">
              <a:extLst>
                <a:ext uri="{FF2B5EF4-FFF2-40B4-BE49-F238E27FC236}">
                  <a16:creationId xmlns:a16="http://schemas.microsoft.com/office/drawing/2014/main" id="{D7D1CC78-E346-4FBF-81C5-179996AC5623}"/>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1" name="Graphic 20" descr="Clapper board with solid fill">
              <a:extLst>
                <a:ext uri="{FF2B5EF4-FFF2-40B4-BE49-F238E27FC236}">
                  <a16:creationId xmlns:a16="http://schemas.microsoft.com/office/drawing/2014/main" id="{EDBE2241-E13A-4EE6-952B-EB3799906E2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12252" y="245203"/>
              <a:ext cx="295446" cy="295446"/>
            </a:xfrm>
            <a:prstGeom prst="rect">
              <a:avLst/>
            </a:prstGeom>
          </p:spPr>
        </p:pic>
        <p:pic>
          <p:nvPicPr>
            <p:cNvPr id="34" name="Graphic 33" descr="Plugged Unplugged with solid fill">
              <a:extLst>
                <a:ext uri="{FF2B5EF4-FFF2-40B4-BE49-F238E27FC236}">
                  <a16:creationId xmlns:a16="http://schemas.microsoft.com/office/drawing/2014/main" id="{8203F93C-E8F1-4438-8B11-DCF90AF659F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13896" y="245203"/>
              <a:ext cx="295445" cy="295445"/>
            </a:xfrm>
            <a:prstGeom prst="rect">
              <a:avLst/>
            </a:prstGeom>
          </p:spPr>
        </p:pic>
        <p:pic>
          <p:nvPicPr>
            <p:cNvPr id="35" name="Graphic 34" descr="Internet Of Things with solid fill">
              <a:extLst>
                <a:ext uri="{FF2B5EF4-FFF2-40B4-BE49-F238E27FC236}">
                  <a16:creationId xmlns:a16="http://schemas.microsoft.com/office/drawing/2014/main" id="{F33FEE4D-F9A7-46AD-BEB1-D2353EC59C0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30880" y="245203"/>
              <a:ext cx="295445" cy="295445"/>
            </a:xfrm>
            <a:prstGeom prst="rect">
              <a:avLst/>
            </a:prstGeom>
          </p:spPr>
        </p:pic>
        <p:pic>
          <p:nvPicPr>
            <p:cNvPr id="36" name="Graphic 35" descr="Ui Ux with solid fill">
              <a:extLst>
                <a:ext uri="{FF2B5EF4-FFF2-40B4-BE49-F238E27FC236}">
                  <a16:creationId xmlns:a16="http://schemas.microsoft.com/office/drawing/2014/main" id="{2C8E2AF9-76C7-4FF0-9EA6-4FE7E00DF09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472388" y="245203"/>
              <a:ext cx="295445" cy="295445"/>
            </a:xfrm>
            <a:prstGeom prst="rect">
              <a:avLst/>
            </a:prstGeom>
          </p:spPr>
        </p:pic>
        <p:pic>
          <p:nvPicPr>
            <p:cNvPr id="37" name="Graphic 36" descr="Open hand with plant with solid fill">
              <a:extLst>
                <a:ext uri="{FF2B5EF4-FFF2-40B4-BE49-F238E27FC236}">
                  <a16:creationId xmlns:a16="http://schemas.microsoft.com/office/drawing/2014/main" id="{1D682C83-15B2-4AFC-BF9C-EBEC3139CF6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77438" y="245203"/>
              <a:ext cx="307665" cy="307665"/>
            </a:xfrm>
            <a:prstGeom prst="rect">
              <a:avLst/>
            </a:prstGeom>
          </p:spPr>
        </p:pic>
        <p:pic>
          <p:nvPicPr>
            <p:cNvPr id="38" name="Graphic 37" descr="Books with solid fill">
              <a:extLst>
                <a:ext uri="{FF2B5EF4-FFF2-40B4-BE49-F238E27FC236}">
                  <a16:creationId xmlns:a16="http://schemas.microsoft.com/office/drawing/2014/main" id="{FE30F2A1-3D7A-4A60-B067-E99C88B5BAF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2672" y="245203"/>
              <a:ext cx="295445" cy="295445"/>
            </a:xfrm>
            <a:prstGeom prst="rect">
              <a:avLst/>
            </a:prstGeom>
          </p:spPr>
        </p:pic>
        <p:pic>
          <p:nvPicPr>
            <p:cNvPr id="39" name="Graphic 38" descr="Questions with solid fill">
              <a:extLst>
                <a:ext uri="{FF2B5EF4-FFF2-40B4-BE49-F238E27FC236}">
                  <a16:creationId xmlns:a16="http://schemas.microsoft.com/office/drawing/2014/main" id="{C3B00052-5A63-4BBB-8C12-23077439ACE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298115" y="245203"/>
              <a:ext cx="295445" cy="295445"/>
            </a:xfrm>
            <a:prstGeom prst="rect">
              <a:avLst/>
            </a:prstGeom>
          </p:spPr>
        </p:pic>
      </p:grpSp>
      <p:sp>
        <p:nvSpPr>
          <p:cNvPr id="40" name="Rectangle: Diagonal Corners Rounded 39">
            <a:extLst>
              <a:ext uri="{FF2B5EF4-FFF2-40B4-BE49-F238E27FC236}">
                <a16:creationId xmlns:a16="http://schemas.microsoft.com/office/drawing/2014/main" id="{2D4B5D60-C357-40D8-93DB-B61C37D22909}"/>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Exports Dual Running on CDS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41" name="Rectangle: Diagonal Corners Snipped 40">
            <a:extLst>
              <a:ext uri="{FF2B5EF4-FFF2-40B4-BE49-F238E27FC236}">
                <a16:creationId xmlns:a16="http://schemas.microsoft.com/office/drawing/2014/main" id="{B2F74A12-2E00-402F-B7A2-2EF7CE80C266}"/>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kumimoji="0" lang="en-GB" sz="1800" b="1" i="0" u="none" strike="noStrike" kern="0" cap="none" spc="0" normalizeH="0" baseline="0" noProof="0">
                <a:ln>
                  <a:noFill/>
                </a:ln>
                <a:solidFill>
                  <a:schemeClr val="bg1"/>
                </a:solidFill>
                <a:effectLst/>
                <a:uLnTx/>
                <a:uFillTx/>
                <a:ea typeface="+mn-lt"/>
                <a:cs typeface="+mn-lt"/>
              </a:rPr>
              <a:t>For larger </a:t>
            </a:r>
            <a:r>
              <a:rPr lang="en-GB" b="1" kern="0">
                <a:solidFill>
                  <a:schemeClr val="bg1"/>
                </a:solidFill>
                <a:ea typeface="+mn-lt"/>
                <a:cs typeface="+mn-lt"/>
              </a:rPr>
              <a:t>Declarants </a:t>
            </a:r>
            <a:r>
              <a:rPr kumimoji="0" lang="en-GB" sz="1800" b="1" i="0" u="none" strike="noStrike" kern="0" cap="none" spc="0" normalizeH="0" baseline="0" noProof="0">
                <a:ln>
                  <a:noFill/>
                </a:ln>
                <a:solidFill>
                  <a:schemeClr val="bg1"/>
                </a:solidFill>
                <a:effectLst/>
                <a:uLnTx/>
                <a:uFillTx/>
                <a:ea typeface="+mn-lt"/>
                <a:cs typeface="+mn-lt"/>
              </a:rPr>
              <a:t>and Businesses</a:t>
            </a:r>
            <a:r>
              <a:rPr lang="en-GB" kern="0">
                <a:solidFill>
                  <a:schemeClr val="bg1"/>
                </a:solidFill>
                <a:ea typeface="+mn-lt"/>
                <a:cs typeface="+mn-lt"/>
              </a:rPr>
              <a:t>, </a:t>
            </a:r>
            <a:r>
              <a:rPr kumimoji="0" lang="en-GB" sz="1800" i="0" u="none" strike="noStrike" kern="0" cap="none" spc="0" normalizeH="0" baseline="0" noProof="0">
                <a:ln>
                  <a:noFill/>
                </a:ln>
                <a:solidFill>
                  <a:schemeClr val="bg1"/>
                </a:solidFill>
                <a:effectLst/>
                <a:uLnTx/>
                <a:uFillTx/>
                <a:ea typeface="+mn-lt"/>
                <a:cs typeface="+mn-lt"/>
              </a:rPr>
              <a:t>CDS will soon allow CSPs and Software Developers to link the movements of goods.</a:t>
            </a:r>
            <a:r>
              <a:rPr lang="en-GB" kern="0">
                <a:solidFill>
                  <a:schemeClr val="bg1"/>
                </a:solidFill>
                <a:ea typeface="+mn-lt"/>
                <a:cs typeface="+mn-lt"/>
              </a:rPr>
              <a:t> </a:t>
            </a:r>
            <a:endParaRPr kumimoji="0" lang="en-GB" sz="1800" i="0" u="none" strike="noStrike" kern="0" cap="none" spc="0" normalizeH="0" baseline="0" noProof="0">
              <a:ln>
                <a:noFill/>
              </a:ln>
              <a:solidFill>
                <a:schemeClr val="bg1"/>
              </a:solidFill>
              <a:effectLst/>
              <a:uLnTx/>
              <a:uFillTx/>
              <a:ea typeface="+mn-lt"/>
              <a:cs typeface="+mn-lt"/>
            </a:endParaRPr>
          </a:p>
        </p:txBody>
      </p:sp>
      <p:sp>
        <p:nvSpPr>
          <p:cNvPr id="3" name="Slide Number Placeholder 2">
            <a:extLst>
              <a:ext uri="{FF2B5EF4-FFF2-40B4-BE49-F238E27FC236}">
                <a16:creationId xmlns:a16="http://schemas.microsoft.com/office/drawing/2014/main" id="{C4C94724-F05A-4D81-A0E3-F0BA16531E75}"/>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18</a:t>
            </a:fld>
            <a:endParaRPr lang="en-US">
              <a:solidFill>
                <a:srgbClr val="000000">
                  <a:tint val="75000"/>
                </a:srgbClr>
              </a:solidFill>
            </a:endParaRPr>
          </a:p>
        </p:txBody>
      </p:sp>
    </p:spTree>
    <p:extLst>
      <p:ext uri="{BB962C8B-B14F-4D97-AF65-F5344CB8AC3E}">
        <p14:creationId xmlns:p14="http://schemas.microsoft.com/office/powerpoint/2010/main" val="2482407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73BDD3AA-0600-4AFD-A8E7-0DBB7C74B20A}"/>
              </a:ext>
            </a:extLst>
          </p:cNvPr>
          <p:cNvSpPr/>
          <p:nvPr/>
        </p:nvSpPr>
        <p:spPr>
          <a:xfrm>
            <a:off x="1" y="1819892"/>
            <a:ext cx="12192000" cy="3006108"/>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1EC6DF69-433A-4643-B340-5EA521EF0AEB}"/>
              </a:ext>
            </a:extLst>
          </p:cNvPr>
          <p:cNvSpPr/>
          <p:nvPr/>
        </p:nvSpPr>
        <p:spPr>
          <a:xfrm>
            <a:off x="11135135" y="2264484"/>
            <a:ext cx="584893" cy="549094"/>
          </a:xfrm>
          <a:prstGeom prst="ellipse">
            <a:avLst/>
          </a:prstGeom>
          <a:solidFill>
            <a:srgbClr val="214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Oval 47">
            <a:extLst>
              <a:ext uri="{FF2B5EF4-FFF2-40B4-BE49-F238E27FC236}">
                <a16:creationId xmlns:a16="http://schemas.microsoft.com/office/drawing/2014/main" id="{01336D5B-C648-4A47-B223-092955C45E18}"/>
              </a:ext>
            </a:extLst>
          </p:cNvPr>
          <p:cNvSpPr/>
          <p:nvPr/>
        </p:nvSpPr>
        <p:spPr>
          <a:xfrm>
            <a:off x="9296317" y="2264484"/>
            <a:ext cx="584893" cy="549094"/>
          </a:xfrm>
          <a:prstGeom prst="ellipse">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Oval 46">
            <a:extLst>
              <a:ext uri="{FF2B5EF4-FFF2-40B4-BE49-F238E27FC236}">
                <a16:creationId xmlns:a16="http://schemas.microsoft.com/office/drawing/2014/main" id="{72537D5D-9E9B-4FE9-9FD1-0C49EAC298F3}"/>
              </a:ext>
            </a:extLst>
          </p:cNvPr>
          <p:cNvSpPr/>
          <p:nvPr/>
        </p:nvSpPr>
        <p:spPr>
          <a:xfrm>
            <a:off x="7424414" y="2264484"/>
            <a:ext cx="584893" cy="549094"/>
          </a:xfrm>
          <a:prstGeom prst="ellipse">
            <a:avLst/>
          </a:prstGeom>
          <a:solidFill>
            <a:srgbClr val="5EB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Oval 43">
            <a:extLst>
              <a:ext uri="{FF2B5EF4-FFF2-40B4-BE49-F238E27FC236}">
                <a16:creationId xmlns:a16="http://schemas.microsoft.com/office/drawing/2014/main" id="{AB9B1F1E-B5A6-4198-BF41-0C054B8BFA9A}"/>
              </a:ext>
            </a:extLst>
          </p:cNvPr>
          <p:cNvSpPr/>
          <p:nvPr/>
        </p:nvSpPr>
        <p:spPr>
          <a:xfrm>
            <a:off x="5803553" y="2264484"/>
            <a:ext cx="584893" cy="549094"/>
          </a:xfrm>
          <a:prstGeom prst="ellipse">
            <a:avLst/>
          </a:prstGeom>
          <a:solidFill>
            <a:srgbClr val="93B8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3" name="Oval 42">
            <a:extLst>
              <a:ext uri="{FF2B5EF4-FFF2-40B4-BE49-F238E27FC236}">
                <a16:creationId xmlns:a16="http://schemas.microsoft.com/office/drawing/2014/main" id="{60EBE4E3-FB51-4A74-9EED-4D1CBFADB219}"/>
              </a:ext>
            </a:extLst>
          </p:cNvPr>
          <p:cNvSpPr/>
          <p:nvPr/>
        </p:nvSpPr>
        <p:spPr>
          <a:xfrm>
            <a:off x="3989252" y="2264484"/>
            <a:ext cx="584893" cy="549094"/>
          </a:xfrm>
          <a:prstGeom prst="ellipse">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B8C5816A-6948-4065-8B3C-4BF9BDF4A231}"/>
              </a:ext>
            </a:extLst>
          </p:cNvPr>
          <p:cNvSpPr/>
          <p:nvPr/>
        </p:nvSpPr>
        <p:spPr>
          <a:xfrm>
            <a:off x="2055860" y="2264484"/>
            <a:ext cx="584893" cy="549094"/>
          </a:xfrm>
          <a:prstGeom prst="ellipse">
            <a:avLst/>
          </a:prstGeom>
          <a:solidFill>
            <a:srgbClr val="0092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pic>
        <p:nvPicPr>
          <p:cNvPr id="28" name="Graphic 263" descr="Signature outline">
            <a:extLst>
              <a:ext uri="{FF2B5EF4-FFF2-40B4-BE49-F238E27FC236}">
                <a16:creationId xmlns:a16="http://schemas.microsoft.com/office/drawing/2014/main" id="{987E1B78-BA07-4C0A-B636-75728173A3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176339" y="2367064"/>
            <a:ext cx="343934" cy="343934"/>
          </a:xfrm>
          <a:prstGeom prst="rect">
            <a:avLst/>
          </a:prstGeom>
        </p:spPr>
      </p:pic>
      <p:pic>
        <p:nvPicPr>
          <p:cNvPr id="29" name="Graphic 264" descr="Disk outline">
            <a:extLst>
              <a:ext uri="{FF2B5EF4-FFF2-40B4-BE49-F238E27FC236}">
                <a16:creationId xmlns:a16="http://schemas.microsoft.com/office/drawing/2014/main" id="{4A40F0B1-D1E5-4839-A314-FD24A0BE64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101645" y="2358978"/>
            <a:ext cx="360107" cy="360107"/>
          </a:xfrm>
          <a:prstGeom prst="rect">
            <a:avLst/>
          </a:prstGeom>
        </p:spPr>
      </p:pic>
      <p:sp>
        <p:nvSpPr>
          <p:cNvPr id="33" name="Title 1">
            <a:extLst>
              <a:ext uri="{FF2B5EF4-FFF2-40B4-BE49-F238E27FC236}">
                <a16:creationId xmlns:a16="http://schemas.microsoft.com/office/drawing/2014/main" id="{17AF8092-9AC7-4480-82A4-1C1AFAD7517A}"/>
              </a:ext>
            </a:extLst>
          </p:cNvPr>
          <p:cNvSpPr txBox="1">
            <a:spLocks/>
          </p:cNvSpPr>
          <p:nvPr/>
        </p:nvSpPr>
        <p:spPr>
          <a:xfrm>
            <a:off x="1920949" y="2873072"/>
            <a:ext cx="854715" cy="3183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Calibri"/>
                <a:ea typeface="+mj-ea"/>
                <a:cs typeface="Arial"/>
              </a:rPr>
              <a:t>Tariff</a:t>
            </a:r>
            <a:endParaRPr kumimoji="0" lang="en-GB" sz="1400" b="0" i="0" u="none" strike="noStrike" kern="1200" cap="none" spc="0" normalizeH="0" baseline="0" noProof="0">
              <a:ln>
                <a:noFill/>
              </a:ln>
              <a:solidFill>
                <a:schemeClr val="bg1"/>
              </a:solidFill>
              <a:effectLst/>
              <a:uLnTx/>
              <a:uFillTx/>
              <a:latin typeface="Calibri"/>
              <a:ea typeface="+mj-ea"/>
              <a:cs typeface="Arial" panose="020B0604020202020204" pitchFamily="34" charset="0"/>
            </a:endParaRPr>
          </a:p>
        </p:txBody>
      </p:sp>
      <p:sp>
        <p:nvSpPr>
          <p:cNvPr id="34" name="Content Placeholder 7">
            <a:extLst>
              <a:ext uri="{FF2B5EF4-FFF2-40B4-BE49-F238E27FC236}">
                <a16:creationId xmlns:a16="http://schemas.microsoft.com/office/drawing/2014/main" id="{9C2FDE1C-395A-44F5-8EF8-B600056AD3CC}"/>
              </a:ext>
            </a:extLst>
          </p:cNvPr>
          <p:cNvSpPr txBox="1">
            <a:spLocks/>
          </p:cNvSpPr>
          <p:nvPr/>
        </p:nvSpPr>
        <p:spPr>
          <a:xfrm>
            <a:off x="1439230" y="3208125"/>
            <a:ext cx="1875793" cy="156775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defRPr/>
            </a:pPr>
            <a:r>
              <a:rPr lang="en-GB" sz="1200">
                <a:solidFill>
                  <a:schemeClr val="bg1"/>
                </a:solidFill>
                <a:latin typeface="Calibri"/>
                <a:ea typeface="Verdana"/>
                <a:cs typeface="Calibri"/>
              </a:rPr>
              <a:t>Don’t</a:t>
            </a:r>
            <a:r>
              <a:rPr kumimoji="0" lang="en-GB" sz="1200" i="0" u="none" strike="noStrike" kern="1200" cap="none" spc="0" normalizeH="0" baseline="0" noProof="0">
                <a:ln>
                  <a:noFill/>
                </a:ln>
                <a:solidFill>
                  <a:schemeClr val="bg1"/>
                </a:solidFill>
                <a:effectLst/>
                <a:uLnTx/>
                <a:uFillTx/>
                <a:latin typeface="Calibri"/>
                <a:ea typeface="Verdana"/>
                <a:cs typeface="Calibri"/>
              </a:rPr>
              <a:t> submit a Declaration </a:t>
            </a:r>
            <a:r>
              <a:rPr lang="en-GB" sz="1200">
                <a:solidFill>
                  <a:schemeClr val="bg1"/>
                </a:solidFill>
                <a:latin typeface="Calibri"/>
                <a:ea typeface="Verdana"/>
                <a:cs typeface="Calibri"/>
              </a:rPr>
              <a:t>in </a:t>
            </a:r>
            <a:r>
              <a:rPr kumimoji="0" lang="en-GB" sz="1200" i="0" u="none" strike="noStrike" kern="1200" cap="none" spc="0" normalizeH="0" baseline="0" noProof="0">
                <a:ln>
                  <a:noFill/>
                </a:ln>
                <a:solidFill>
                  <a:schemeClr val="bg1"/>
                </a:solidFill>
                <a:effectLst/>
                <a:uLnTx/>
                <a:uFillTx/>
                <a:latin typeface="Calibri"/>
                <a:ea typeface="Verdana"/>
                <a:cs typeface="Calibri"/>
              </a:rPr>
              <a:t>CDS using the CHIEF tariff </a:t>
            </a:r>
            <a:r>
              <a:rPr lang="en-GB" sz="1200">
                <a:solidFill>
                  <a:schemeClr val="bg1"/>
                </a:solidFill>
                <a:latin typeface="Calibri"/>
                <a:ea typeface="Verdana"/>
                <a:cs typeface="Calibri"/>
              </a:rPr>
              <a:t>- </a:t>
            </a:r>
            <a:r>
              <a:rPr kumimoji="0" lang="en-GB" sz="1200" i="0" u="none" strike="noStrike" kern="1200" cap="none" spc="0" normalizeH="0" baseline="0" noProof="0">
                <a:ln>
                  <a:noFill/>
                </a:ln>
                <a:solidFill>
                  <a:schemeClr val="bg1"/>
                </a:solidFill>
                <a:effectLst/>
                <a:uLnTx/>
                <a:uFillTx/>
                <a:latin typeface="Calibri"/>
                <a:ea typeface="Verdana"/>
                <a:cs typeface="Calibri"/>
              </a:rPr>
              <a:t>it will be rejected because the Codes won’t be recognised.</a:t>
            </a:r>
          </a:p>
        </p:txBody>
      </p:sp>
      <p:sp>
        <p:nvSpPr>
          <p:cNvPr id="35" name="Title 1">
            <a:extLst>
              <a:ext uri="{FF2B5EF4-FFF2-40B4-BE49-F238E27FC236}">
                <a16:creationId xmlns:a16="http://schemas.microsoft.com/office/drawing/2014/main" id="{21629EF2-216A-49CE-B508-4B909204311C}"/>
              </a:ext>
            </a:extLst>
          </p:cNvPr>
          <p:cNvSpPr txBox="1">
            <a:spLocks/>
          </p:cNvSpPr>
          <p:nvPr/>
        </p:nvSpPr>
        <p:spPr>
          <a:xfrm>
            <a:off x="3790305" y="2873071"/>
            <a:ext cx="982786" cy="3183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a:solidFill>
                  <a:schemeClr val="bg1"/>
                </a:solidFill>
                <a:latin typeface="Calibri"/>
                <a:cs typeface="Arial"/>
              </a:rPr>
              <a:t>Errors</a:t>
            </a:r>
            <a:endParaRPr kumimoji="0" lang="en-GB" sz="1400" b="0" i="0" u="none" strike="noStrike" kern="1200" cap="none" spc="0" normalizeH="0" baseline="0" noProof="0">
              <a:ln>
                <a:noFill/>
              </a:ln>
              <a:solidFill>
                <a:schemeClr val="bg1"/>
              </a:solidFill>
              <a:effectLst/>
              <a:uLnTx/>
              <a:uFillTx/>
              <a:latin typeface="Calibri"/>
              <a:ea typeface="+mj-ea"/>
              <a:cs typeface="Arial" panose="020B0604020202020204" pitchFamily="34" charset="0"/>
            </a:endParaRPr>
          </a:p>
        </p:txBody>
      </p:sp>
      <p:sp>
        <p:nvSpPr>
          <p:cNvPr id="36" name="Content Placeholder 7">
            <a:extLst>
              <a:ext uri="{FF2B5EF4-FFF2-40B4-BE49-F238E27FC236}">
                <a16:creationId xmlns:a16="http://schemas.microsoft.com/office/drawing/2014/main" id="{06FB40E3-1224-4CA0-9F21-2A8FD8E3E245}"/>
              </a:ext>
            </a:extLst>
          </p:cNvPr>
          <p:cNvSpPr txBox="1">
            <a:spLocks/>
          </p:cNvSpPr>
          <p:nvPr/>
        </p:nvSpPr>
        <p:spPr>
          <a:xfrm>
            <a:off x="3423813" y="3208125"/>
            <a:ext cx="1852813" cy="1269053"/>
          </a:xfrm>
          <a:prstGeom prst="rect">
            <a:avLst/>
          </a:prstGeom>
          <a:no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CDS has 200 error codes pointing to the exact data element where the error occurred so they can be resolved quickly.</a:t>
            </a:r>
          </a:p>
        </p:txBody>
      </p:sp>
      <p:sp>
        <p:nvSpPr>
          <p:cNvPr id="37" name="Title 1">
            <a:extLst>
              <a:ext uri="{FF2B5EF4-FFF2-40B4-BE49-F238E27FC236}">
                <a16:creationId xmlns:a16="http://schemas.microsoft.com/office/drawing/2014/main" id="{BFDD5E8F-03D2-4CCD-A270-3F15BF4BA1F1}"/>
              </a:ext>
            </a:extLst>
          </p:cNvPr>
          <p:cNvSpPr txBox="1">
            <a:spLocks/>
          </p:cNvSpPr>
          <p:nvPr/>
        </p:nvSpPr>
        <p:spPr>
          <a:xfrm>
            <a:off x="5600347" y="2873072"/>
            <a:ext cx="991305" cy="3183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a:solidFill>
                  <a:schemeClr val="bg1"/>
                </a:solidFill>
                <a:latin typeface="Calibri"/>
                <a:cs typeface="Arial"/>
              </a:rPr>
              <a:t>Finance</a:t>
            </a:r>
            <a:endParaRPr kumimoji="0" lang="en-GB" sz="1400" b="1" i="0" u="none" strike="noStrike" kern="1200" cap="none" spc="0" normalizeH="0" baseline="0" noProof="0">
              <a:ln>
                <a:noFill/>
              </a:ln>
              <a:solidFill>
                <a:schemeClr val="bg1"/>
              </a:solidFill>
              <a:effectLst/>
              <a:uLnTx/>
              <a:uFillTx/>
              <a:latin typeface="Calibri"/>
              <a:ea typeface="+mj-ea"/>
              <a:cs typeface="Arial"/>
            </a:endParaRPr>
          </a:p>
        </p:txBody>
      </p:sp>
      <p:sp>
        <p:nvSpPr>
          <p:cNvPr id="38" name="Content Placeholder 7">
            <a:extLst>
              <a:ext uri="{FF2B5EF4-FFF2-40B4-BE49-F238E27FC236}">
                <a16:creationId xmlns:a16="http://schemas.microsoft.com/office/drawing/2014/main" id="{383F5734-4B9B-4DF7-AA4A-D40F4EDB3E43}"/>
              </a:ext>
            </a:extLst>
          </p:cNvPr>
          <p:cNvSpPr txBox="1">
            <a:spLocks/>
          </p:cNvSpPr>
          <p:nvPr/>
        </p:nvSpPr>
        <p:spPr>
          <a:xfrm>
            <a:off x="5452117" y="3208125"/>
            <a:ext cx="1387450" cy="126905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b="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CDS provides access to all a user’s financial information in a single customs financial account.</a:t>
            </a:r>
          </a:p>
        </p:txBody>
      </p:sp>
      <p:sp>
        <p:nvSpPr>
          <p:cNvPr id="39" name="Title 1">
            <a:extLst>
              <a:ext uri="{FF2B5EF4-FFF2-40B4-BE49-F238E27FC236}">
                <a16:creationId xmlns:a16="http://schemas.microsoft.com/office/drawing/2014/main" id="{98F3ED8A-2F0A-46A1-9849-F6FE4C694336}"/>
              </a:ext>
            </a:extLst>
          </p:cNvPr>
          <p:cNvSpPr txBox="1">
            <a:spLocks/>
          </p:cNvSpPr>
          <p:nvPr/>
        </p:nvSpPr>
        <p:spPr>
          <a:xfrm>
            <a:off x="7245805" y="2924756"/>
            <a:ext cx="942110" cy="2666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Calibri"/>
                <a:ea typeface="+mj-ea"/>
                <a:cs typeface="Arial"/>
              </a:rPr>
              <a:t>IT Access</a:t>
            </a:r>
          </a:p>
        </p:txBody>
      </p:sp>
      <p:sp>
        <p:nvSpPr>
          <p:cNvPr id="40" name="Content Placeholder 7">
            <a:extLst>
              <a:ext uri="{FF2B5EF4-FFF2-40B4-BE49-F238E27FC236}">
                <a16:creationId xmlns:a16="http://schemas.microsoft.com/office/drawing/2014/main" id="{2D53D4ED-DE05-4AF7-A2BB-D7F367F5B104}"/>
              </a:ext>
            </a:extLst>
          </p:cNvPr>
          <p:cNvSpPr txBox="1">
            <a:spLocks/>
          </p:cNvSpPr>
          <p:nvPr/>
        </p:nvSpPr>
        <p:spPr>
          <a:xfrm>
            <a:off x="7054464" y="3208125"/>
            <a:ext cx="1434380" cy="84250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b="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Access to CDS is via HMRC’s Digital Tax Platform on GOV.UK.</a:t>
            </a:r>
          </a:p>
        </p:txBody>
      </p:sp>
      <p:sp>
        <p:nvSpPr>
          <p:cNvPr id="41" name="Title 1">
            <a:extLst>
              <a:ext uri="{FF2B5EF4-FFF2-40B4-BE49-F238E27FC236}">
                <a16:creationId xmlns:a16="http://schemas.microsoft.com/office/drawing/2014/main" id="{0313B3F0-0D12-4128-A11B-8E3AD9A009F4}"/>
              </a:ext>
            </a:extLst>
          </p:cNvPr>
          <p:cNvSpPr txBox="1">
            <a:spLocks/>
          </p:cNvSpPr>
          <p:nvPr/>
        </p:nvSpPr>
        <p:spPr>
          <a:xfrm>
            <a:off x="8766958" y="2837203"/>
            <a:ext cx="1643611" cy="3542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Calibri"/>
                <a:ea typeface="+mj-ea"/>
                <a:cs typeface="Arial"/>
              </a:rPr>
              <a:t> Procedure Codes</a:t>
            </a:r>
          </a:p>
        </p:txBody>
      </p:sp>
      <p:sp>
        <p:nvSpPr>
          <p:cNvPr id="42" name="Content Placeholder 7">
            <a:extLst>
              <a:ext uri="{FF2B5EF4-FFF2-40B4-BE49-F238E27FC236}">
                <a16:creationId xmlns:a16="http://schemas.microsoft.com/office/drawing/2014/main" id="{DD1CBFA6-7937-4909-809D-F47FEFD4009F}"/>
              </a:ext>
            </a:extLst>
          </p:cNvPr>
          <p:cNvSpPr txBox="1">
            <a:spLocks/>
          </p:cNvSpPr>
          <p:nvPr/>
        </p:nvSpPr>
        <p:spPr>
          <a:xfrm>
            <a:off x="8692176" y="3208125"/>
            <a:ext cx="1932693" cy="74566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b="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CDS Procedure Codes are split into 2 parts; a single 4-digit Procedure Code combined with up to 99 different types of 3-digit Additional Procedure Codes.</a:t>
            </a:r>
          </a:p>
        </p:txBody>
      </p:sp>
      <p:sp>
        <p:nvSpPr>
          <p:cNvPr id="45" name="Title 1">
            <a:extLst>
              <a:ext uri="{FF2B5EF4-FFF2-40B4-BE49-F238E27FC236}">
                <a16:creationId xmlns:a16="http://schemas.microsoft.com/office/drawing/2014/main" id="{A6339137-81B8-430E-9D67-11D3883BA1DD}"/>
              </a:ext>
            </a:extLst>
          </p:cNvPr>
          <p:cNvSpPr txBox="1">
            <a:spLocks/>
          </p:cNvSpPr>
          <p:nvPr/>
        </p:nvSpPr>
        <p:spPr>
          <a:xfrm>
            <a:off x="10989612" y="2882428"/>
            <a:ext cx="875939" cy="3090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Calibri"/>
                <a:ea typeface="+mj-ea"/>
                <a:cs typeface="Arial"/>
              </a:rPr>
              <a:t>Data Sets</a:t>
            </a:r>
          </a:p>
        </p:txBody>
      </p:sp>
      <p:sp>
        <p:nvSpPr>
          <p:cNvPr id="46" name="Content Placeholder 7">
            <a:extLst>
              <a:ext uri="{FF2B5EF4-FFF2-40B4-BE49-F238E27FC236}">
                <a16:creationId xmlns:a16="http://schemas.microsoft.com/office/drawing/2014/main" id="{94D99FA9-B985-489F-95DA-C0707F00F74B}"/>
              </a:ext>
            </a:extLst>
          </p:cNvPr>
          <p:cNvSpPr txBox="1">
            <a:spLocks/>
          </p:cNvSpPr>
          <p:nvPr/>
        </p:nvSpPr>
        <p:spPr>
          <a:xfrm>
            <a:off x="10838127" y="3208125"/>
            <a:ext cx="1293641" cy="98390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CHIEF has a single SAD (C88) form used for multiple purposes. CDS has 17 different data sets. </a:t>
            </a:r>
          </a:p>
        </p:txBody>
      </p:sp>
      <p:pic>
        <p:nvPicPr>
          <p:cNvPr id="72" name="Graphic 264" descr="Money outline">
            <a:extLst>
              <a:ext uri="{FF2B5EF4-FFF2-40B4-BE49-F238E27FC236}">
                <a16:creationId xmlns:a16="http://schemas.microsoft.com/office/drawing/2014/main" id="{8F2BD862-0D0A-4EA2-BD2F-33C889632E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5915946" y="2358978"/>
            <a:ext cx="360107" cy="360107"/>
          </a:xfrm>
          <a:prstGeom prst="rect">
            <a:avLst/>
          </a:prstGeom>
        </p:spPr>
      </p:pic>
      <p:pic>
        <p:nvPicPr>
          <p:cNvPr id="74" name="Graphic 264" descr="Cloud Computing outline">
            <a:extLst>
              <a:ext uri="{FF2B5EF4-FFF2-40B4-BE49-F238E27FC236}">
                <a16:creationId xmlns:a16="http://schemas.microsoft.com/office/drawing/2014/main" id="{FCD3739A-3D8A-4A21-B117-DC6A62CD80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7536807" y="2358978"/>
            <a:ext cx="360107" cy="360107"/>
          </a:xfrm>
          <a:prstGeom prst="rect">
            <a:avLst/>
          </a:prstGeom>
        </p:spPr>
      </p:pic>
      <p:pic>
        <p:nvPicPr>
          <p:cNvPr id="76" name="Graphic 264" descr="Qr Code with solid fill">
            <a:extLst>
              <a:ext uri="{FF2B5EF4-FFF2-40B4-BE49-F238E27FC236}">
                <a16:creationId xmlns:a16="http://schemas.microsoft.com/office/drawing/2014/main" id="{8C788211-4113-4DAB-8B4E-C069215B9AD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408710" y="2358978"/>
            <a:ext cx="360107" cy="360107"/>
          </a:xfrm>
          <a:prstGeom prst="rect">
            <a:avLst/>
          </a:prstGeom>
        </p:spPr>
      </p:pic>
      <p:pic>
        <p:nvPicPr>
          <p:cNvPr id="78" name="Graphic 264" descr="Folder Search outline">
            <a:extLst>
              <a:ext uri="{FF2B5EF4-FFF2-40B4-BE49-F238E27FC236}">
                <a16:creationId xmlns:a16="http://schemas.microsoft.com/office/drawing/2014/main" id="{A7D4CED4-9A53-423D-83F3-AC770F7E5ED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1247528" y="2358978"/>
            <a:ext cx="360107" cy="360107"/>
          </a:xfrm>
          <a:prstGeom prst="rect">
            <a:avLst/>
          </a:prstGeom>
        </p:spPr>
      </p:pic>
      <p:sp>
        <p:nvSpPr>
          <p:cNvPr id="79" name="Title 1">
            <a:extLst>
              <a:ext uri="{FF2B5EF4-FFF2-40B4-BE49-F238E27FC236}">
                <a16:creationId xmlns:a16="http://schemas.microsoft.com/office/drawing/2014/main" id="{1138FAAE-42D9-4D61-848F-295C8E32C280}"/>
              </a:ext>
            </a:extLst>
          </p:cNvPr>
          <p:cNvSpPr txBox="1">
            <a:spLocks/>
          </p:cNvSpPr>
          <p:nvPr/>
        </p:nvSpPr>
        <p:spPr>
          <a:xfrm>
            <a:off x="3315023" y="779331"/>
            <a:ext cx="8738284" cy="841591"/>
          </a:xfrm>
          <a:prstGeom prst="rect">
            <a:avLst/>
          </a:prstGeom>
          <a:no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008680"/>
                </a:solidFill>
                <a:effectLst/>
                <a:uLnTx/>
                <a:uFillTx/>
                <a:latin typeface="Calibri"/>
                <a:ea typeface="+mj-ea"/>
                <a:cs typeface="Arial"/>
              </a:rPr>
              <a:t>Key Differences Between CHIEF &amp; CDS</a:t>
            </a:r>
            <a:endParaRPr lang="en-GB" sz="3600" b="1" i="0" u="none" strike="noStrike" kern="1200" cap="none" spc="0" normalizeH="0" baseline="0" noProof="0">
              <a:ln>
                <a:noFill/>
              </a:ln>
              <a:solidFill>
                <a:srgbClr val="008680"/>
              </a:solidFill>
              <a:effectLst/>
              <a:uLnTx/>
              <a:uFillTx/>
              <a:latin typeface="Calibri"/>
              <a:cs typeface="Arial"/>
            </a:endParaRPr>
          </a:p>
        </p:txBody>
      </p:sp>
      <p:sp>
        <p:nvSpPr>
          <p:cNvPr id="80" name="Rectangle 79">
            <a:extLst>
              <a:ext uri="{FF2B5EF4-FFF2-40B4-BE49-F238E27FC236}">
                <a16:creationId xmlns:a16="http://schemas.microsoft.com/office/drawing/2014/main" id="{53EB8CAA-4C27-49D7-B0D2-4B226A7894B2}"/>
              </a:ext>
            </a:extLst>
          </p:cNvPr>
          <p:cNvSpPr/>
          <p:nvPr/>
        </p:nvSpPr>
        <p:spPr>
          <a:xfrm>
            <a:off x="2386686" y="5448525"/>
            <a:ext cx="8175901" cy="80807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TextBox 80">
            <a:extLst>
              <a:ext uri="{FF2B5EF4-FFF2-40B4-BE49-F238E27FC236}">
                <a16:creationId xmlns:a16="http://schemas.microsoft.com/office/drawing/2014/main" id="{CCAB5DA2-3326-4889-BED9-241234724049}"/>
              </a:ext>
            </a:extLst>
          </p:cNvPr>
          <p:cNvSpPr txBox="1"/>
          <p:nvPr/>
        </p:nvSpPr>
        <p:spPr>
          <a:xfrm>
            <a:off x="3052583" y="5647495"/>
            <a:ext cx="6906665" cy="40030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008680"/>
                </a:solidFill>
                <a:effectLst/>
                <a:uLnTx/>
                <a:uFillTx/>
                <a:latin typeface="Calibri"/>
                <a:ea typeface="+mn-ea"/>
                <a:cs typeface="+mn-cs"/>
                <a:hlinkClick r:id="rId15">
                  <a:extLst>
                    <a:ext uri="{A12FA001-AC4F-418D-AE19-62706E023703}">
                      <ahyp:hlinkClr xmlns:ahyp="http://schemas.microsoft.com/office/drawing/2018/hyperlinkcolor" val="tx"/>
                    </a:ext>
                  </a:extLst>
                </a:hlinkClick>
              </a:rPr>
              <a:t>Learn more about the differences between CHIEF and CDS here.</a:t>
            </a:r>
            <a:endParaRPr lang="en-GB" sz="2000" b="1" i="0" u="none" strike="noStrike" kern="1200" cap="none" spc="0" normalizeH="0" baseline="0" noProof="0">
              <a:ln>
                <a:noFill/>
              </a:ln>
              <a:solidFill>
                <a:srgbClr val="008680"/>
              </a:solidFill>
              <a:effectLst/>
              <a:uLnTx/>
              <a:uFillTx/>
              <a:latin typeface="Calibri"/>
              <a:cs typeface="Calibri"/>
            </a:endParaRPr>
          </a:p>
        </p:txBody>
      </p:sp>
      <p:sp>
        <p:nvSpPr>
          <p:cNvPr id="53" name="Oval 52">
            <a:extLst>
              <a:ext uri="{FF2B5EF4-FFF2-40B4-BE49-F238E27FC236}">
                <a16:creationId xmlns:a16="http://schemas.microsoft.com/office/drawing/2014/main" id="{223E9250-8195-48F0-969E-94FE1A707C36}"/>
              </a:ext>
            </a:extLst>
          </p:cNvPr>
          <p:cNvSpPr/>
          <p:nvPr/>
        </p:nvSpPr>
        <p:spPr>
          <a:xfrm>
            <a:off x="413217" y="2264484"/>
            <a:ext cx="584893" cy="549094"/>
          </a:xfrm>
          <a:prstGeom prst="ellipse">
            <a:avLst/>
          </a:prstGeom>
          <a:solidFill>
            <a:srgbClr val="93B8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4" name="Title 1">
            <a:extLst>
              <a:ext uri="{FF2B5EF4-FFF2-40B4-BE49-F238E27FC236}">
                <a16:creationId xmlns:a16="http://schemas.microsoft.com/office/drawing/2014/main" id="{66D11458-FFC8-4701-B3BA-80362A9C94D6}"/>
              </a:ext>
            </a:extLst>
          </p:cNvPr>
          <p:cNvSpPr txBox="1">
            <a:spLocks/>
          </p:cNvSpPr>
          <p:nvPr/>
        </p:nvSpPr>
        <p:spPr>
          <a:xfrm>
            <a:off x="210011" y="2873072"/>
            <a:ext cx="991305" cy="3183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Calibri"/>
                <a:ea typeface="+mj-ea"/>
                <a:cs typeface="Arial"/>
              </a:rPr>
              <a:t>Legislation</a:t>
            </a:r>
          </a:p>
        </p:txBody>
      </p:sp>
      <p:sp>
        <p:nvSpPr>
          <p:cNvPr id="55" name="Content Placeholder 7">
            <a:extLst>
              <a:ext uri="{FF2B5EF4-FFF2-40B4-BE49-F238E27FC236}">
                <a16:creationId xmlns:a16="http://schemas.microsoft.com/office/drawing/2014/main" id="{162A26D9-F7C6-4C8B-8B51-C4C4FB4CCB1C}"/>
              </a:ext>
            </a:extLst>
          </p:cNvPr>
          <p:cNvSpPr txBox="1">
            <a:spLocks/>
          </p:cNvSpPr>
          <p:nvPr/>
        </p:nvSpPr>
        <p:spPr>
          <a:xfrm>
            <a:off x="-59562" y="3208125"/>
            <a:ext cx="1530452" cy="72110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200" b="0" i="0" u="none" strike="noStrike" kern="1200" cap="none" spc="0" normalizeH="0" baseline="0" noProof="0">
                <a:ln>
                  <a:noFill/>
                </a:ln>
                <a:solidFill>
                  <a:schemeClr val="bg1"/>
                </a:solidFill>
                <a:effectLst/>
                <a:uLnTx/>
                <a:uFillTx/>
                <a:latin typeface="Calibri"/>
                <a:ea typeface="Verdana" panose="020B0604030504040204" pitchFamily="34" charset="0"/>
                <a:cs typeface="Calibri"/>
              </a:rPr>
              <a:t>CDS is a fully electronic system where all data is exchanged digitally.</a:t>
            </a:r>
          </a:p>
        </p:txBody>
      </p:sp>
      <p:pic>
        <p:nvPicPr>
          <p:cNvPr id="56" name="Graphic 264" descr="Scales of justice outline">
            <a:extLst>
              <a:ext uri="{FF2B5EF4-FFF2-40B4-BE49-F238E27FC236}">
                <a16:creationId xmlns:a16="http://schemas.microsoft.com/office/drawing/2014/main" id="{8C8F320D-8FF8-45B2-AE9E-08C9E97559D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525610" y="2325369"/>
            <a:ext cx="360107" cy="360107"/>
          </a:xfrm>
          <a:prstGeom prst="rect">
            <a:avLst/>
          </a:prstGeom>
        </p:spPr>
      </p:pic>
    </p:spTree>
    <p:extLst>
      <p:ext uri="{BB962C8B-B14F-4D97-AF65-F5344CB8AC3E}">
        <p14:creationId xmlns:p14="http://schemas.microsoft.com/office/powerpoint/2010/main" val="642953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a:solidFill>
                  <a:schemeClr val="tx1"/>
                </a:solidFill>
              </a:rPr>
              <a:t>Help and Support</a:t>
            </a:r>
            <a:endParaRPr lang="en-US">
              <a:solidFill>
                <a:schemeClr val="tx1"/>
              </a:solidFill>
            </a:endParaRPr>
          </a:p>
        </p:txBody>
      </p:sp>
    </p:spTree>
    <p:extLst>
      <p:ext uri="{BB962C8B-B14F-4D97-AF65-F5344CB8AC3E}">
        <p14:creationId xmlns:p14="http://schemas.microsoft.com/office/powerpoint/2010/main" val="3507852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D884D1A-8ACB-4D31-BE19-64C0A5468E48}"/>
              </a:ext>
            </a:extLst>
          </p:cNvPr>
          <p:cNvSpPr/>
          <p:nvPr/>
        </p:nvSpPr>
        <p:spPr>
          <a:xfrm>
            <a:off x="0" y="6151708"/>
            <a:ext cx="12191372" cy="713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solidFill>
                  <a:srgbClr val="00928D"/>
                </a:solidFill>
                <a:effectLst/>
                <a:latin typeface="Calibri" panose="020F0502020204030204" pitchFamily="34" charset="0"/>
                <a:ea typeface="Calibri" panose="020F0502020204030204" pitchFamily="34" charset="0"/>
                <a:cs typeface="Calibri" panose="020F0502020204030204" pitchFamily="34" charset="0"/>
              </a:rPr>
              <a:t>If your request for production access is successful, you can generate credentials and start using APIs with secure data.</a:t>
            </a:r>
            <a:endParaRPr lang="en-GB" sz="1600">
              <a:solidFill>
                <a:srgbClr val="00928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77DC20-F631-4D00-917B-7AECD79B034F}"/>
              </a:ext>
            </a:extLst>
          </p:cNvPr>
          <p:cNvSpPr>
            <a:spLocks noGrp="1"/>
          </p:cNvSpPr>
          <p:nvPr>
            <p:ph type="sldNum" sz="quarter" idx="12"/>
          </p:nvPr>
        </p:nvSpPr>
        <p:spPr/>
        <p:txBody>
          <a:bodyPr/>
          <a:lstStyle/>
          <a:p>
            <a:fld id="{831A7E15-3B48-4B7B-BB52-54578FC31682}" type="slidenum">
              <a:rPr lang="en-GB" smtClean="0"/>
              <a:t>21</a:t>
            </a:fld>
            <a:endParaRPr lang="en-GB"/>
          </a:p>
        </p:txBody>
      </p:sp>
      <p:sp>
        <p:nvSpPr>
          <p:cNvPr id="20" name="TextBox 19">
            <a:extLst>
              <a:ext uri="{FF2B5EF4-FFF2-40B4-BE49-F238E27FC236}">
                <a16:creationId xmlns:a16="http://schemas.microsoft.com/office/drawing/2014/main" id="{BA4D53BA-4EEE-4D88-8F8C-91F3C6D0F6A9}"/>
              </a:ext>
            </a:extLst>
          </p:cNvPr>
          <p:cNvSpPr txBox="1"/>
          <p:nvPr/>
        </p:nvSpPr>
        <p:spPr>
          <a:xfrm>
            <a:off x="339120" y="2068042"/>
            <a:ext cx="7629608" cy="3658374"/>
          </a:xfrm>
          <a:prstGeom prst="rect">
            <a:avLst/>
          </a:prstGeom>
          <a:noFill/>
        </p:spPr>
        <p:txBody>
          <a:bodyPr wrap="square" anchor="ctr">
            <a:spAutoFit/>
          </a:bodyPr>
          <a:lstStyle/>
          <a:p>
            <a:pPr>
              <a:lnSpc>
                <a:spcPct val="107000"/>
              </a:lnSpc>
              <a:spcAft>
                <a:spcPts val="800"/>
              </a:spcAft>
            </a:pPr>
            <a:r>
              <a:rPr lang="en-GB" b="1">
                <a:solidFill>
                  <a:srgbClr val="008680"/>
                </a:solidFill>
                <a:effectLst/>
                <a:ea typeface="Calibri" panose="020F0502020204030204" pitchFamily="34" charset="0"/>
                <a:cs typeface="Calibri" panose="020F0502020204030204" pitchFamily="34" charset="0"/>
              </a:rPr>
              <a:t>Developer Hub </a:t>
            </a:r>
            <a:r>
              <a:rPr lang="en-GB">
                <a:effectLst/>
                <a:ea typeface="Calibri" panose="020F0502020204030204" pitchFamily="34" charset="0"/>
                <a:cs typeface="Calibri" panose="020F0502020204030204" pitchFamily="34" charset="0"/>
              </a:rPr>
              <a:t>explains how you can integrate your software with HMRC’s APIs to complete a customs declaration. </a:t>
            </a:r>
          </a:p>
          <a:p>
            <a:pPr>
              <a:lnSpc>
                <a:spcPct val="107000"/>
              </a:lnSpc>
              <a:spcAft>
                <a:spcPts val="800"/>
              </a:spcAft>
            </a:pPr>
            <a:r>
              <a:rPr lang="en-GB">
                <a:effectLst/>
                <a:ea typeface="Calibri" panose="020F0502020204030204" pitchFamily="34" charset="0"/>
                <a:cs typeface="Calibri" panose="020F0502020204030204" pitchFamily="34" charset="0"/>
              </a:rPr>
              <a:t>It shows how the APIs fit into various end-to-end user journeys.</a:t>
            </a:r>
          </a:p>
          <a:p>
            <a:pPr>
              <a:lnSpc>
                <a:spcPct val="107000"/>
              </a:lnSpc>
              <a:spcAft>
                <a:spcPts val="800"/>
              </a:spcAft>
            </a:pPr>
            <a:endParaRPr lang="en-GB">
              <a:effectLst/>
              <a:ea typeface="Calibri" panose="020F0502020204030204" pitchFamily="34" charset="0"/>
              <a:cs typeface="Calibri" panose="020F0502020204030204" pitchFamily="34" charset="0"/>
            </a:endParaRPr>
          </a:p>
          <a:p>
            <a:pPr>
              <a:lnSpc>
                <a:spcPct val="107000"/>
              </a:lnSpc>
              <a:spcAft>
                <a:spcPts val="800"/>
              </a:spcAft>
            </a:pPr>
            <a:r>
              <a:rPr lang="en-GB" b="1">
                <a:solidFill>
                  <a:srgbClr val="008680"/>
                </a:solidFill>
                <a:ea typeface="Calibri" panose="020F0502020204030204" pitchFamily="34" charset="0"/>
                <a:cs typeface="Calibri" panose="020F0502020204030204" pitchFamily="34" charset="0"/>
              </a:rPr>
              <a:t>Subscribe</a:t>
            </a:r>
            <a:r>
              <a:rPr lang="en-GB" b="1">
                <a:ea typeface="Calibri" panose="020F0502020204030204" pitchFamily="34" charset="0"/>
                <a:cs typeface="Calibri" panose="020F0502020204030204" pitchFamily="34" charset="0"/>
              </a:rPr>
              <a:t> </a:t>
            </a:r>
            <a:r>
              <a:rPr lang="en-GB" b="1">
                <a:solidFill>
                  <a:srgbClr val="008680"/>
                </a:solidFill>
                <a:ea typeface="Calibri" panose="020F0502020204030204" pitchFamily="34" charset="0"/>
                <a:cs typeface="Calibri" panose="020F0502020204030204" pitchFamily="34" charset="0"/>
              </a:rPr>
              <a:t>for the latest information on CDS Live service availability.</a:t>
            </a:r>
            <a:r>
              <a:rPr lang="en-GB">
                <a:solidFill>
                  <a:srgbClr val="008680"/>
                </a:solidFill>
                <a:ea typeface="Calibri" panose="020F0502020204030204" pitchFamily="34" charset="0"/>
                <a:cs typeface="Calibri" panose="020F0502020204030204" pitchFamily="34" charset="0"/>
              </a:rPr>
              <a:t> </a:t>
            </a:r>
          </a:p>
          <a:p>
            <a:pPr>
              <a:lnSpc>
                <a:spcPct val="107000"/>
              </a:lnSpc>
              <a:spcAft>
                <a:spcPts val="800"/>
              </a:spcAft>
            </a:pPr>
            <a:r>
              <a:rPr lang="en-GB">
                <a:effectLst/>
                <a:ea typeface="Calibri" panose="020F0502020204030204" pitchFamily="34" charset="0"/>
                <a:cs typeface="Calibri" panose="020F0502020204030204" pitchFamily="34" charset="0"/>
              </a:rPr>
              <a:t>Developer Hub is also intended to help you </a:t>
            </a:r>
            <a:r>
              <a:rPr lang="en-GB" b="1">
                <a:solidFill>
                  <a:srgbClr val="008680"/>
                </a:solidFill>
                <a:effectLst/>
                <a:ea typeface="Calibri" panose="020F0502020204030204" pitchFamily="34" charset="0"/>
                <a:cs typeface="Calibri" panose="020F0502020204030204" pitchFamily="34" charset="0"/>
              </a:rPr>
              <a:t>understand how your software needs to interact with HMRC systems</a:t>
            </a:r>
            <a:r>
              <a:rPr lang="en-GB">
                <a:effectLst/>
                <a:ea typeface="Calibri" panose="020F0502020204030204" pitchFamily="34" charset="0"/>
                <a:cs typeface="Calibri" panose="020F0502020204030204" pitchFamily="34" charset="0"/>
              </a:rPr>
              <a:t>.</a:t>
            </a:r>
          </a:p>
          <a:p>
            <a:pPr>
              <a:lnSpc>
                <a:spcPct val="107000"/>
              </a:lnSpc>
              <a:spcAft>
                <a:spcPts val="800"/>
              </a:spcAft>
            </a:pPr>
            <a:endParaRPr lang="en-GB">
              <a:effectLst/>
              <a:ea typeface="Calibri" panose="020F0502020204030204" pitchFamily="34" charset="0"/>
              <a:cs typeface="Calibri" panose="020F0502020204030204" pitchFamily="34" charset="0"/>
            </a:endParaRPr>
          </a:p>
          <a:p>
            <a:pPr>
              <a:lnSpc>
                <a:spcPct val="107000"/>
              </a:lnSpc>
              <a:spcAft>
                <a:spcPts val="800"/>
              </a:spcAft>
            </a:pPr>
            <a:r>
              <a:rPr lang="en-GB">
                <a:effectLst/>
                <a:ea typeface="Calibri" panose="020F0502020204030204" pitchFamily="34" charset="0"/>
                <a:cs typeface="Calibri" panose="020F0502020204030204" pitchFamily="34" charset="0"/>
              </a:rPr>
              <a:t>It contains the latest versions of documentation detailing CDS functionality and how to develop for the service. </a:t>
            </a:r>
          </a:p>
        </p:txBody>
      </p:sp>
      <p:sp>
        <p:nvSpPr>
          <p:cNvPr id="21" name="Rectangle 20">
            <a:extLst>
              <a:ext uri="{FF2B5EF4-FFF2-40B4-BE49-F238E27FC236}">
                <a16:creationId xmlns:a16="http://schemas.microsoft.com/office/drawing/2014/main" id="{49A04589-1D77-4BA1-A841-80ECCEBB0768}"/>
              </a:ext>
            </a:extLst>
          </p:cNvPr>
          <p:cNvSpPr/>
          <p:nvPr/>
        </p:nvSpPr>
        <p:spPr>
          <a:xfrm>
            <a:off x="8307220" y="1307777"/>
            <a:ext cx="3884152" cy="4843932"/>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C9A0825-16A3-4863-B683-BFF20B8CC8FF}"/>
              </a:ext>
            </a:extLst>
          </p:cNvPr>
          <p:cNvSpPr txBox="1"/>
          <p:nvPr/>
        </p:nvSpPr>
        <p:spPr>
          <a:xfrm>
            <a:off x="8790379" y="3820495"/>
            <a:ext cx="2898829" cy="2217157"/>
          </a:xfrm>
          <a:prstGeom prst="rect">
            <a:avLst/>
          </a:prstGeom>
          <a:noFill/>
        </p:spPr>
        <p:txBody>
          <a:bodyPr wrap="square" rtlCol="0">
            <a:noAutofit/>
          </a:bodyPr>
          <a:lstStyle/>
          <a:p>
            <a:pPr>
              <a:lnSpc>
                <a:spcPct val="107000"/>
              </a:lnSpc>
              <a:spcAft>
                <a:spcPts val="800"/>
              </a:spcAft>
            </a:pPr>
            <a:r>
              <a:rPr lang="en-GB" sz="1600">
                <a:solidFill>
                  <a:schemeClr val="bg1"/>
                </a:solidFill>
                <a:effectLst/>
                <a:ea typeface="Calibri" panose="020F0502020204030204" pitchFamily="34" charset="0"/>
                <a:cs typeface="Calibri" panose="020F0502020204030204" pitchFamily="34" charset="0"/>
              </a:rPr>
              <a:t>You will also find </a:t>
            </a:r>
            <a:r>
              <a:rPr lang="en-GB" sz="1600" b="1">
                <a:solidFill>
                  <a:srgbClr val="98D0CD"/>
                </a:solidFill>
                <a:latin typeface="Calibri" panose="020F0502020204030204"/>
                <a:cs typeface="Calibri" panose="020F0502020204030204" pitchFamily="34" charset="0"/>
                <a:hlinkClick r:id="rId2">
                  <a:extLst>
                    <a:ext uri="{A12FA001-AC4F-418D-AE19-62706E023703}">
                      <ahyp:hlinkClr xmlns:ahyp="http://schemas.microsoft.com/office/drawing/2018/hyperlinkcolor" val="tx"/>
                    </a:ext>
                  </a:extLst>
                </a:hlinkClick>
              </a:rPr>
              <a:t>Technical Information</a:t>
            </a:r>
            <a:r>
              <a:rPr lang="en-GB" sz="1600" b="1">
                <a:solidFill>
                  <a:srgbClr val="98D0CD"/>
                </a:solidFill>
                <a:effectLst/>
                <a:ea typeface="Calibri" panose="020F0502020204030204" pitchFamily="34" charset="0"/>
                <a:cs typeface="Calibri" panose="020F0502020204030204" pitchFamily="34" charset="0"/>
              </a:rPr>
              <a:t> </a:t>
            </a:r>
            <a:r>
              <a:rPr lang="en-GB" sz="1600">
                <a:solidFill>
                  <a:schemeClr val="bg1"/>
                </a:solidFill>
                <a:effectLst/>
                <a:ea typeface="Calibri" panose="020F0502020204030204" pitchFamily="34" charset="0"/>
                <a:cs typeface="Calibri" panose="020F0502020204030204" pitchFamily="34" charset="0"/>
              </a:rPr>
              <a:t>covering a broad range of topics including:</a:t>
            </a:r>
          </a:p>
          <a:p>
            <a:pPr marL="285750" indent="-285750">
              <a:lnSpc>
                <a:spcPct val="107000"/>
              </a:lnSpc>
              <a:spcAft>
                <a:spcPts val="800"/>
              </a:spcAft>
              <a:buFont typeface="Arial" panose="020B0604020202020204" pitchFamily="34" charset="0"/>
              <a:buChar char="•"/>
            </a:pPr>
            <a:r>
              <a:rPr lang="en-GB" sz="1600">
                <a:solidFill>
                  <a:schemeClr val="bg1"/>
                </a:solidFill>
                <a:cs typeface="Calibri" panose="020F0502020204030204" pitchFamily="34" charset="0"/>
              </a:rPr>
              <a:t>Templates</a:t>
            </a:r>
          </a:p>
          <a:p>
            <a:pPr marL="285750" indent="-285750">
              <a:lnSpc>
                <a:spcPct val="107000"/>
              </a:lnSpc>
              <a:spcAft>
                <a:spcPts val="800"/>
              </a:spcAft>
              <a:buFont typeface="Arial" panose="020B0604020202020204" pitchFamily="34" charset="0"/>
              <a:buChar char="•"/>
            </a:pPr>
            <a:r>
              <a:rPr lang="en-GB" sz="1600">
                <a:solidFill>
                  <a:schemeClr val="bg1"/>
                </a:solidFill>
                <a:cs typeface="Calibri" panose="020F0502020204030204" pitchFamily="34" charset="0"/>
              </a:rPr>
              <a:t>The Known Error Log (KEL)</a:t>
            </a:r>
          </a:p>
          <a:p>
            <a:pPr marL="285750" indent="-285750">
              <a:lnSpc>
                <a:spcPct val="107000"/>
              </a:lnSpc>
              <a:spcAft>
                <a:spcPts val="800"/>
              </a:spcAft>
              <a:buFont typeface="Arial" panose="020B0604020202020204" pitchFamily="34" charset="0"/>
              <a:buChar char="•"/>
            </a:pPr>
            <a:r>
              <a:rPr lang="en-GB" sz="1600">
                <a:solidFill>
                  <a:schemeClr val="bg1"/>
                </a:solidFill>
                <a:ea typeface="Calibri" panose="020F0502020204030204" pitchFamily="34" charset="0"/>
                <a:cs typeface="Calibri" panose="020F0502020204030204" pitchFamily="34" charset="0"/>
              </a:rPr>
              <a:t>The Known Difference Log (KDL)</a:t>
            </a:r>
            <a:endParaRPr lang="en-GB" sz="1600">
              <a:solidFill>
                <a:schemeClr val="bg1"/>
              </a:solidFill>
            </a:endParaRPr>
          </a:p>
        </p:txBody>
      </p:sp>
      <p:sp>
        <p:nvSpPr>
          <p:cNvPr id="23" name="TextBox 22">
            <a:extLst>
              <a:ext uri="{FF2B5EF4-FFF2-40B4-BE49-F238E27FC236}">
                <a16:creationId xmlns:a16="http://schemas.microsoft.com/office/drawing/2014/main" id="{05241B1D-E224-4C21-9E69-05476F5EC3F8}"/>
              </a:ext>
            </a:extLst>
          </p:cNvPr>
          <p:cNvSpPr txBox="1"/>
          <p:nvPr/>
        </p:nvSpPr>
        <p:spPr>
          <a:xfrm>
            <a:off x="8790379" y="1928572"/>
            <a:ext cx="3062501" cy="1661417"/>
          </a:xfrm>
          <a:prstGeom prst="rect">
            <a:avLst/>
          </a:prstGeom>
          <a:noFill/>
        </p:spPr>
        <p:txBody>
          <a:bodyPr wrap="square">
            <a:spAutoFit/>
          </a:bodyPr>
          <a:lstStyle/>
          <a:p>
            <a:pPr marL="0" marR="0" lvl="0" indent="0" defTabSz="914400" rtl="0" eaLnBrk="1" fontAlgn="auto" latinLnBrk="0" hangingPunct="1">
              <a:lnSpc>
                <a:spcPct val="107000"/>
              </a:lnSpc>
              <a:spcBef>
                <a:spcPts val="0"/>
              </a:spcBef>
              <a:spcAft>
                <a:spcPts val="800"/>
              </a:spcAft>
              <a:buClrTx/>
              <a:buSzTx/>
              <a:buFontTx/>
              <a:buNone/>
              <a:tabLst/>
              <a:defRPr/>
            </a:pPr>
            <a:r>
              <a:rPr kumimoji="0" lang="en-GB" sz="1600" b="0" i="0" u="none" strike="noStrike" kern="1200" cap="none" spc="0" normalizeH="0" baseline="0" noProof="0">
                <a:ln>
                  <a:noFill/>
                </a:ln>
                <a:solidFill>
                  <a:schemeClr val="bg1"/>
                </a:solidFill>
                <a:effectLst/>
                <a:uLnTx/>
                <a:uFillTx/>
                <a:latin typeface="Calibri" panose="020F0502020204030204"/>
                <a:ea typeface="Verdana" panose="020B0604030504040204" pitchFamily="34" charset="0"/>
                <a:cs typeface="Calibri" panose="020F0502020204030204" pitchFamily="34" charset="0"/>
              </a:rPr>
              <a:t>Visit Developer Hub to</a:t>
            </a:r>
            <a:r>
              <a:rPr kumimoji="0" lang="en-GB" sz="1600" b="0" i="0" u="none"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 find which</a:t>
            </a:r>
            <a:r>
              <a:rPr kumimoji="0" lang="en-GB" sz="1600" b="0" i="0" u="sng"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rPr>
              <a:t> </a:t>
            </a:r>
            <a:r>
              <a:rPr kumimoji="0" lang="en-GB" sz="1600" b="1" i="0"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APIs are available</a:t>
            </a:r>
            <a:r>
              <a:rPr kumimoji="0" lang="en-GB" sz="1600" b="1" i="0" u="none"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rPr>
              <a:t> </a:t>
            </a:r>
            <a:r>
              <a:rPr kumimoji="0" lang="en-GB" sz="1600" b="0" i="0" u="none"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and agree to the </a:t>
            </a:r>
            <a:r>
              <a:rPr kumimoji="0" lang="en-GB" sz="1600" b="1" i="0" u="sng"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Terms of Use</a:t>
            </a:r>
            <a:r>
              <a:rPr lang="en-GB" sz="1600">
                <a:solidFill>
                  <a:schemeClr val="bg1"/>
                </a:solidFill>
                <a:latin typeface="Calibri" panose="020F0502020204030204"/>
                <a:cs typeface="Calibri" panose="020F0502020204030204" pitchFamily="34" charset="0"/>
              </a:rPr>
              <a:t>.</a:t>
            </a:r>
            <a:r>
              <a:rPr kumimoji="0" lang="en-GB" sz="1600" b="1" i="0" u="none"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 </a:t>
            </a:r>
            <a:r>
              <a:rPr kumimoji="0" lang="en-GB" sz="1600" b="0" i="0" u="none"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You can also learn more about </a:t>
            </a:r>
            <a:r>
              <a:rPr kumimoji="0" lang="en-GB" sz="1600" b="1" i="0" u="none"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Authorisations</a:t>
            </a:r>
            <a:r>
              <a:rPr kumimoji="0" lang="en-GB" sz="1600" b="0" i="0" u="none"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 in particular the </a:t>
            </a:r>
            <a:r>
              <a:rPr kumimoji="0" lang="en-GB" sz="1600" b="1" i="0" strike="noStrike" kern="1200" cap="none" spc="0" normalizeH="0" baseline="0" noProof="0">
                <a:ln>
                  <a:noFill/>
                </a:ln>
                <a:solidFill>
                  <a:srgbClr val="98D0CD"/>
                </a:solidFill>
                <a:effectLst/>
                <a:uLnTx/>
                <a:uFillTx/>
                <a:latin typeface="Calibri" panose="020F0502020204030204"/>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OAuth 2.0 specification</a:t>
            </a:r>
            <a:r>
              <a:rPr kumimoji="0" lang="en-GB" sz="1600" b="0" i="0" strike="noStrike" kern="1200" cap="none" spc="0" normalizeH="0" baseline="0" noProof="0">
                <a:ln>
                  <a:noFill/>
                </a:ln>
                <a:solidFill>
                  <a:schemeClr val="bg1"/>
                </a:solidFill>
                <a:effectLst/>
                <a:uLnTx/>
                <a:uFillTx/>
                <a:latin typeface="Calibri" panose="020F0502020204030204"/>
                <a:ea typeface="Calibri" panose="020F0502020204030204" pitchFamily="34" charset="0"/>
                <a:cs typeface="Calibri" panose="020F0502020204030204" pitchFamily="34" charset="0"/>
              </a:rPr>
              <a:t>.</a:t>
            </a:r>
          </a:p>
        </p:txBody>
      </p:sp>
      <p:grpSp>
        <p:nvGrpSpPr>
          <p:cNvPr id="24" name="Group 23">
            <a:extLst>
              <a:ext uri="{FF2B5EF4-FFF2-40B4-BE49-F238E27FC236}">
                <a16:creationId xmlns:a16="http://schemas.microsoft.com/office/drawing/2014/main" id="{A4E34476-CD5E-4F11-8CE3-7A987417F06C}"/>
              </a:ext>
            </a:extLst>
          </p:cNvPr>
          <p:cNvGrpSpPr/>
          <p:nvPr/>
        </p:nvGrpSpPr>
        <p:grpSpPr>
          <a:xfrm>
            <a:off x="5162406" y="-63328"/>
            <a:ext cx="6841472" cy="910091"/>
            <a:chOff x="5162406" y="-63328"/>
            <a:chExt cx="6841472" cy="910091"/>
          </a:xfrm>
        </p:grpSpPr>
        <p:graphicFrame>
          <p:nvGraphicFramePr>
            <p:cNvPr id="25" name="Diagram 24">
              <a:extLst>
                <a:ext uri="{FF2B5EF4-FFF2-40B4-BE49-F238E27FC236}">
                  <a16:creationId xmlns:a16="http://schemas.microsoft.com/office/drawing/2014/main" id="{8C51CED5-B108-41FE-BB10-298A1D1BF06A}"/>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6" name="Graphic 25" descr="Clapper board with solid fill">
              <a:extLst>
                <a:ext uri="{FF2B5EF4-FFF2-40B4-BE49-F238E27FC236}">
                  <a16:creationId xmlns:a16="http://schemas.microsoft.com/office/drawing/2014/main" id="{BD80ADFE-43A9-4D47-B74D-575FB8AB7F6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12252" y="245203"/>
              <a:ext cx="295446" cy="295446"/>
            </a:xfrm>
            <a:prstGeom prst="rect">
              <a:avLst/>
            </a:prstGeom>
          </p:spPr>
        </p:pic>
        <p:pic>
          <p:nvPicPr>
            <p:cNvPr id="27" name="Graphic 26" descr="Plugged Unplugged with solid fill">
              <a:extLst>
                <a:ext uri="{FF2B5EF4-FFF2-40B4-BE49-F238E27FC236}">
                  <a16:creationId xmlns:a16="http://schemas.microsoft.com/office/drawing/2014/main" id="{9B3C008E-2C53-46B1-9DD0-69A20E2F028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13896" y="245203"/>
              <a:ext cx="295445" cy="295445"/>
            </a:xfrm>
            <a:prstGeom prst="rect">
              <a:avLst/>
            </a:prstGeom>
          </p:spPr>
        </p:pic>
        <p:pic>
          <p:nvPicPr>
            <p:cNvPr id="28" name="Graphic 27" descr="Internet Of Things with solid fill">
              <a:extLst>
                <a:ext uri="{FF2B5EF4-FFF2-40B4-BE49-F238E27FC236}">
                  <a16:creationId xmlns:a16="http://schemas.microsoft.com/office/drawing/2014/main" id="{08C81950-5923-48C4-9BCC-C604622A2F4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30880" y="245203"/>
              <a:ext cx="295445" cy="295445"/>
            </a:xfrm>
            <a:prstGeom prst="rect">
              <a:avLst/>
            </a:prstGeom>
          </p:spPr>
        </p:pic>
        <p:pic>
          <p:nvPicPr>
            <p:cNvPr id="29" name="Graphic 28" descr="Ui Ux with solid fill">
              <a:extLst>
                <a:ext uri="{FF2B5EF4-FFF2-40B4-BE49-F238E27FC236}">
                  <a16:creationId xmlns:a16="http://schemas.microsoft.com/office/drawing/2014/main" id="{0B789A8A-EB69-414C-BF20-5D7EC4B625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72388" y="245203"/>
              <a:ext cx="295445" cy="295445"/>
            </a:xfrm>
            <a:prstGeom prst="rect">
              <a:avLst/>
            </a:prstGeom>
          </p:spPr>
        </p:pic>
        <p:pic>
          <p:nvPicPr>
            <p:cNvPr id="30" name="Graphic 29" descr="Open hand with plant with solid fill">
              <a:extLst>
                <a:ext uri="{FF2B5EF4-FFF2-40B4-BE49-F238E27FC236}">
                  <a16:creationId xmlns:a16="http://schemas.microsoft.com/office/drawing/2014/main" id="{475245E1-9E43-49F0-A0E9-C5E9965FBCB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377438" y="245203"/>
              <a:ext cx="307665" cy="307665"/>
            </a:xfrm>
            <a:prstGeom prst="rect">
              <a:avLst/>
            </a:prstGeom>
          </p:spPr>
        </p:pic>
        <p:pic>
          <p:nvPicPr>
            <p:cNvPr id="31" name="Graphic 30" descr="Books with solid fill">
              <a:extLst>
                <a:ext uri="{FF2B5EF4-FFF2-40B4-BE49-F238E27FC236}">
                  <a16:creationId xmlns:a16="http://schemas.microsoft.com/office/drawing/2014/main" id="{E4227337-2C6A-446F-B1BA-5C2627B0DA7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1272672" y="245203"/>
              <a:ext cx="295445" cy="295445"/>
            </a:xfrm>
            <a:prstGeom prst="rect">
              <a:avLst/>
            </a:prstGeom>
          </p:spPr>
        </p:pic>
        <p:pic>
          <p:nvPicPr>
            <p:cNvPr id="32" name="Graphic 31" descr="Questions with solid fill">
              <a:extLst>
                <a:ext uri="{FF2B5EF4-FFF2-40B4-BE49-F238E27FC236}">
                  <a16:creationId xmlns:a16="http://schemas.microsoft.com/office/drawing/2014/main" id="{88996A2E-4316-4069-8DA4-8E78E9588E2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298115" y="245203"/>
              <a:ext cx="295445" cy="295445"/>
            </a:xfrm>
            <a:prstGeom prst="rect">
              <a:avLst/>
            </a:prstGeom>
          </p:spPr>
        </p:pic>
      </p:grpSp>
      <p:sp>
        <p:nvSpPr>
          <p:cNvPr id="33" name="Rectangle: Diagonal Corners Rounded 32">
            <a:extLst>
              <a:ext uri="{FF2B5EF4-FFF2-40B4-BE49-F238E27FC236}">
                <a16:creationId xmlns:a16="http://schemas.microsoft.com/office/drawing/2014/main" id="{66A68746-671D-4451-B8D2-8E5D5FA67A03}"/>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Developer Hub</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34" name="Rectangle: Diagonal Corners Snipped 33">
            <a:extLst>
              <a:ext uri="{FF2B5EF4-FFF2-40B4-BE49-F238E27FC236}">
                <a16:creationId xmlns:a16="http://schemas.microsoft.com/office/drawing/2014/main" id="{9AF398B5-B713-4E59-8264-0B75C5C8CA60}"/>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a:solidFill>
                  <a:schemeClr val="bg1"/>
                </a:solidFill>
                <a:effectLst/>
              </a:rPr>
              <a:t>You can use the </a:t>
            </a:r>
            <a:r>
              <a:rPr lang="en-GB" b="1" i="0" u="sng">
                <a:solidFill>
                  <a:schemeClr val="bg1"/>
                </a:solidFill>
                <a:effectLst/>
                <a:hlinkClick r:id="rId26">
                  <a:extLst>
                    <a:ext uri="{A12FA001-AC4F-418D-AE19-62706E023703}">
                      <ahyp:hlinkClr xmlns:ahyp="http://schemas.microsoft.com/office/drawing/2018/hyperlinkcolor" val="tx"/>
                    </a:ext>
                  </a:extLst>
                </a:hlinkClick>
              </a:rPr>
              <a:t>HMRC Developer Hub</a:t>
            </a:r>
            <a:r>
              <a:rPr lang="en-GB" b="1" i="0">
                <a:solidFill>
                  <a:schemeClr val="bg1"/>
                </a:solidFill>
                <a:effectLst/>
              </a:rPr>
              <a:t> </a:t>
            </a:r>
            <a:r>
              <a:rPr lang="en-GB" b="0" i="0">
                <a:solidFill>
                  <a:schemeClr val="bg1"/>
                </a:solidFill>
                <a:effectLst/>
              </a:rPr>
              <a:t>to learn about and integrate your applications with HMRC’s RESTful APIs.</a:t>
            </a:r>
            <a:endParaRPr kumimoji="0" lang="en-GB" b="0" i="0" u="none" strike="noStrike" kern="0" cap="none" spc="0" normalizeH="0" baseline="0" noProof="0">
              <a:ln>
                <a:noFill/>
              </a:ln>
              <a:solidFill>
                <a:schemeClr val="bg1"/>
              </a:solidFill>
              <a:effectLst/>
              <a:uLnTx/>
              <a:uFillTx/>
              <a:ea typeface="+mn-ea"/>
              <a:cs typeface="+mn-cs"/>
            </a:endParaRPr>
          </a:p>
        </p:txBody>
      </p:sp>
    </p:spTree>
    <p:extLst>
      <p:ext uri="{BB962C8B-B14F-4D97-AF65-F5344CB8AC3E}">
        <p14:creationId xmlns:p14="http://schemas.microsoft.com/office/powerpoint/2010/main" val="1748679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F6545011-7E6A-4C6B-90FD-AEF4251EFC59}"/>
              </a:ext>
            </a:extLst>
          </p:cNvPr>
          <p:cNvGrpSpPr/>
          <p:nvPr/>
        </p:nvGrpSpPr>
        <p:grpSpPr>
          <a:xfrm>
            <a:off x="5162406" y="-63328"/>
            <a:ext cx="6841472" cy="910091"/>
            <a:chOff x="5162406" y="-63328"/>
            <a:chExt cx="6841472" cy="910091"/>
          </a:xfrm>
        </p:grpSpPr>
        <p:graphicFrame>
          <p:nvGraphicFramePr>
            <p:cNvPr id="29" name="Diagram 28">
              <a:extLst>
                <a:ext uri="{FF2B5EF4-FFF2-40B4-BE49-F238E27FC236}">
                  <a16:creationId xmlns:a16="http://schemas.microsoft.com/office/drawing/2014/main" id="{10BBE114-BB6B-4686-98A5-D174CA817198}"/>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 name="Graphic 29" descr="Clapper board with solid fill">
              <a:extLst>
                <a:ext uri="{FF2B5EF4-FFF2-40B4-BE49-F238E27FC236}">
                  <a16:creationId xmlns:a16="http://schemas.microsoft.com/office/drawing/2014/main" id="{749FCF7A-4516-4AB1-B6AF-3729E7FF54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32" name="Graphic 31" descr="Plugged Unplugged with solid fill">
              <a:extLst>
                <a:ext uri="{FF2B5EF4-FFF2-40B4-BE49-F238E27FC236}">
                  <a16:creationId xmlns:a16="http://schemas.microsoft.com/office/drawing/2014/main" id="{C9A3AF53-3DE0-409D-8096-E6527C109C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33" name="Graphic 32" descr="Internet Of Things with solid fill">
              <a:extLst>
                <a:ext uri="{FF2B5EF4-FFF2-40B4-BE49-F238E27FC236}">
                  <a16:creationId xmlns:a16="http://schemas.microsoft.com/office/drawing/2014/main" id="{4E34A897-C063-4EE0-8439-9DA422AECAE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34" name="Graphic 33" descr="Ui Ux with solid fill">
              <a:extLst>
                <a:ext uri="{FF2B5EF4-FFF2-40B4-BE49-F238E27FC236}">
                  <a16:creationId xmlns:a16="http://schemas.microsoft.com/office/drawing/2014/main" id="{6CB609B9-C68A-457B-BD8A-D70B6ED97F5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35" name="Graphic 34" descr="Open hand with plant with solid fill">
              <a:extLst>
                <a:ext uri="{FF2B5EF4-FFF2-40B4-BE49-F238E27FC236}">
                  <a16:creationId xmlns:a16="http://schemas.microsoft.com/office/drawing/2014/main" id="{0C4264FA-26C5-4794-875C-86BBC24533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36" name="Graphic 35" descr="Books with solid fill">
              <a:extLst>
                <a:ext uri="{FF2B5EF4-FFF2-40B4-BE49-F238E27FC236}">
                  <a16:creationId xmlns:a16="http://schemas.microsoft.com/office/drawing/2014/main" id="{38FE395D-0B8C-401D-9C8D-A6ADEB1871E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37" name="Graphic 36" descr="Questions with solid fill">
              <a:extLst>
                <a:ext uri="{FF2B5EF4-FFF2-40B4-BE49-F238E27FC236}">
                  <a16:creationId xmlns:a16="http://schemas.microsoft.com/office/drawing/2014/main" id="{CF81F02D-49E9-43A8-AFA6-0DC4B1BFF43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sp>
        <p:nvSpPr>
          <p:cNvPr id="14" name="Rectangle: Diagonal Corners Rounded 13">
            <a:extLst>
              <a:ext uri="{FF2B5EF4-FFF2-40B4-BE49-F238E27FC236}">
                <a16:creationId xmlns:a16="http://schemas.microsoft.com/office/drawing/2014/main" id="{6B8D5EF9-5431-4D14-9A33-66DC0A1C7185}"/>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solidFill>
                  <a:prstClr val="white"/>
                </a:solidFill>
                <a:cs typeface="Arial" panose="020B0604020202020204" pitchFamily="34" charset="0"/>
              </a:rPr>
              <a:t>Navigating the CDS Tariff Rules</a:t>
            </a:r>
          </a:p>
        </p:txBody>
      </p:sp>
      <p:sp>
        <p:nvSpPr>
          <p:cNvPr id="15" name="Rectangle: Diagonal Corners Snipped 14">
            <a:extLst>
              <a:ext uri="{FF2B5EF4-FFF2-40B4-BE49-F238E27FC236}">
                <a16:creationId xmlns:a16="http://schemas.microsoft.com/office/drawing/2014/main" id="{19BEF158-15CF-4DC1-91BE-4985111C2A9D}"/>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It </a:t>
            </a:r>
            <a:r>
              <a:rPr lang="en-GB" kern="0">
                <a:solidFill>
                  <a:prstClr val="white"/>
                </a:solidFill>
                <a:latin typeface="Calibri" panose="020F0502020204030204"/>
              </a:rPr>
              <a:t>will be helpful to both Software Developers and Declarants </a:t>
            </a: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to familiarise themselves with the </a:t>
            </a:r>
            <a:r>
              <a:rPr kumimoji="0" lang="en-GB" sz="1800" b="1" i="0" u="none" strike="noStrike" kern="0" cap="none" spc="0" normalizeH="0" baseline="0" noProof="0">
                <a:ln>
                  <a:noFill/>
                </a:ln>
                <a:solidFill>
                  <a:schemeClr val="bg1"/>
                </a:solidFill>
                <a:effectLst/>
                <a:uLnTx/>
                <a:uFillTx/>
                <a:latin typeface="Calibri" panose="020F0502020204030204"/>
                <a:ea typeface="+mn-ea"/>
                <a:cs typeface="+mn-cs"/>
              </a:rPr>
              <a:t>CDS Declaration Completion Instructions for Imports and Exports</a:t>
            </a:r>
            <a:r>
              <a:rPr lang="en-GB" b="1" kern="0">
                <a:solidFill>
                  <a:prstClr val="white"/>
                </a:solidFill>
                <a:latin typeface="Calibri" panose="020F0502020204030204"/>
              </a:rPr>
              <a:t> </a:t>
            </a:r>
            <a:r>
              <a:rPr lang="en-GB" kern="0">
                <a:solidFill>
                  <a:prstClr val="white"/>
                </a:solidFill>
                <a:latin typeface="Calibri" panose="020F0502020204030204"/>
              </a:rPr>
              <a:t>before</a:t>
            </a:r>
            <a:r>
              <a:rPr kumimoji="0" lang="en-GB" sz="1800" i="0" u="none" strike="noStrike" kern="0" cap="none" spc="0" normalizeH="0" baseline="0" noProof="0">
                <a:ln>
                  <a:noFill/>
                </a:ln>
                <a:solidFill>
                  <a:prstClr val="white"/>
                </a:solidFill>
                <a:effectLst/>
                <a:uLnTx/>
                <a:uFillTx/>
                <a:latin typeface="Calibri" panose="020F0502020204030204"/>
                <a:ea typeface="+mn-ea"/>
                <a:cs typeface="+mn-cs"/>
              </a:rPr>
              <a:t> completing a declaration</a:t>
            </a:r>
            <a:r>
              <a:rPr kumimoji="0" lang="en-GB" sz="1800" i="0" u="none" strike="noStrike" kern="0" cap="none" spc="0" normalizeH="0" baseline="0" noProof="0">
                <a:ln>
                  <a:noFill/>
                </a:ln>
                <a:solidFill>
                  <a:schemeClr val="bg1"/>
                </a:solidFill>
                <a:effectLst/>
                <a:uLnTx/>
                <a:uFillTx/>
                <a:latin typeface="Calibri" panose="020F0502020204030204"/>
                <a:ea typeface="+mn-ea"/>
                <a:cs typeface="+mn-cs"/>
              </a:rPr>
              <a:t>. Visit </a:t>
            </a:r>
            <a:r>
              <a:rPr kumimoji="0" lang="en-GB" sz="1800" b="1" i="0" u="sng" strike="noStrike" kern="0" cap="none" spc="0" normalizeH="0" baseline="0" noProof="0">
                <a:ln>
                  <a:noFill/>
                </a:ln>
                <a:solidFill>
                  <a:schemeClr val="bg1"/>
                </a:solidFill>
                <a:effectLst/>
                <a:uLnTx/>
                <a:uFillTx/>
                <a:latin typeface="Calibri" panose="020F0502020204030204"/>
                <a:ea typeface="+mn-ea"/>
                <a:cs typeface="+mn-cs"/>
                <a:hlinkClick r:id="rId22">
                  <a:extLst>
                    <a:ext uri="{A12FA001-AC4F-418D-AE19-62706E023703}">
                      <ahyp:hlinkClr xmlns:ahyp="http://schemas.microsoft.com/office/drawing/2018/hyperlinkcolor" val="tx"/>
                    </a:ext>
                  </a:extLst>
                </a:hlinkClick>
              </a:rPr>
              <a:t>UK Trade Tariff: Volume 3 for CDS</a:t>
            </a:r>
            <a:r>
              <a:rPr kumimoji="0" lang="en-GB" sz="1800" i="0" u="none" strike="noStrike" kern="0" cap="none" spc="0" normalizeH="0" baseline="0" noProof="0">
                <a:ln>
                  <a:noFill/>
                </a:ln>
                <a:solidFill>
                  <a:schemeClr val="bg1"/>
                </a:solidFill>
                <a:effectLst/>
                <a:uLnTx/>
                <a:uFillTx/>
                <a:latin typeface="Calibri" panose="020F0502020204030204"/>
                <a:ea typeface="+mn-ea"/>
                <a:cs typeface="+mn-cs"/>
              </a:rPr>
              <a:t> for help.</a:t>
            </a:r>
            <a:endParaRPr kumimoji="0" lang="en-GB" sz="1800" b="1" i="0" u="sng"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39" name="Picture 38">
            <a:extLst>
              <a:ext uri="{FF2B5EF4-FFF2-40B4-BE49-F238E27FC236}">
                <a16:creationId xmlns:a16="http://schemas.microsoft.com/office/drawing/2014/main" id="{E2D8E551-DAC6-4668-B9A1-AB81CCFA5874}"/>
              </a:ext>
            </a:extLst>
          </p:cNvPr>
          <p:cNvPicPr>
            <a:picLocks noChangeAspect="1"/>
          </p:cNvPicPr>
          <p:nvPr/>
        </p:nvPicPr>
        <p:blipFill rotWithShape="1">
          <a:blip r:embed="rId23"/>
          <a:srcRect l="14829" t="9537" r="10742" b="9459"/>
          <a:stretch/>
        </p:blipFill>
        <p:spPr>
          <a:xfrm>
            <a:off x="312283" y="1728758"/>
            <a:ext cx="6800898" cy="4163574"/>
          </a:xfrm>
          <a:prstGeom prst="rect">
            <a:avLst/>
          </a:prstGeom>
        </p:spPr>
      </p:pic>
      <p:pic>
        <p:nvPicPr>
          <p:cNvPr id="40" name="Picture 39">
            <a:extLst>
              <a:ext uri="{FF2B5EF4-FFF2-40B4-BE49-F238E27FC236}">
                <a16:creationId xmlns:a16="http://schemas.microsoft.com/office/drawing/2014/main" id="{198AF1DD-7DCF-42DA-9789-8BF05E47E768}"/>
              </a:ext>
            </a:extLst>
          </p:cNvPr>
          <p:cNvPicPr>
            <a:picLocks noChangeAspect="1"/>
          </p:cNvPicPr>
          <p:nvPr/>
        </p:nvPicPr>
        <p:blipFill rotWithShape="1">
          <a:blip r:embed="rId24"/>
          <a:srcRect l="8593" t="10893" r="7103"/>
          <a:stretch/>
        </p:blipFill>
        <p:spPr>
          <a:xfrm>
            <a:off x="1066150" y="2334712"/>
            <a:ext cx="4891604" cy="2746732"/>
          </a:xfrm>
          <a:prstGeom prst="rect">
            <a:avLst/>
          </a:prstGeom>
        </p:spPr>
      </p:pic>
      <p:grpSp>
        <p:nvGrpSpPr>
          <p:cNvPr id="42" name="Group 41">
            <a:extLst>
              <a:ext uri="{FF2B5EF4-FFF2-40B4-BE49-F238E27FC236}">
                <a16:creationId xmlns:a16="http://schemas.microsoft.com/office/drawing/2014/main" id="{4B1413C2-83B4-430D-B425-9946822134F7}"/>
              </a:ext>
            </a:extLst>
          </p:cNvPr>
          <p:cNvGrpSpPr/>
          <p:nvPr/>
        </p:nvGrpSpPr>
        <p:grpSpPr>
          <a:xfrm>
            <a:off x="7294360" y="4620144"/>
            <a:ext cx="4318556" cy="835150"/>
            <a:chOff x="7237261" y="4505844"/>
            <a:chExt cx="4318556" cy="835150"/>
          </a:xfrm>
        </p:grpSpPr>
        <p:sp>
          <p:nvSpPr>
            <p:cNvPr id="43" name="Rectangle: Rounded Corners 42">
              <a:extLst>
                <a:ext uri="{FF2B5EF4-FFF2-40B4-BE49-F238E27FC236}">
                  <a16:creationId xmlns:a16="http://schemas.microsoft.com/office/drawing/2014/main" id="{5721BC14-31A5-467F-9A90-322FBE7F8F35}"/>
                </a:ext>
              </a:extLst>
            </p:cNvPr>
            <p:cNvSpPr/>
            <p:nvPr/>
          </p:nvSpPr>
          <p:spPr>
            <a:xfrm>
              <a:off x="7237261" y="4505844"/>
              <a:ext cx="4318556" cy="835150"/>
            </a:xfrm>
            <a:prstGeom prst="roundRect">
              <a:avLst>
                <a:gd name="adj" fmla="val 45854"/>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F09EE710-2E6B-4D5C-B535-266298121330}"/>
                </a:ext>
              </a:extLst>
            </p:cNvPr>
            <p:cNvSpPr/>
            <p:nvPr/>
          </p:nvSpPr>
          <p:spPr>
            <a:xfrm>
              <a:off x="7401638" y="4631032"/>
              <a:ext cx="3989802" cy="58477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white"/>
                  </a:solidFill>
                  <a:effectLst/>
                  <a:uLnTx/>
                  <a:uFillTx/>
                  <a:latin typeface="Calibri Light" panose="020F0302020204030204"/>
                  <a:ea typeface="Verdana" panose="020B0604030504040204" pitchFamily="34" charset="0"/>
                  <a:cs typeface="+mn-cs"/>
                  <a:hlinkClick r:id="rId25">
                    <a:extLst>
                      <a:ext uri="{A12FA001-AC4F-418D-AE19-62706E023703}">
                        <ahyp:hlinkClr xmlns:ahyp="http://schemas.microsoft.com/office/drawing/2018/hyperlinkcolor" val="tx"/>
                      </a:ext>
                    </a:extLst>
                  </a:hlinkClick>
                </a:rPr>
                <a:t>Documents &amp; Reference </a:t>
              </a:r>
              <a:r>
                <a:rPr lang="en-GB" sz="1600">
                  <a:solidFill>
                    <a:prstClr val="white"/>
                  </a:solidFill>
                  <a:latin typeface="Calibri Light" panose="020F0302020204030204"/>
                  <a:ea typeface="Verdana" panose="020B0604030504040204" pitchFamily="34" charset="0"/>
                  <a:hlinkClick r:id="rId25">
                    <a:extLst>
                      <a:ext uri="{A12FA001-AC4F-418D-AE19-62706E023703}">
                        <ahyp:hlinkClr xmlns:ahyp="http://schemas.microsoft.com/office/drawing/2018/hyperlinkcolor" val="tx"/>
                      </a:ext>
                    </a:extLst>
                  </a:hlinkClick>
                </a:rPr>
                <a:t>C</a:t>
              </a:r>
              <a:r>
                <a:rPr kumimoji="0" lang="en-GB" sz="1600" b="0" i="0" u="none" strike="noStrike" kern="1200" cap="none" spc="0" normalizeH="0" baseline="0" noProof="0">
                  <a:ln>
                    <a:noFill/>
                  </a:ln>
                  <a:solidFill>
                    <a:prstClr val="white"/>
                  </a:solidFill>
                  <a:effectLst/>
                  <a:uLnTx/>
                  <a:uFillTx/>
                  <a:latin typeface="Calibri Light" panose="020F0302020204030204"/>
                  <a:ea typeface="Verdana" panose="020B0604030504040204" pitchFamily="34" charset="0"/>
                  <a:cs typeface="+mn-cs"/>
                  <a:hlinkClick r:id="rId25">
                    <a:extLst>
                      <a:ext uri="{A12FA001-AC4F-418D-AE19-62706E023703}">
                        <ahyp:hlinkClr xmlns:ahyp="http://schemas.microsoft.com/office/drawing/2018/hyperlinkcolor" val="tx"/>
                      </a:ext>
                    </a:extLst>
                  </a:hlinkClick>
                </a:rPr>
                <a:t>odes</a:t>
              </a:r>
              <a:endParaRPr kumimoji="0" lang="en-GB" sz="1600" b="0" i="0" u="none" strike="noStrike" kern="1200" cap="none" spc="0" normalizeH="0" baseline="0" noProof="0">
                <a:ln>
                  <a:noFill/>
                </a:ln>
                <a:solidFill>
                  <a:prstClr val="white"/>
                </a:solidFill>
                <a:effectLst/>
                <a:uLnTx/>
                <a:uFillTx/>
                <a:latin typeface="Calibri Light" panose="020F0302020204030204"/>
                <a:ea typeface="Verdana" panose="020B0604030504040204" pitchFamily="34"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hlinkClick r:id="rId26">
                    <a:extLst>
                      <a:ext uri="{A12FA001-AC4F-418D-AE19-62706E023703}">
                        <ahyp:hlinkClr xmlns:ahyp="http://schemas.microsoft.com/office/drawing/2018/hyperlinkcolor" val="tx"/>
                      </a:ext>
                    </a:extLst>
                  </a:hlinkClick>
                </a:rPr>
                <a:t>Authorisation Type Codes</a:t>
              </a:r>
              <a:endParaRPr kumimoji="0" lang="en-GB" sz="1600" b="0" i="0" u="none"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endParaRPr>
            </a:p>
          </p:txBody>
        </p:sp>
      </p:grpSp>
      <p:sp>
        <p:nvSpPr>
          <p:cNvPr id="45" name="Rectangle: Rounded Corners 44">
            <a:extLst>
              <a:ext uri="{FF2B5EF4-FFF2-40B4-BE49-F238E27FC236}">
                <a16:creationId xmlns:a16="http://schemas.microsoft.com/office/drawing/2014/main" id="{6D8EE230-EB63-4F3F-9C10-FFDAED66504D}"/>
              </a:ext>
            </a:extLst>
          </p:cNvPr>
          <p:cNvSpPr/>
          <p:nvPr/>
        </p:nvSpPr>
        <p:spPr>
          <a:xfrm>
            <a:off x="7294360" y="2251085"/>
            <a:ext cx="4318556" cy="835150"/>
          </a:xfrm>
          <a:prstGeom prst="roundRect">
            <a:avLst>
              <a:gd name="adj" fmla="val 50000"/>
            </a:avLst>
          </a:prstGeom>
          <a:solidFill>
            <a:srgbClr val="214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3211DE29-F9FB-4E31-9086-EC507715173D}"/>
              </a:ext>
            </a:extLst>
          </p:cNvPr>
          <p:cNvSpPr/>
          <p:nvPr/>
        </p:nvSpPr>
        <p:spPr>
          <a:xfrm>
            <a:off x="7435734" y="2391037"/>
            <a:ext cx="4318557" cy="584775"/>
          </a:xfrm>
          <a:prstGeom prst="rect">
            <a:avLst/>
          </a:prstGeom>
        </p:spPr>
        <p:txBody>
          <a:bodyPr wrap="square" numCol="1">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600">
                <a:solidFill>
                  <a:schemeClr val="bg1"/>
                </a:solidFill>
                <a:latin typeface="Calibri Light" panose="020F0302020204030204"/>
                <a:ea typeface="Verdana" panose="020B0604030504040204" pitchFamily="34" charset="0"/>
              </a:rPr>
              <a:t>Declaration Categories for </a:t>
            </a:r>
            <a:r>
              <a:rPr lang="en-GB" sz="1600">
                <a:solidFill>
                  <a:schemeClr val="bg1"/>
                </a:solidFill>
                <a:latin typeface="Calibri Light" panose="020F0302020204030204"/>
                <a:ea typeface="Verdana" panose="020B0604030504040204" pitchFamily="34" charset="0"/>
                <a:hlinkClick r:id="rId27">
                  <a:extLst>
                    <a:ext uri="{A12FA001-AC4F-418D-AE19-62706E023703}">
                      <ahyp:hlinkClr xmlns:ahyp="http://schemas.microsoft.com/office/drawing/2018/hyperlinkcolor" val="tx"/>
                    </a:ext>
                  </a:extLst>
                </a:hlinkClick>
              </a:rPr>
              <a:t>Imports</a:t>
            </a:r>
            <a:r>
              <a:rPr lang="en-GB" sz="1600">
                <a:solidFill>
                  <a:schemeClr val="bg1"/>
                </a:solidFill>
                <a:latin typeface="Calibri Light" panose="020F0302020204030204"/>
                <a:ea typeface="Verdana" panose="020B0604030504040204" pitchFamily="34" charset="0"/>
              </a:rPr>
              <a:t> &amp; </a:t>
            </a:r>
            <a:r>
              <a:rPr lang="en-GB" sz="1600">
                <a:solidFill>
                  <a:schemeClr val="bg1"/>
                </a:solidFill>
                <a:latin typeface="Calibri Light" panose="020F0302020204030204"/>
                <a:ea typeface="Verdana" panose="020B0604030504040204" pitchFamily="34" charset="0"/>
                <a:hlinkClick r:id="rId28">
                  <a:extLst>
                    <a:ext uri="{A12FA001-AC4F-418D-AE19-62706E023703}">
                      <ahyp:hlinkClr xmlns:ahyp="http://schemas.microsoft.com/office/drawing/2018/hyperlinkcolor" val="tx"/>
                    </a:ext>
                  </a:extLst>
                </a:hlinkClick>
              </a:rPr>
              <a:t>Exports</a:t>
            </a:r>
            <a:endParaRPr kumimoji="0" lang="en-GB" sz="1600" b="0" i="0" u="none"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hlinkClick r:id="rId29">
                  <a:extLst>
                    <a:ext uri="{A12FA001-AC4F-418D-AE19-62706E023703}">
                      <ahyp:hlinkClr xmlns:ahyp="http://schemas.microsoft.com/office/drawing/2018/hyperlinkcolor" val="tx"/>
                    </a:ext>
                  </a:extLst>
                </a:hlinkClick>
              </a:rPr>
              <a:t>Commodity Codes</a:t>
            </a:r>
            <a:endParaRPr kumimoji="0" lang="en-GB" sz="1600" b="0" i="1" u="none"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endParaRPr>
          </a:p>
        </p:txBody>
      </p:sp>
      <p:grpSp>
        <p:nvGrpSpPr>
          <p:cNvPr id="47" name="Group 46">
            <a:extLst>
              <a:ext uri="{FF2B5EF4-FFF2-40B4-BE49-F238E27FC236}">
                <a16:creationId xmlns:a16="http://schemas.microsoft.com/office/drawing/2014/main" id="{83174922-1E63-422F-8A0A-331860C78EC2}"/>
              </a:ext>
            </a:extLst>
          </p:cNvPr>
          <p:cNvGrpSpPr/>
          <p:nvPr/>
        </p:nvGrpSpPr>
        <p:grpSpPr>
          <a:xfrm>
            <a:off x="7294360" y="3435614"/>
            <a:ext cx="4318557" cy="835150"/>
            <a:chOff x="7237260" y="3326916"/>
            <a:chExt cx="4318557" cy="835150"/>
          </a:xfrm>
        </p:grpSpPr>
        <p:sp>
          <p:nvSpPr>
            <p:cNvPr id="48" name="Rectangle: Rounded Corners 47">
              <a:extLst>
                <a:ext uri="{FF2B5EF4-FFF2-40B4-BE49-F238E27FC236}">
                  <a16:creationId xmlns:a16="http://schemas.microsoft.com/office/drawing/2014/main" id="{63007A04-22FE-409A-8D4E-D436D1625637}"/>
                </a:ext>
              </a:extLst>
            </p:cNvPr>
            <p:cNvSpPr/>
            <p:nvPr/>
          </p:nvSpPr>
          <p:spPr>
            <a:xfrm>
              <a:off x="7237260" y="3326916"/>
              <a:ext cx="4318557" cy="835150"/>
            </a:xfrm>
            <a:prstGeom prst="roundRect">
              <a:avLst>
                <a:gd name="adj" fmla="val 45854"/>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A2026098-EE26-4D74-9732-D3AABFED9D38}"/>
                </a:ext>
              </a:extLst>
            </p:cNvPr>
            <p:cNvSpPr/>
            <p:nvPr/>
          </p:nvSpPr>
          <p:spPr>
            <a:xfrm>
              <a:off x="7420383" y="3452104"/>
              <a:ext cx="3952311" cy="58477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rPr>
                <a:t>Procedure Code</a:t>
              </a:r>
              <a:r>
                <a:rPr lang="en-GB" sz="1600">
                  <a:solidFill>
                    <a:schemeClr val="bg1"/>
                  </a:solidFill>
                  <a:latin typeface="Calibri Light" panose="020F0302020204030204"/>
                  <a:ea typeface="Verdana" panose="020B0604030504040204" pitchFamily="34" charset="0"/>
                </a:rPr>
                <a:t>s for </a:t>
              </a:r>
              <a:r>
                <a:rPr lang="en-GB" sz="1600">
                  <a:solidFill>
                    <a:schemeClr val="bg1"/>
                  </a:solidFill>
                  <a:latin typeface="Calibri Light" panose="020F0302020204030204"/>
                  <a:ea typeface="Verdana" panose="020B0604030504040204" pitchFamily="34" charset="0"/>
                  <a:hlinkClick r:id="rId30">
                    <a:extLst>
                      <a:ext uri="{A12FA001-AC4F-418D-AE19-62706E023703}">
                        <ahyp:hlinkClr xmlns:ahyp="http://schemas.microsoft.com/office/drawing/2018/hyperlinkcolor" val="tx"/>
                      </a:ext>
                    </a:extLst>
                  </a:hlinkClick>
                </a:rPr>
                <a:t>Imports</a:t>
              </a:r>
              <a:r>
                <a:rPr lang="en-GB" sz="1600">
                  <a:solidFill>
                    <a:schemeClr val="bg1"/>
                  </a:solidFill>
                  <a:latin typeface="Calibri Light" panose="020F0302020204030204"/>
                  <a:ea typeface="Verdana" panose="020B0604030504040204" pitchFamily="34" charset="0"/>
                </a:rPr>
                <a:t> &amp; </a:t>
              </a:r>
              <a:r>
                <a:rPr lang="en-GB" sz="1600">
                  <a:solidFill>
                    <a:schemeClr val="bg1"/>
                  </a:solidFill>
                  <a:latin typeface="Calibri Light" panose="020F0302020204030204"/>
                  <a:ea typeface="Verdana" panose="020B0604030504040204" pitchFamily="34" charset="0"/>
                  <a:hlinkClick r:id="rId30">
                    <a:extLst>
                      <a:ext uri="{A12FA001-AC4F-418D-AE19-62706E023703}">
                        <ahyp:hlinkClr xmlns:ahyp="http://schemas.microsoft.com/office/drawing/2018/hyperlinkcolor" val="tx"/>
                      </a:ext>
                    </a:extLst>
                  </a:hlinkClick>
                </a:rPr>
                <a:t>Exports</a:t>
              </a:r>
              <a:endParaRPr kumimoji="0" lang="en-GB" sz="1600" b="0" i="0" strike="noStrike" kern="1200" cap="none" spc="0" normalizeH="0" baseline="0" noProof="0">
                <a:ln>
                  <a:noFill/>
                </a:ln>
                <a:solidFill>
                  <a:schemeClr val="bg1"/>
                </a:solidFill>
                <a:effectLst/>
                <a:uLnTx/>
                <a:uFillTx/>
                <a:latin typeface="Calibri Light" panose="020F0302020204030204"/>
                <a:ea typeface="Verdana" panose="020B0604030504040204" pitchFamily="34"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white"/>
                  </a:solidFill>
                  <a:effectLst/>
                  <a:uLnTx/>
                  <a:uFillTx/>
                  <a:latin typeface="Calibri Light" panose="020F0302020204030204"/>
                  <a:ea typeface="Verdana" panose="020B0604030504040204" pitchFamily="34" charset="0"/>
                  <a:cs typeface="+mn-cs"/>
                  <a:hlinkClick r:id="rId31">
                    <a:extLst>
                      <a:ext uri="{A12FA001-AC4F-418D-AE19-62706E023703}">
                        <ahyp:hlinkClr xmlns:ahyp="http://schemas.microsoft.com/office/drawing/2018/hyperlinkcolor" val="tx"/>
                      </a:ext>
                    </a:extLst>
                  </a:hlinkClick>
                </a:rPr>
                <a:t>Additional Information Statement Codes</a:t>
              </a:r>
              <a:endParaRPr kumimoji="0" lang="en-GB" sz="1600" b="0" i="1" u="none" strike="noStrike" kern="1200" cap="none" spc="0" normalizeH="0" baseline="0" noProof="0">
                <a:ln>
                  <a:noFill/>
                </a:ln>
                <a:solidFill>
                  <a:prstClr val="white"/>
                </a:solidFill>
                <a:effectLst/>
                <a:uLnTx/>
                <a:uFillTx/>
                <a:latin typeface="Calibri Light" panose="020F0302020204030204"/>
                <a:ea typeface="Verdana" panose="020B0604030504040204" pitchFamily="34" charset="0"/>
                <a:cs typeface="+mn-cs"/>
              </a:endParaRPr>
            </a:p>
          </p:txBody>
        </p:sp>
      </p:grpSp>
      <p:sp>
        <p:nvSpPr>
          <p:cNvPr id="2" name="Slide Number Placeholder 1">
            <a:extLst>
              <a:ext uri="{FF2B5EF4-FFF2-40B4-BE49-F238E27FC236}">
                <a16:creationId xmlns:a16="http://schemas.microsoft.com/office/drawing/2014/main" id="{98434FE5-DD55-4FBA-81F1-26C30728A341}"/>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22</a:t>
            </a:fld>
            <a:endParaRPr lang="en-US">
              <a:solidFill>
                <a:srgbClr val="000000">
                  <a:tint val="75000"/>
                </a:srgbClr>
              </a:solidFill>
            </a:endParaRPr>
          </a:p>
        </p:txBody>
      </p:sp>
      <p:sp>
        <p:nvSpPr>
          <p:cNvPr id="26" name="Rectangle 25">
            <a:extLst>
              <a:ext uri="{FF2B5EF4-FFF2-40B4-BE49-F238E27FC236}">
                <a16:creationId xmlns:a16="http://schemas.microsoft.com/office/drawing/2014/main" id="{46CFB518-B82F-4B6D-9599-08EFEF6A2E6F}"/>
              </a:ext>
            </a:extLst>
          </p:cNvPr>
          <p:cNvSpPr/>
          <p:nvPr/>
        </p:nvSpPr>
        <p:spPr>
          <a:xfrm>
            <a:off x="0" y="6151708"/>
            <a:ext cx="12191372" cy="713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GB" kern="0">
                <a:solidFill>
                  <a:srgbClr val="00928D"/>
                </a:solidFill>
                <a:latin typeface="Calibri" panose="020F0502020204030204"/>
              </a:rPr>
              <a:t>The </a:t>
            </a:r>
            <a:r>
              <a:rPr lang="en-GB" b="1" kern="0">
                <a:solidFill>
                  <a:srgbClr val="00928D"/>
                </a:solidFill>
                <a:latin typeface="Calibri" panose="020F0502020204030204"/>
              </a:rPr>
              <a:t>new Duty Calculator</a:t>
            </a:r>
            <a:r>
              <a:rPr lang="en-GB" kern="0">
                <a:solidFill>
                  <a:srgbClr val="00928D"/>
                </a:solidFill>
                <a:latin typeface="Calibri" panose="020F0502020204030204"/>
              </a:rPr>
              <a:t> can be accessed via </a:t>
            </a:r>
            <a:r>
              <a:rPr lang="en-GB" b="1" u="sng" kern="0">
                <a:solidFill>
                  <a:srgbClr val="00928D"/>
                </a:solidFill>
                <a:latin typeface="Calibri" panose="020F0502020204030204"/>
                <a:hlinkClick r:id="rId32">
                  <a:extLst>
                    <a:ext uri="{A12FA001-AC4F-418D-AE19-62706E023703}">
                      <ahyp:hlinkClr xmlns:ahyp="http://schemas.microsoft.com/office/drawing/2018/hyperlinkcolor" val="tx"/>
                    </a:ext>
                  </a:extLst>
                </a:hlinkClick>
              </a:rPr>
              <a:t>Trade Tariff: look up commodity codes, duty and VAT rates</a:t>
            </a:r>
            <a:r>
              <a:rPr kumimoji="0" lang="en-GB" i="0" u="none" strike="noStrike" kern="0" cap="none" spc="0" normalizeH="0" baseline="0" noProof="0">
                <a:ln>
                  <a:noFill/>
                </a:ln>
                <a:solidFill>
                  <a:srgbClr val="00928D"/>
                </a:solidFill>
                <a:effectLst/>
                <a:uLnTx/>
                <a:uFillTx/>
                <a:latin typeface="Calibri" panose="020F0502020204030204"/>
                <a:ea typeface="+mn-ea"/>
                <a:cs typeface="+mn-cs"/>
              </a:rPr>
              <a:t>.</a:t>
            </a:r>
            <a:endParaRPr kumimoji="0" lang="en-GB" b="1" i="0" u="none" strike="noStrike" kern="1200" cap="none" spc="0" normalizeH="0" baseline="0" noProof="0">
              <a:ln>
                <a:noFill/>
              </a:ln>
              <a:solidFill>
                <a:srgbClr val="00928D"/>
              </a:solidFill>
              <a:effectLst/>
              <a:uLnTx/>
              <a:uFillTx/>
              <a:latin typeface="Calibri" panose="020F0502020204030204"/>
              <a:ea typeface="Times New Roman" panose="02020603050405020304" pitchFamily="18" charset="0"/>
              <a:cs typeface="+mn-cs"/>
            </a:endParaRPr>
          </a:p>
        </p:txBody>
      </p:sp>
    </p:spTree>
    <p:extLst>
      <p:ext uri="{BB962C8B-B14F-4D97-AF65-F5344CB8AC3E}">
        <p14:creationId xmlns:p14="http://schemas.microsoft.com/office/powerpoint/2010/main" val="3339040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F6545011-7E6A-4C6B-90FD-AEF4251EFC59}"/>
              </a:ext>
            </a:extLst>
          </p:cNvPr>
          <p:cNvGrpSpPr/>
          <p:nvPr/>
        </p:nvGrpSpPr>
        <p:grpSpPr>
          <a:xfrm>
            <a:off x="5162406" y="-63328"/>
            <a:ext cx="6841472" cy="910091"/>
            <a:chOff x="5162406" y="-63328"/>
            <a:chExt cx="6841472" cy="910091"/>
          </a:xfrm>
        </p:grpSpPr>
        <p:graphicFrame>
          <p:nvGraphicFramePr>
            <p:cNvPr id="29" name="Diagram 28">
              <a:extLst>
                <a:ext uri="{FF2B5EF4-FFF2-40B4-BE49-F238E27FC236}">
                  <a16:creationId xmlns:a16="http://schemas.microsoft.com/office/drawing/2014/main" id="{10BBE114-BB6B-4686-98A5-D174CA817198}"/>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 name="Graphic 29" descr="Clapper board with solid fill">
              <a:extLst>
                <a:ext uri="{FF2B5EF4-FFF2-40B4-BE49-F238E27FC236}">
                  <a16:creationId xmlns:a16="http://schemas.microsoft.com/office/drawing/2014/main" id="{749FCF7A-4516-4AB1-B6AF-3729E7FF54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32" name="Graphic 31" descr="Plugged Unplugged with solid fill">
              <a:extLst>
                <a:ext uri="{FF2B5EF4-FFF2-40B4-BE49-F238E27FC236}">
                  <a16:creationId xmlns:a16="http://schemas.microsoft.com/office/drawing/2014/main" id="{C9A3AF53-3DE0-409D-8096-E6527C109C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33" name="Graphic 32" descr="Internet Of Things with solid fill">
              <a:extLst>
                <a:ext uri="{FF2B5EF4-FFF2-40B4-BE49-F238E27FC236}">
                  <a16:creationId xmlns:a16="http://schemas.microsoft.com/office/drawing/2014/main" id="{4E34A897-C063-4EE0-8439-9DA422AECAE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34" name="Graphic 33" descr="Ui Ux with solid fill">
              <a:extLst>
                <a:ext uri="{FF2B5EF4-FFF2-40B4-BE49-F238E27FC236}">
                  <a16:creationId xmlns:a16="http://schemas.microsoft.com/office/drawing/2014/main" id="{6CB609B9-C68A-457B-BD8A-D70B6ED97F5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35" name="Graphic 34" descr="Open hand with plant with solid fill">
              <a:extLst>
                <a:ext uri="{FF2B5EF4-FFF2-40B4-BE49-F238E27FC236}">
                  <a16:creationId xmlns:a16="http://schemas.microsoft.com/office/drawing/2014/main" id="{0C4264FA-26C5-4794-875C-86BBC24533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36" name="Graphic 35" descr="Books with solid fill">
              <a:extLst>
                <a:ext uri="{FF2B5EF4-FFF2-40B4-BE49-F238E27FC236}">
                  <a16:creationId xmlns:a16="http://schemas.microsoft.com/office/drawing/2014/main" id="{38FE395D-0B8C-401D-9C8D-A6ADEB1871E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37" name="Graphic 36" descr="Questions with solid fill">
              <a:extLst>
                <a:ext uri="{FF2B5EF4-FFF2-40B4-BE49-F238E27FC236}">
                  <a16:creationId xmlns:a16="http://schemas.microsoft.com/office/drawing/2014/main" id="{CF81F02D-49E9-43A8-AFA6-0DC4B1BFF43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sp>
        <p:nvSpPr>
          <p:cNvPr id="14" name="Rectangle: Diagonal Corners Rounded 13">
            <a:extLst>
              <a:ext uri="{FF2B5EF4-FFF2-40B4-BE49-F238E27FC236}">
                <a16:creationId xmlns:a16="http://schemas.microsoft.com/office/drawing/2014/main" id="{6B8D5EF9-5431-4D14-9A33-66DC0A1C7185}"/>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solidFill>
                  <a:prstClr val="white"/>
                </a:solidFill>
                <a:cs typeface="Arial" panose="020B0604020202020204" pitchFamily="34" charset="0"/>
              </a:rPr>
              <a:t>Useful GOV.UK Pages</a:t>
            </a:r>
          </a:p>
        </p:txBody>
      </p:sp>
      <p:grpSp>
        <p:nvGrpSpPr>
          <p:cNvPr id="26" name="Group 25">
            <a:extLst>
              <a:ext uri="{FF2B5EF4-FFF2-40B4-BE49-F238E27FC236}">
                <a16:creationId xmlns:a16="http://schemas.microsoft.com/office/drawing/2014/main" id="{16441EDD-3149-405B-9FDB-B645CA536E3D}"/>
              </a:ext>
            </a:extLst>
          </p:cNvPr>
          <p:cNvGrpSpPr/>
          <p:nvPr/>
        </p:nvGrpSpPr>
        <p:grpSpPr>
          <a:xfrm>
            <a:off x="686472" y="1924118"/>
            <a:ext cx="634327" cy="742155"/>
            <a:chOff x="686473" y="1599073"/>
            <a:chExt cx="661058" cy="805091"/>
          </a:xfrm>
        </p:grpSpPr>
        <p:sp>
          <p:nvSpPr>
            <p:cNvPr id="27" name="Rectangle: Top Corners Rounded 26">
              <a:extLst>
                <a:ext uri="{FF2B5EF4-FFF2-40B4-BE49-F238E27FC236}">
                  <a16:creationId xmlns:a16="http://schemas.microsoft.com/office/drawing/2014/main" id="{C89F487F-2156-4C65-A970-D2BF6EC2C237}"/>
                </a:ext>
              </a:extLst>
            </p:cNvPr>
            <p:cNvSpPr/>
            <p:nvPr/>
          </p:nvSpPr>
          <p:spPr>
            <a:xfrm rot="16200000">
              <a:off x="614456" y="1671090"/>
              <a:ext cx="805091" cy="661058"/>
            </a:xfrm>
            <a:prstGeom prst="round2SameRect">
              <a:avLst/>
            </a:prstGeom>
            <a:solidFill>
              <a:srgbClr val="BDDD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1" name="TextBox 30">
              <a:extLst>
                <a:ext uri="{FF2B5EF4-FFF2-40B4-BE49-F238E27FC236}">
                  <a16:creationId xmlns:a16="http://schemas.microsoft.com/office/drawing/2014/main" id="{9579D264-42D7-46FA-A79C-859E03F3BD30}"/>
                </a:ext>
              </a:extLst>
            </p:cNvPr>
            <p:cNvSpPr txBox="1"/>
            <p:nvPr/>
          </p:nvSpPr>
          <p:spPr>
            <a:xfrm>
              <a:off x="821551" y="1786258"/>
              <a:ext cx="389323" cy="436417"/>
            </a:xfrm>
            <a:prstGeom prst="rect">
              <a:avLst/>
            </a:prstGeom>
            <a:noFill/>
          </p:spPr>
          <p:txBody>
            <a:bodyPr wrap="square"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1</a:t>
              </a:r>
            </a:p>
          </p:txBody>
        </p:sp>
      </p:grpSp>
      <p:grpSp>
        <p:nvGrpSpPr>
          <p:cNvPr id="38" name="Group 37">
            <a:extLst>
              <a:ext uri="{FF2B5EF4-FFF2-40B4-BE49-F238E27FC236}">
                <a16:creationId xmlns:a16="http://schemas.microsoft.com/office/drawing/2014/main" id="{742EF909-AEA4-4FAC-A297-A0505D05E7BD}"/>
              </a:ext>
            </a:extLst>
          </p:cNvPr>
          <p:cNvGrpSpPr/>
          <p:nvPr/>
        </p:nvGrpSpPr>
        <p:grpSpPr>
          <a:xfrm>
            <a:off x="685795" y="2810741"/>
            <a:ext cx="635004" cy="742156"/>
            <a:chOff x="686473" y="2772135"/>
            <a:chExt cx="661058" cy="805091"/>
          </a:xfrm>
        </p:grpSpPr>
        <p:sp>
          <p:nvSpPr>
            <p:cNvPr id="50" name="Rectangle: Top Corners Rounded 49">
              <a:extLst>
                <a:ext uri="{FF2B5EF4-FFF2-40B4-BE49-F238E27FC236}">
                  <a16:creationId xmlns:a16="http://schemas.microsoft.com/office/drawing/2014/main" id="{93BB4F48-33D8-4460-A964-EC773C51345D}"/>
                </a:ext>
              </a:extLst>
            </p:cNvPr>
            <p:cNvSpPr/>
            <p:nvPr/>
          </p:nvSpPr>
          <p:spPr>
            <a:xfrm rot="16200000">
              <a:off x="614456" y="2844152"/>
              <a:ext cx="805091" cy="661058"/>
            </a:xfrm>
            <a:prstGeom prst="round2SameRect">
              <a:avLst/>
            </a:prstGeom>
            <a:solidFill>
              <a:srgbClr val="6D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1" name="TextBox 50">
              <a:extLst>
                <a:ext uri="{FF2B5EF4-FFF2-40B4-BE49-F238E27FC236}">
                  <a16:creationId xmlns:a16="http://schemas.microsoft.com/office/drawing/2014/main" id="{516F41C7-99F1-4D17-9398-1888D27E56AC}"/>
                </a:ext>
              </a:extLst>
            </p:cNvPr>
            <p:cNvSpPr txBox="1"/>
            <p:nvPr/>
          </p:nvSpPr>
          <p:spPr>
            <a:xfrm>
              <a:off x="822340" y="2957504"/>
              <a:ext cx="389323" cy="436417"/>
            </a:xfrm>
            <a:prstGeom prst="rect">
              <a:avLst/>
            </a:prstGeom>
            <a:noFill/>
          </p:spPr>
          <p:txBody>
            <a:bodyPr wrap="square"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2</a:t>
              </a:r>
            </a:p>
          </p:txBody>
        </p:sp>
      </p:grpSp>
      <p:grpSp>
        <p:nvGrpSpPr>
          <p:cNvPr id="52" name="Group 51">
            <a:extLst>
              <a:ext uri="{FF2B5EF4-FFF2-40B4-BE49-F238E27FC236}">
                <a16:creationId xmlns:a16="http://schemas.microsoft.com/office/drawing/2014/main" id="{0391B3FF-2276-4905-B34D-513B5308FBED}"/>
              </a:ext>
            </a:extLst>
          </p:cNvPr>
          <p:cNvGrpSpPr/>
          <p:nvPr/>
        </p:nvGrpSpPr>
        <p:grpSpPr>
          <a:xfrm>
            <a:off x="685795" y="3757194"/>
            <a:ext cx="635004" cy="742158"/>
            <a:chOff x="686473" y="3703897"/>
            <a:chExt cx="661058" cy="805091"/>
          </a:xfrm>
        </p:grpSpPr>
        <p:sp>
          <p:nvSpPr>
            <p:cNvPr id="53" name="Rectangle: Top Corners Rounded 52">
              <a:extLst>
                <a:ext uri="{FF2B5EF4-FFF2-40B4-BE49-F238E27FC236}">
                  <a16:creationId xmlns:a16="http://schemas.microsoft.com/office/drawing/2014/main" id="{751D3D1C-3CA9-47FF-86E2-A466400C43C2}"/>
                </a:ext>
              </a:extLst>
            </p:cNvPr>
            <p:cNvSpPr/>
            <p:nvPr/>
          </p:nvSpPr>
          <p:spPr>
            <a:xfrm rot="16200000">
              <a:off x="614456" y="3775914"/>
              <a:ext cx="805091" cy="661058"/>
            </a:xfrm>
            <a:prstGeom prst="round2SameRect">
              <a:avLst/>
            </a:prstGeom>
            <a:solidFill>
              <a:srgbClr val="3A7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1B2357F4-C116-4351-BCBC-8F696324B31D}"/>
                </a:ext>
              </a:extLst>
            </p:cNvPr>
            <p:cNvSpPr txBox="1"/>
            <p:nvPr/>
          </p:nvSpPr>
          <p:spPr>
            <a:xfrm>
              <a:off x="822339" y="3888234"/>
              <a:ext cx="389323" cy="436417"/>
            </a:xfrm>
            <a:prstGeom prst="rect">
              <a:avLst/>
            </a:prstGeom>
            <a:noFill/>
          </p:spPr>
          <p:txBody>
            <a:bodyPr wrap="square"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3</a:t>
              </a:r>
            </a:p>
          </p:txBody>
        </p:sp>
      </p:grpSp>
      <p:grpSp>
        <p:nvGrpSpPr>
          <p:cNvPr id="55" name="Group 54">
            <a:extLst>
              <a:ext uri="{FF2B5EF4-FFF2-40B4-BE49-F238E27FC236}">
                <a16:creationId xmlns:a16="http://schemas.microsoft.com/office/drawing/2014/main" id="{470D73A7-9691-479B-B1C4-30A6018B50C8}"/>
              </a:ext>
            </a:extLst>
          </p:cNvPr>
          <p:cNvGrpSpPr/>
          <p:nvPr/>
        </p:nvGrpSpPr>
        <p:grpSpPr>
          <a:xfrm>
            <a:off x="685794" y="4703649"/>
            <a:ext cx="635006" cy="745006"/>
            <a:chOff x="686473" y="4635660"/>
            <a:chExt cx="661058" cy="805091"/>
          </a:xfrm>
        </p:grpSpPr>
        <p:sp>
          <p:nvSpPr>
            <p:cNvPr id="56" name="Rectangle: Top Corners Rounded 55">
              <a:extLst>
                <a:ext uri="{FF2B5EF4-FFF2-40B4-BE49-F238E27FC236}">
                  <a16:creationId xmlns:a16="http://schemas.microsoft.com/office/drawing/2014/main" id="{82ECEA7D-965B-4BAD-B120-CD9CDA2D8838}"/>
                </a:ext>
              </a:extLst>
            </p:cNvPr>
            <p:cNvSpPr/>
            <p:nvPr/>
          </p:nvSpPr>
          <p:spPr>
            <a:xfrm rot="16200000">
              <a:off x="614456" y="4707677"/>
              <a:ext cx="805091" cy="661058"/>
            </a:xfrm>
            <a:prstGeom prst="round2SameRect">
              <a:avLst/>
            </a:prstGeom>
            <a:solidFill>
              <a:srgbClr val="2C62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7" name="TextBox 56">
              <a:extLst>
                <a:ext uri="{FF2B5EF4-FFF2-40B4-BE49-F238E27FC236}">
                  <a16:creationId xmlns:a16="http://schemas.microsoft.com/office/drawing/2014/main" id="{BFD23A2B-83EF-4F14-9215-54AB98863F27}"/>
                </a:ext>
              </a:extLst>
            </p:cNvPr>
            <p:cNvSpPr txBox="1"/>
            <p:nvPr/>
          </p:nvSpPr>
          <p:spPr>
            <a:xfrm>
              <a:off x="822340" y="4819997"/>
              <a:ext cx="389323" cy="436418"/>
            </a:xfrm>
            <a:prstGeom prst="rect">
              <a:avLst/>
            </a:prstGeom>
            <a:noFill/>
          </p:spPr>
          <p:txBody>
            <a:bodyPr wrap="square" rtlCol="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2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4</a:t>
              </a:r>
            </a:p>
          </p:txBody>
        </p:sp>
      </p:grpSp>
      <p:sp>
        <p:nvSpPr>
          <p:cNvPr id="58" name="TextBox 57">
            <a:extLst>
              <a:ext uri="{FF2B5EF4-FFF2-40B4-BE49-F238E27FC236}">
                <a16:creationId xmlns:a16="http://schemas.microsoft.com/office/drawing/2014/main" id="{9A49A4C6-E404-4605-9802-889C84C3F2A4}"/>
              </a:ext>
            </a:extLst>
          </p:cNvPr>
          <p:cNvSpPr txBox="1"/>
          <p:nvPr/>
        </p:nvSpPr>
        <p:spPr>
          <a:xfrm>
            <a:off x="1523584" y="1972029"/>
            <a:ext cx="939206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a:ln>
                  <a:noFill/>
                </a:ln>
                <a:solidFill>
                  <a:srgbClr val="8DC5C4"/>
                </a:solidFill>
                <a:effectLst/>
                <a:uLnTx/>
                <a:uFillTx/>
                <a:latin typeface="Calibri"/>
                <a:ea typeface="+mn-ea"/>
                <a:cs typeface="+mn-cs"/>
              </a:rPr>
              <a:t>CDS </a:t>
            </a:r>
            <a:r>
              <a:rPr kumimoji="0" lang="en-GB" b="1" i="0" u="none" strike="noStrike" kern="1200" cap="none" spc="0" normalizeH="0" baseline="0" noProof="0" dirty="0">
                <a:ln>
                  <a:noFill/>
                </a:ln>
                <a:solidFill>
                  <a:srgbClr val="8DC5C4"/>
                </a:solidFill>
                <a:effectLst/>
                <a:uLnTx/>
                <a:uFillTx/>
                <a:latin typeface="Calibri"/>
                <a:ea typeface="+mn-ea"/>
                <a:cs typeface="+mn-cs"/>
              </a:rPr>
              <a:t>Collection</a:t>
            </a:r>
            <a:endParaRPr kumimoji="0" lang="en-GB" b="1" i="0" u="none" strike="noStrike" kern="1200" cap="none" spc="0" normalizeH="0" baseline="0" noProof="0" dirty="0">
              <a:ln>
                <a:noFill/>
              </a:ln>
              <a:solidFill>
                <a:srgbClr val="00868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Calibri"/>
                <a:ea typeface="+mn-ea"/>
                <a:cs typeface="+mn-cs"/>
                <a:hlinkClick r:id="rId22"/>
              </a:rPr>
              <a:t>This page brings together information about </a:t>
            </a:r>
            <a:r>
              <a:rPr kumimoji="0" lang="en-GB" b="0" i="0" u="none" strike="noStrike" kern="1200" cap="none" spc="0" normalizeH="0" baseline="0" noProof="0">
                <a:ln>
                  <a:noFill/>
                </a:ln>
                <a:solidFill>
                  <a:srgbClr val="000000"/>
                </a:solidFill>
                <a:effectLst/>
                <a:uLnTx/>
                <a:uFillTx/>
                <a:latin typeface="Calibri"/>
                <a:ea typeface="+mn-ea"/>
                <a:cs typeface="+mn-cs"/>
                <a:hlinkClick r:id="rId22"/>
              </a:rPr>
              <a:t>CDS</a:t>
            </a:r>
            <a:r>
              <a:rPr kumimoji="0" lang="en-GB" b="0" i="0" u="none" strike="noStrike" kern="1200" cap="none" spc="0" normalizeH="0" baseline="0" noProof="0" dirty="0">
                <a:ln>
                  <a:noFill/>
                </a:ln>
                <a:solidFill>
                  <a:srgbClr val="000000"/>
                </a:solidFill>
                <a:effectLst/>
                <a:uLnTx/>
                <a:uFillTx/>
                <a:latin typeface="Calibri"/>
                <a:ea typeface="+mn-ea"/>
                <a:cs typeface="+mn-cs"/>
              </a:rPr>
              <a:t>.</a:t>
            </a:r>
          </a:p>
        </p:txBody>
      </p:sp>
      <p:sp>
        <p:nvSpPr>
          <p:cNvPr id="59" name="TextBox 58">
            <a:extLst>
              <a:ext uri="{FF2B5EF4-FFF2-40B4-BE49-F238E27FC236}">
                <a16:creationId xmlns:a16="http://schemas.microsoft.com/office/drawing/2014/main" id="{8EF6A3D5-18F1-41B7-8460-81EF68798279}"/>
              </a:ext>
            </a:extLst>
          </p:cNvPr>
          <p:cNvSpPr txBox="1"/>
          <p:nvPr/>
        </p:nvSpPr>
        <p:spPr>
          <a:xfrm>
            <a:off x="1523584" y="2718017"/>
            <a:ext cx="9144416" cy="923330"/>
          </a:xfrm>
          <a:prstGeom prst="rect">
            <a:avLst/>
          </a:prstGeom>
          <a:noFill/>
        </p:spPr>
        <p:txBody>
          <a:bodyPr wrap="square" lIns="91440" tIns="45720" rIns="91440" bIns="45720" anchor="t">
            <a:spAutoFit/>
          </a:bodyPr>
          <a:lstStyle/>
          <a:p>
            <a:pPr>
              <a:defRPr/>
            </a:pPr>
            <a:r>
              <a:rPr kumimoji="0" lang="en-GB" b="1" i="0" u="none" strike="noStrike" kern="1200" cap="none" spc="0" normalizeH="0" baseline="0" noProof="0" dirty="0">
                <a:ln>
                  <a:noFill/>
                </a:ln>
                <a:solidFill>
                  <a:srgbClr val="6DA4B7"/>
                </a:solidFill>
                <a:effectLst/>
                <a:uLnTx/>
                <a:uFillTx/>
                <a:latin typeface="Calibri"/>
                <a:ea typeface="+mn-ea"/>
                <a:cs typeface="+mn-cs"/>
              </a:rPr>
              <a:t>Step-by-Step Guides</a:t>
            </a:r>
            <a:r>
              <a:rPr lang="en-GB" b="1" dirty="0">
                <a:solidFill>
                  <a:srgbClr val="6DA4B7"/>
                </a:solidFill>
                <a:latin typeface="Calibri"/>
              </a:rPr>
              <a:t> </a:t>
            </a:r>
            <a:endParaRPr kumimoji="0" lang="en-GB" b="1" i="0" u="none" strike="noStrike" kern="1200" cap="none" spc="0" normalizeH="0" baseline="0" noProof="0" dirty="0">
              <a:ln>
                <a:noFill/>
              </a:ln>
              <a:solidFill>
                <a:srgbClr val="6DA4B7"/>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Calibri"/>
                <a:ea typeface="+mn-ea"/>
                <a:cs typeface="+mn-cs"/>
              </a:rPr>
              <a:t>How to </a:t>
            </a:r>
            <a:r>
              <a:rPr kumimoji="0" lang="en-GB" b="0" i="0" u="none" strike="noStrike" kern="1200" cap="none" spc="0" normalizeH="0" baseline="0" noProof="0" dirty="0">
                <a:ln>
                  <a:noFill/>
                </a:ln>
                <a:solidFill>
                  <a:srgbClr val="000000"/>
                </a:solidFill>
                <a:effectLst/>
                <a:uLnTx/>
                <a:uFillTx/>
                <a:latin typeface="Calibri"/>
                <a:ea typeface="+mn-ea"/>
                <a:cs typeface="+mn-cs"/>
                <a:hlinkClick r:id="rId23"/>
              </a:rPr>
              <a:t>import goods into the UK</a:t>
            </a:r>
            <a:r>
              <a:rPr kumimoji="0" lang="en-GB" b="0" i="0" u="none" strike="noStrike" kern="1200" cap="none" spc="0" normalizeH="0" baseline="0" noProof="0" dirty="0">
                <a:ln>
                  <a:noFill/>
                </a:ln>
                <a:solidFill>
                  <a:srgbClr val="000000"/>
                </a:solidFill>
                <a:effectLst/>
                <a:uLnTx/>
                <a:uFillTx/>
                <a:latin typeface="Calibri"/>
                <a:ea typeface="+mn-ea"/>
                <a:cs typeface="+mn-cs"/>
              </a:rPr>
              <a:t>, or </a:t>
            </a:r>
            <a:r>
              <a:rPr lang="en-GB" dirty="0">
                <a:solidFill>
                  <a:srgbClr val="000000"/>
                </a:solidFill>
                <a:latin typeface="Calibri"/>
                <a:hlinkClick r:id="rId24"/>
              </a:rPr>
              <a:t>export goods out of the UK</a:t>
            </a:r>
            <a:r>
              <a:rPr kumimoji="0" lang="en-GB" b="0" i="0" u="none" strike="noStrike" kern="1200" cap="none" spc="0" normalizeH="0" baseline="0" noProof="0" dirty="0">
                <a:ln>
                  <a:noFill/>
                </a:ln>
                <a:solidFill>
                  <a:srgbClr val="000000"/>
                </a:solidFill>
                <a:effectLst/>
                <a:uLnTx/>
                <a:uFillTx/>
                <a:latin typeface="Calibri"/>
                <a:ea typeface="+mn-ea"/>
                <a:cs typeface="+mn-cs"/>
              </a:rPr>
              <a:t>, including how much tax and duty may be required, what controls are in place and whether a licence or certificate is needed.</a:t>
            </a:r>
            <a:endParaRPr lang="en-GB" b="0" i="0" u="none" strike="noStrike" kern="1200" cap="none" spc="0" normalizeH="0" baseline="0" noProof="0" dirty="0">
              <a:ln>
                <a:noFill/>
              </a:ln>
              <a:effectLst/>
              <a:uLnTx/>
              <a:uFillTx/>
              <a:latin typeface="Calibri"/>
              <a:cs typeface="Calibri"/>
            </a:endParaRPr>
          </a:p>
        </p:txBody>
      </p:sp>
      <p:sp>
        <p:nvSpPr>
          <p:cNvPr id="60" name="TextBox 59">
            <a:extLst>
              <a:ext uri="{FF2B5EF4-FFF2-40B4-BE49-F238E27FC236}">
                <a16:creationId xmlns:a16="http://schemas.microsoft.com/office/drawing/2014/main" id="{F3021C42-4E80-44C1-9370-68A124384D2C}"/>
              </a:ext>
            </a:extLst>
          </p:cNvPr>
          <p:cNvSpPr txBox="1"/>
          <p:nvPr/>
        </p:nvSpPr>
        <p:spPr>
          <a:xfrm>
            <a:off x="1523584" y="3666608"/>
            <a:ext cx="9182517"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3A7FA0"/>
                </a:solidFill>
                <a:effectLst/>
                <a:uLnTx/>
                <a:uFillTx/>
                <a:latin typeface="Calibri"/>
                <a:ea typeface="+mn-ea"/>
                <a:cs typeface="+mn-cs"/>
              </a:rPr>
              <a:t>CDS Declaration Completion Instructions for Imports and Exports</a:t>
            </a:r>
            <a:endParaRPr kumimoji="0" lang="en-GB" b="1" i="0" u="none" strike="noStrike" kern="1200" cap="none" spc="0" normalizeH="0" baseline="0" noProof="0" dirty="0">
              <a:ln>
                <a:noFill/>
              </a:ln>
              <a:solidFill>
                <a:srgbClr val="00868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Calibri"/>
                <a:ea typeface="+mn-ea"/>
                <a:cs typeface="+mn-cs"/>
              </a:rPr>
              <a:t>These guides provide detailed completion instructions for </a:t>
            </a:r>
            <a:r>
              <a:rPr kumimoji="0" lang="en-GB" b="1" i="0" u="none" strike="noStrike" kern="1200" cap="none" spc="0" normalizeH="0" baseline="0" noProof="0" dirty="0">
                <a:ln>
                  <a:noFill/>
                </a:ln>
                <a:solidFill>
                  <a:srgbClr val="000000"/>
                </a:solidFill>
                <a:effectLst/>
                <a:uLnTx/>
                <a:uFillTx/>
                <a:latin typeface="Calibri"/>
                <a:ea typeface="+mn-ea"/>
                <a:cs typeface="+mn-cs"/>
              </a:rPr>
              <a:t>data elements </a:t>
            </a:r>
            <a:r>
              <a:rPr kumimoji="0" lang="en-GB" b="0" i="0" u="none" strike="noStrike" kern="1200" cap="none" spc="0" normalizeH="0" baseline="0" noProof="0" dirty="0">
                <a:ln>
                  <a:noFill/>
                </a:ln>
                <a:solidFill>
                  <a:srgbClr val="000000"/>
                </a:solidFill>
                <a:effectLst/>
                <a:uLnTx/>
                <a:uFillTx/>
                <a:latin typeface="Calibri"/>
                <a:ea typeface="+mn-ea"/>
                <a:cs typeface="+mn-cs"/>
              </a:rPr>
              <a:t>when making </a:t>
            </a:r>
            <a:r>
              <a:rPr kumimoji="0" lang="en-GB" b="0" i="0" u="none" strike="noStrike" kern="1200" cap="none" spc="0" normalizeH="0" baseline="0" noProof="0" dirty="0">
                <a:ln>
                  <a:noFill/>
                </a:ln>
                <a:solidFill>
                  <a:srgbClr val="000000"/>
                </a:solidFill>
                <a:effectLst/>
                <a:uLnTx/>
                <a:uFillTx/>
                <a:latin typeface="Calibri"/>
                <a:ea typeface="+mn-ea"/>
                <a:cs typeface="+mn-cs"/>
                <a:hlinkClick r:id="rId25"/>
              </a:rPr>
              <a:t>Import</a:t>
            </a:r>
            <a:r>
              <a:rPr kumimoji="0" lang="en-GB" b="0" i="0" u="none" strike="noStrike" kern="1200" cap="none" spc="0" normalizeH="0" baseline="0" noProof="0" dirty="0">
                <a:ln>
                  <a:noFill/>
                </a:ln>
                <a:solidFill>
                  <a:srgbClr val="000000"/>
                </a:solidFill>
                <a:effectLst/>
                <a:uLnTx/>
                <a:uFillTx/>
                <a:latin typeface="Calibri"/>
                <a:ea typeface="+mn-ea"/>
                <a:cs typeface="+mn-cs"/>
              </a:rPr>
              <a:t> and </a:t>
            </a:r>
            <a:r>
              <a:rPr kumimoji="0" lang="en-GB" b="0" i="0" u="none" strike="noStrike" kern="1200" cap="none" spc="0" normalizeH="0" baseline="0" noProof="0" dirty="0">
                <a:ln>
                  <a:noFill/>
                </a:ln>
                <a:solidFill>
                  <a:srgbClr val="000000"/>
                </a:solidFill>
                <a:effectLst/>
                <a:uLnTx/>
                <a:uFillTx/>
                <a:latin typeface="Calibri"/>
                <a:ea typeface="+mn-ea"/>
                <a:cs typeface="+mn-cs"/>
                <a:hlinkClick r:id="rId26"/>
              </a:rPr>
              <a:t>Export</a:t>
            </a:r>
            <a:r>
              <a:rPr kumimoji="0" lang="en-GB" b="0" i="0" u="none" strike="noStrike" kern="1200" cap="none" spc="0" normalizeH="0" baseline="0" noProof="0" dirty="0">
                <a:ln>
                  <a:noFill/>
                </a:ln>
                <a:solidFill>
                  <a:srgbClr val="000000"/>
                </a:solidFill>
                <a:effectLst/>
                <a:uLnTx/>
                <a:uFillTx/>
                <a:latin typeface="Calibri"/>
                <a:ea typeface="+mn-ea"/>
                <a:cs typeface="+mn-cs"/>
              </a:rPr>
              <a:t> Declarations on CDS.</a:t>
            </a:r>
          </a:p>
        </p:txBody>
      </p:sp>
      <p:sp>
        <p:nvSpPr>
          <p:cNvPr id="61" name="TextBox 60">
            <a:extLst>
              <a:ext uri="{FF2B5EF4-FFF2-40B4-BE49-F238E27FC236}">
                <a16:creationId xmlns:a16="http://schemas.microsoft.com/office/drawing/2014/main" id="{FC45C78C-EB27-4B8D-93D3-9287B94F0116}"/>
              </a:ext>
            </a:extLst>
          </p:cNvPr>
          <p:cNvSpPr txBox="1"/>
          <p:nvPr/>
        </p:nvSpPr>
        <p:spPr>
          <a:xfrm>
            <a:off x="1523584" y="4752986"/>
            <a:ext cx="892851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2C627A"/>
                </a:solidFill>
                <a:effectLst/>
                <a:uLnTx/>
                <a:uFillTx/>
                <a:latin typeface="Calibri"/>
                <a:ea typeface="+mn-ea"/>
                <a:cs typeface="+mn-cs"/>
              </a:rPr>
              <a:t>Example Declarations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Calibri"/>
                <a:ea typeface="+mn-ea"/>
                <a:cs typeface="+mn-cs"/>
              </a:rPr>
              <a:t>Help using example declarations for </a:t>
            </a:r>
            <a:r>
              <a:rPr kumimoji="0" lang="en-GB" b="0" i="0" u="none" strike="noStrike" kern="1200" cap="none" spc="0" normalizeH="0" baseline="0" noProof="0" dirty="0">
                <a:ln>
                  <a:noFill/>
                </a:ln>
                <a:solidFill>
                  <a:srgbClr val="000000"/>
                </a:solidFill>
                <a:effectLst/>
                <a:uLnTx/>
                <a:uFillTx/>
                <a:latin typeface="Calibri"/>
                <a:ea typeface="+mn-ea"/>
                <a:cs typeface="+mn-cs"/>
                <a:hlinkClick r:id="rId27"/>
              </a:rPr>
              <a:t>Imports</a:t>
            </a:r>
            <a:r>
              <a:rPr kumimoji="0" lang="en-GB" b="0" i="0" u="none" strike="noStrike" kern="1200" cap="none" spc="0" normalizeH="0" baseline="0" noProof="0" dirty="0">
                <a:ln>
                  <a:noFill/>
                </a:ln>
                <a:solidFill>
                  <a:srgbClr val="000000"/>
                </a:solidFill>
                <a:effectLst/>
                <a:uLnTx/>
                <a:uFillTx/>
                <a:latin typeface="Calibri"/>
                <a:ea typeface="+mn-ea"/>
                <a:cs typeface="+mn-cs"/>
              </a:rPr>
              <a:t> and </a:t>
            </a:r>
            <a:r>
              <a:rPr kumimoji="0" lang="en-GB" b="0" i="0" u="none" strike="noStrike" kern="1200" cap="none" spc="0" normalizeH="0" baseline="0" noProof="0" dirty="0">
                <a:ln>
                  <a:noFill/>
                </a:ln>
                <a:effectLst/>
                <a:uLnTx/>
                <a:uFillTx/>
                <a:latin typeface="Calibri"/>
                <a:ea typeface="+mn-ea"/>
                <a:cs typeface="+mn-cs"/>
              </a:rPr>
              <a:t>Exports</a:t>
            </a:r>
            <a:r>
              <a:rPr kumimoji="0" lang="en-GB" b="0" i="0" u="none" strike="noStrike" kern="1200" cap="none" spc="0" normalizeH="0" baseline="0" noProof="0" dirty="0">
                <a:ln>
                  <a:noFill/>
                </a:ln>
                <a:solidFill>
                  <a:srgbClr val="000000"/>
                </a:solidFill>
                <a:effectLst/>
                <a:uLnTx/>
                <a:uFillTx/>
                <a:latin typeface="Calibri"/>
                <a:ea typeface="+mn-ea"/>
                <a:cs typeface="+mn-cs"/>
              </a:rPr>
              <a:t>.</a:t>
            </a:r>
            <a:endParaRPr kumimoji="0" lang="en-GB" b="0" i="0" u="none" strike="noStrike" kern="1200" cap="none" spc="0" normalizeH="0" baseline="0" noProof="0" dirty="0">
              <a:ln>
                <a:noFill/>
              </a:ln>
              <a:solidFill>
                <a:srgbClr val="008680"/>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EE343AD5-D66F-46DF-9ECE-F091EC946F78}"/>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23</a:t>
            </a:fld>
            <a:endParaRPr lang="en-US">
              <a:solidFill>
                <a:srgbClr val="000000">
                  <a:tint val="75000"/>
                </a:srgbClr>
              </a:solidFill>
            </a:endParaRPr>
          </a:p>
        </p:txBody>
      </p:sp>
      <p:grpSp>
        <p:nvGrpSpPr>
          <p:cNvPr id="39" name="Group 38">
            <a:extLst>
              <a:ext uri="{FF2B5EF4-FFF2-40B4-BE49-F238E27FC236}">
                <a16:creationId xmlns:a16="http://schemas.microsoft.com/office/drawing/2014/main" id="{F1452092-ECB1-4B94-BB26-276CC87FCF86}"/>
              </a:ext>
            </a:extLst>
          </p:cNvPr>
          <p:cNvGrpSpPr/>
          <p:nvPr/>
        </p:nvGrpSpPr>
        <p:grpSpPr>
          <a:xfrm>
            <a:off x="685794" y="5652952"/>
            <a:ext cx="635006" cy="745005"/>
            <a:chOff x="686473" y="4635660"/>
            <a:chExt cx="661058" cy="805091"/>
          </a:xfrm>
          <a:solidFill>
            <a:srgbClr val="214A5D"/>
          </a:solidFill>
        </p:grpSpPr>
        <p:sp>
          <p:nvSpPr>
            <p:cNvPr id="40" name="Rectangle: Top Corners Rounded 39">
              <a:extLst>
                <a:ext uri="{FF2B5EF4-FFF2-40B4-BE49-F238E27FC236}">
                  <a16:creationId xmlns:a16="http://schemas.microsoft.com/office/drawing/2014/main" id="{588CF193-D8BB-45CE-B89D-49C7FE7D48B3}"/>
                </a:ext>
              </a:extLst>
            </p:cNvPr>
            <p:cNvSpPr/>
            <p:nvPr/>
          </p:nvSpPr>
          <p:spPr>
            <a:xfrm rot="16200000">
              <a:off x="614456" y="4707677"/>
              <a:ext cx="805091" cy="661058"/>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C595472A-4BC4-40EC-83BB-10A5FB6CA505}"/>
                </a:ext>
              </a:extLst>
            </p:cNvPr>
            <p:cNvSpPr txBox="1"/>
            <p:nvPr/>
          </p:nvSpPr>
          <p:spPr>
            <a:xfrm>
              <a:off x="822341" y="4738058"/>
              <a:ext cx="389323" cy="600297"/>
            </a:xfrm>
            <a:prstGeom prst="rect">
              <a:avLst/>
            </a:prstGeom>
            <a:grpFill/>
          </p:spPr>
          <p:txBody>
            <a:bodyPr wrap="square" rtlCol="0" anchor="ctr">
              <a:spAutoFit/>
            </a:bodyPr>
            <a:lstStyle/>
            <a:p>
              <a:pPr marL="0" marR="0" lvl="0" indent="0" algn="ctr" defTabSz="914400" rtl="0" eaLnBrk="1" fontAlgn="auto" latinLnBrk="0" hangingPunct="1">
                <a:spcBef>
                  <a:spcPts val="0"/>
                </a:spcBef>
                <a:spcAft>
                  <a:spcPts val="0"/>
                </a:spcAft>
                <a:buClrTx/>
                <a:buSzTx/>
                <a:buFontTx/>
                <a:buNone/>
                <a:tabLst/>
                <a:defRPr/>
              </a:pPr>
              <a:r>
                <a:rPr lang="en-GB" sz="2000" b="1">
                  <a:solidFill>
                    <a:srgbClr val="FFFFFF"/>
                  </a:solidFill>
                  <a:latin typeface="Graphik" panose="020B0503030202060203" pitchFamily="34" charset="77"/>
                </a:rPr>
                <a:t>5</a:t>
              </a:r>
              <a:endParaRPr kumimoji="0" lang="en-GB" sz="2000" b="1"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grpSp>
      <p:sp>
        <p:nvSpPr>
          <p:cNvPr id="42" name="TextBox 41">
            <a:extLst>
              <a:ext uri="{FF2B5EF4-FFF2-40B4-BE49-F238E27FC236}">
                <a16:creationId xmlns:a16="http://schemas.microsoft.com/office/drawing/2014/main" id="{0E7FA541-D4C4-411F-8D19-30AA01CD8875}"/>
              </a:ext>
            </a:extLst>
          </p:cNvPr>
          <p:cNvSpPr txBox="1"/>
          <p:nvPr/>
        </p:nvSpPr>
        <p:spPr>
          <a:xfrm>
            <a:off x="1523584" y="5563790"/>
            <a:ext cx="896661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214A5D"/>
                </a:solidFill>
                <a:effectLst/>
                <a:uLnTx/>
                <a:uFillTx/>
                <a:latin typeface="Calibri"/>
                <a:ea typeface="+mn-ea"/>
                <a:cs typeface="+mn-cs"/>
              </a:rPr>
              <a:t>CDS Communication Pack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Calibri"/>
                <a:ea typeface="+mn-ea"/>
                <a:cs typeface="+mn-cs"/>
              </a:rPr>
              <a:t>The </a:t>
            </a:r>
            <a:r>
              <a:rPr kumimoji="0" lang="en-GB" b="0" i="0" u="none" strike="noStrike" kern="1200" cap="none" spc="0" normalizeH="0" baseline="0" noProof="0" dirty="0">
                <a:ln>
                  <a:noFill/>
                </a:ln>
                <a:solidFill>
                  <a:srgbClr val="000000"/>
                </a:solidFill>
                <a:effectLst/>
                <a:uLnTx/>
                <a:uFillTx/>
                <a:latin typeface="Calibri"/>
                <a:ea typeface="+mn-ea"/>
                <a:cs typeface="+mn-cs"/>
                <a:hlinkClick r:id="rId28"/>
              </a:rPr>
              <a:t>CDS Communication Pack</a:t>
            </a:r>
            <a:r>
              <a:rPr kumimoji="0" lang="en-GB" b="0" i="0" u="none" strike="noStrike" kern="1200" cap="none" spc="0" normalizeH="0" baseline="0" noProof="0" dirty="0">
                <a:ln>
                  <a:noFill/>
                </a:ln>
                <a:solidFill>
                  <a:srgbClr val="000000"/>
                </a:solidFill>
                <a:effectLst/>
                <a:uLnTx/>
                <a:uFillTx/>
                <a:latin typeface="Calibri"/>
                <a:ea typeface="+mn-ea"/>
                <a:cs typeface="+mn-cs"/>
              </a:rPr>
              <a:t> is where all the information to help declarants prepare to move to CDS will be published.</a:t>
            </a:r>
            <a:endParaRPr kumimoji="0" lang="en-GB" b="0" i="0" u="none" strike="noStrike" kern="1200" cap="none" spc="0" normalizeH="0" baseline="0" noProof="0" dirty="0">
              <a:ln>
                <a:noFill/>
              </a:ln>
              <a:solidFill>
                <a:srgbClr val="008680"/>
              </a:solidFill>
              <a:effectLst/>
              <a:uLnTx/>
              <a:uFillTx/>
              <a:latin typeface="Calibri"/>
              <a:ea typeface="+mn-ea"/>
              <a:cs typeface="+mn-cs"/>
            </a:endParaRPr>
          </a:p>
        </p:txBody>
      </p:sp>
      <p:sp>
        <p:nvSpPr>
          <p:cNvPr id="15" name="Rectangle: Diagonal Corners Snipped 14">
            <a:extLst>
              <a:ext uri="{FF2B5EF4-FFF2-40B4-BE49-F238E27FC236}">
                <a16:creationId xmlns:a16="http://schemas.microsoft.com/office/drawing/2014/main" id="{19BEF158-15CF-4DC1-91BE-4985111C2A9D}"/>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lIns="91440" tIns="45720" rIns="91440" bIns="45720" rtlCol="0" anchor="ctr"/>
          <a:lstStyle/>
          <a:p>
            <a:pPr>
              <a:spcBef>
                <a:spcPts val="1000"/>
              </a:spcBef>
              <a:spcAft>
                <a:spcPts val="800"/>
              </a:spcAft>
              <a:defRPr/>
            </a:pPr>
            <a:r>
              <a:rPr lang="en-GB">
                <a:solidFill>
                  <a:schemeClr val="bg1"/>
                </a:solidFill>
                <a:latin typeface="Calibri"/>
                <a:ea typeface="Calibri" panose="020F0502020204030204" pitchFamily="34" charset="0"/>
                <a:cs typeface="Calibri"/>
              </a:rPr>
              <a:t>Software Developers may find the below links helpful for understanding the Declarant’s migration journey.</a:t>
            </a:r>
            <a:endParaRPr kumimoji="0" lang="en-GB" sz="1800" b="0" i="0" u="none" strike="noStrike" kern="1200" cap="none" spc="0" normalizeH="0" baseline="0" noProof="0">
              <a:ln>
                <a:noFill/>
              </a:ln>
              <a:solidFill>
                <a:schemeClr val="bg1"/>
              </a:solidFill>
              <a:effectLst/>
              <a:uLnTx/>
              <a:uFillTx/>
              <a:latin typeface="Calibri"/>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3017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770B59D-AB35-471E-9063-98424E456CFB}"/>
              </a:ext>
            </a:extLst>
          </p:cNvPr>
          <p:cNvSpPr/>
          <p:nvPr/>
        </p:nvSpPr>
        <p:spPr>
          <a:xfrm>
            <a:off x="8322142" y="1642751"/>
            <a:ext cx="3876801" cy="5201849"/>
          </a:xfrm>
          <a:prstGeom prst="rect">
            <a:avLst/>
          </a:prstGeom>
          <a:solidFill>
            <a:srgbClr val="00000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E645FF21-6754-4AFC-8E6D-668C3E72A0C8}"/>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24</a:t>
            </a:fld>
            <a:endParaRPr lang="en-US">
              <a:solidFill>
                <a:srgbClr val="000000">
                  <a:tint val="75000"/>
                </a:srgbClr>
              </a:solidFill>
            </a:endParaRPr>
          </a:p>
        </p:txBody>
      </p:sp>
      <p:grpSp>
        <p:nvGrpSpPr>
          <p:cNvPr id="4" name="Group 3">
            <a:extLst>
              <a:ext uri="{FF2B5EF4-FFF2-40B4-BE49-F238E27FC236}">
                <a16:creationId xmlns:a16="http://schemas.microsoft.com/office/drawing/2014/main" id="{3B4CC76E-F8EC-43C7-A029-3867AC6CF91F}"/>
              </a:ext>
            </a:extLst>
          </p:cNvPr>
          <p:cNvGrpSpPr/>
          <p:nvPr/>
        </p:nvGrpSpPr>
        <p:grpSpPr>
          <a:xfrm>
            <a:off x="5162406" y="-63328"/>
            <a:ext cx="6841472" cy="910091"/>
            <a:chOff x="5162406" y="-63328"/>
            <a:chExt cx="6841472" cy="910091"/>
          </a:xfrm>
        </p:grpSpPr>
        <p:graphicFrame>
          <p:nvGraphicFramePr>
            <p:cNvPr id="5" name="Diagram 4">
              <a:extLst>
                <a:ext uri="{FF2B5EF4-FFF2-40B4-BE49-F238E27FC236}">
                  <a16:creationId xmlns:a16="http://schemas.microsoft.com/office/drawing/2014/main" id="{A969A36B-6BD1-4EF2-B57C-F0D6F14C282D}"/>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Clapper board with solid fill">
              <a:extLst>
                <a:ext uri="{FF2B5EF4-FFF2-40B4-BE49-F238E27FC236}">
                  <a16:creationId xmlns:a16="http://schemas.microsoft.com/office/drawing/2014/main" id="{0E02814D-01CB-49CD-9E5D-C39F09ABC8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7" name="Graphic 6" descr="Plugged Unplugged with solid fill">
              <a:extLst>
                <a:ext uri="{FF2B5EF4-FFF2-40B4-BE49-F238E27FC236}">
                  <a16:creationId xmlns:a16="http://schemas.microsoft.com/office/drawing/2014/main" id="{2C559F4D-85A4-4B4F-B6D1-A9236FA5EB4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8" name="Graphic 7" descr="Internet Of Things with solid fill">
              <a:extLst>
                <a:ext uri="{FF2B5EF4-FFF2-40B4-BE49-F238E27FC236}">
                  <a16:creationId xmlns:a16="http://schemas.microsoft.com/office/drawing/2014/main" id="{37351C18-D46B-4819-A0D6-E09DEF6C41D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9" name="Graphic 8" descr="Ui Ux with solid fill">
              <a:extLst>
                <a:ext uri="{FF2B5EF4-FFF2-40B4-BE49-F238E27FC236}">
                  <a16:creationId xmlns:a16="http://schemas.microsoft.com/office/drawing/2014/main" id="{2E7442DE-04EB-4628-A763-D484AFC43DF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0" name="Graphic 9" descr="Open hand with plant with solid fill">
              <a:extLst>
                <a:ext uri="{FF2B5EF4-FFF2-40B4-BE49-F238E27FC236}">
                  <a16:creationId xmlns:a16="http://schemas.microsoft.com/office/drawing/2014/main" id="{2439330B-FDB3-465F-8336-2F0C9827D3F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1" name="Graphic 10" descr="Books with solid fill">
              <a:extLst>
                <a:ext uri="{FF2B5EF4-FFF2-40B4-BE49-F238E27FC236}">
                  <a16:creationId xmlns:a16="http://schemas.microsoft.com/office/drawing/2014/main" id="{FFC26DCC-7827-4931-B6B8-29DCAA7CFEB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2" name="Graphic 11" descr="Questions with solid fill">
              <a:extLst>
                <a:ext uri="{FF2B5EF4-FFF2-40B4-BE49-F238E27FC236}">
                  <a16:creationId xmlns:a16="http://schemas.microsoft.com/office/drawing/2014/main" id="{FAFEA120-B809-47EA-9F59-2614CDE2CA3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3" name="Rectangle: Diagonal Corners Rounded 12">
            <a:extLst>
              <a:ext uri="{FF2B5EF4-FFF2-40B4-BE49-F238E27FC236}">
                <a16:creationId xmlns:a16="http://schemas.microsoft.com/office/drawing/2014/main" id="{701F3663-4DFE-4ADF-B763-F9A6DB97D971}"/>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Guidance</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4" name="Rectangle: Diagonal Corners Snipped 13">
            <a:extLst>
              <a:ext uri="{FF2B5EF4-FFF2-40B4-BE49-F238E27FC236}">
                <a16:creationId xmlns:a16="http://schemas.microsoft.com/office/drawing/2014/main" id="{96BA74FF-FA44-4CAB-874F-8B95EC805032}"/>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lang="en-GB" sz="1800">
                <a:solidFill>
                  <a:schemeClr val="bg1"/>
                </a:solidFill>
              </a:rPr>
              <a:t>Below you will find support information to guide you through your journey to CDS Live.</a:t>
            </a:r>
            <a:endParaRPr lang="en-US">
              <a:solidFill>
                <a:schemeClr val="bg1"/>
              </a:solidFill>
            </a:endParaRPr>
          </a:p>
        </p:txBody>
      </p:sp>
      <p:sp>
        <p:nvSpPr>
          <p:cNvPr id="15" name="TextBox 14">
            <a:extLst>
              <a:ext uri="{FF2B5EF4-FFF2-40B4-BE49-F238E27FC236}">
                <a16:creationId xmlns:a16="http://schemas.microsoft.com/office/drawing/2014/main" id="{A0CF5105-0C90-4E8A-807D-6D8018A62B48}"/>
              </a:ext>
            </a:extLst>
          </p:cNvPr>
          <p:cNvSpPr txBox="1"/>
          <p:nvPr/>
        </p:nvSpPr>
        <p:spPr>
          <a:xfrm>
            <a:off x="449751" y="1784245"/>
            <a:ext cx="7385244" cy="4422987"/>
          </a:xfrm>
          <a:prstGeom prst="rect">
            <a:avLst/>
          </a:prstGeom>
          <a:noFill/>
        </p:spPr>
        <p:txBody>
          <a:bodyPr wrap="square" lIns="91440" tIns="45720" rIns="91440" bIns="45720" rtlCol="0" anchor="ctr">
            <a:noAutofit/>
          </a:bodyPr>
          <a:lstStyle/>
          <a:p>
            <a:endParaRPr lang="en-GB" sz="1600" b="1" u="sng">
              <a:solidFill>
                <a:srgbClr val="008680"/>
              </a:solidFill>
              <a:ea typeface="+mn-lt"/>
              <a:cs typeface="+mn-lt"/>
            </a:endParaRPr>
          </a:p>
          <a:p>
            <a:pPr lvl="1"/>
            <a:r>
              <a:rPr lang="en-GB" sz="1600">
                <a:ea typeface="+mn-lt"/>
                <a:cs typeface="+mn-lt"/>
              </a:rPr>
              <a:t>Due diligence: i</a:t>
            </a:r>
            <a:r>
              <a:rPr lang="en-GB" sz="1600">
                <a:solidFill>
                  <a:schemeClr val="tx1"/>
                </a:solidFill>
                <a:ea typeface="+mn-lt"/>
                <a:cs typeface="+mn-lt"/>
              </a:rPr>
              <a:t>t is important that </a:t>
            </a:r>
            <a:r>
              <a:rPr lang="en-GB" sz="1600">
                <a:ea typeface="+mn-lt"/>
                <a:cs typeface="+mn-lt"/>
              </a:rPr>
              <a:t>D</a:t>
            </a:r>
            <a:r>
              <a:rPr lang="en-GB" sz="1600">
                <a:solidFill>
                  <a:schemeClr val="tx1"/>
                </a:solidFill>
                <a:ea typeface="+mn-lt"/>
                <a:cs typeface="+mn-lt"/>
              </a:rPr>
              <a:t>eclarants ensure they have populated all the required data elements in their declaration correctly. They should also check if they need to submit any additional supporting documentation.</a:t>
            </a:r>
          </a:p>
          <a:p>
            <a:pPr lvl="1"/>
            <a:endParaRPr lang="en-GB" sz="1600">
              <a:ea typeface="+mn-lt"/>
              <a:cs typeface="+mn-lt"/>
            </a:endParaRPr>
          </a:p>
          <a:p>
            <a:pPr lvl="1"/>
            <a:r>
              <a:rPr lang="en-GB" sz="1600">
                <a:solidFill>
                  <a:schemeClr val="tx1"/>
                </a:solidFill>
                <a:ea typeface="+mn-lt"/>
                <a:cs typeface="+mn-lt"/>
              </a:rPr>
              <a:t>Do not use TDR for </a:t>
            </a:r>
            <a:r>
              <a:rPr lang="en-GB" sz="1600">
                <a:ea typeface="+mn-lt"/>
                <a:cs typeface="+mn-lt"/>
              </a:rPr>
              <a:t>performance or technical </a:t>
            </a:r>
            <a:r>
              <a:rPr lang="en-GB" sz="1600">
                <a:solidFill>
                  <a:schemeClr val="tx1"/>
                </a:solidFill>
                <a:ea typeface="+mn-lt"/>
                <a:cs typeface="+mn-lt"/>
              </a:rPr>
              <a:t>testing.</a:t>
            </a:r>
          </a:p>
          <a:p>
            <a:pPr lvl="1"/>
            <a:endParaRPr lang="en-GB" sz="1600">
              <a:solidFill>
                <a:schemeClr val="tx1"/>
              </a:solidFill>
              <a:ea typeface="+mn-lt"/>
              <a:cs typeface="+mn-lt"/>
            </a:endParaRPr>
          </a:p>
          <a:p>
            <a:pPr lvl="1"/>
            <a:r>
              <a:rPr lang="en-GB" sz="1600">
                <a:ea typeface="+mn-lt"/>
                <a:cs typeface="+mn-lt"/>
              </a:rPr>
              <a:t>Please ensure a Declarant requests access to CDS Live in advance to avoid delays.</a:t>
            </a:r>
          </a:p>
          <a:p>
            <a:pPr lvl="1"/>
            <a:endParaRPr lang="en-GB" sz="1600">
              <a:ea typeface="+mn-lt"/>
              <a:cs typeface="+mn-lt"/>
            </a:endParaRPr>
          </a:p>
          <a:p>
            <a:pPr lvl="1"/>
            <a:r>
              <a:rPr lang="en-GB" sz="1600">
                <a:solidFill>
                  <a:schemeClr val="tx1"/>
                </a:solidFill>
                <a:ea typeface="+mn-lt"/>
                <a:cs typeface="+mn-lt"/>
              </a:rPr>
              <a:t>Refer to </a:t>
            </a:r>
            <a:r>
              <a:rPr lang="en-GB" sz="1600" b="1">
                <a:solidFill>
                  <a:srgbClr val="00928D"/>
                </a:solidFill>
                <a:ea typeface="+mn-lt"/>
                <a:cs typeface="+mn-lt"/>
                <a:hlinkClick r:id="rId21"/>
              </a:rPr>
              <a:t>GOV.UK </a:t>
            </a:r>
            <a:r>
              <a:rPr lang="en-GB" sz="1600">
                <a:solidFill>
                  <a:schemeClr val="tx1"/>
                </a:solidFill>
                <a:ea typeface="+mn-lt"/>
                <a:cs typeface="+mn-lt"/>
              </a:rPr>
              <a:t>for extra </a:t>
            </a:r>
            <a:r>
              <a:rPr lang="en-GB" sz="1600">
                <a:ea typeface="+mn-lt"/>
                <a:cs typeface="+mn-lt"/>
              </a:rPr>
              <a:t>guidance.</a:t>
            </a:r>
          </a:p>
          <a:p>
            <a:pPr lvl="1"/>
            <a:endParaRPr lang="en-GB" sz="1600">
              <a:solidFill>
                <a:schemeClr val="tx1"/>
              </a:solidFill>
              <a:ea typeface="+mn-lt"/>
              <a:cs typeface="+mn-lt"/>
            </a:endParaRPr>
          </a:p>
          <a:p>
            <a:pPr lvl="1"/>
            <a:r>
              <a:rPr lang="en-GB" sz="1600">
                <a:ea typeface="+mn-lt"/>
                <a:cs typeface="+mn-lt"/>
              </a:rPr>
              <a:t>Communicate and coordinate with all parties including CSPs to ensure a smooth submission process in CDS Live.</a:t>
            </a:r>
          </a:p>
          <a:p>
            <a:pPr lvl="1"/>
            <a:endParaRPr lang="en-GB" sz="1600">
              <a:ea typeface="+mn-lt"/>
              <a:cs typeface="+mn-lt"/>
            </a:endParaRPr>
          </a:p>
          <a:p>
            <a:pPr lvl="1"/>
            <a:r>
              <a:rPr lang="en-GB" sz="1600">
                <a:ea typeface="+mn-lt"/>
                <a:cs typeface="+mn-lt"/>
              </a:rPr>
              <a:t>Review the </a:t>
            </a:r>
            <a:r>
              <a:rPr lang="en-GB" sz="1600" b="1">
                <a:solidFill>
                  <a:srgbClr val="00928D"/>
                </a:solidFill>
                <a:ea typeface="+mn-lt"/>
                <a:cs typeface="+mn-lt"/>
                <a:hlinkClick r:id="rId22">
                  <a:extLst>
                    <a:ext uri="{A12FA001-AC4F-418D-AE19-62706E023703}">
                      <ahyp:hlinkClr xmlns:ahyp="http://schemas.microsoft.com/office/drawing/2018/hyperlinkcolor" val="tx"/>
                    </a:ext>
                  </a:extLst>
                </a:hlinkClick>
              </a:rPr>
              <a:t>Customs Declaration Toolkit</a:t>
            </a:r>
            <a:r>
              <a:rPr lang="en-GB" sz="1600">
                <a:ea typeface="+mn-lt"/>
                <a:cs typeface="+mn-lt"/>
              </a:rPr>
              <a:t>.</a:t>
            </a:r>
          </a:p>
        </p:txBody>
      </p:sp>
      <p:pic>
        <p:nvPicPr>
          <p:cNvPr id="16" name="Graphic 15" descr="Document with solid fill">
            <a:extLst>
              <a:ext uri="{FF2B5EF4-FFF2-40B4-BE49-F238E27FC236}">
                <a16:creationId xmlns:a16="http://schemas.microsoft.com/office/drawing/2014/main" id="{561D1C45-3590-47E9-AB59-B25BC068C8F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42808" y="2561924"/>
            <a:ext cx="412525" cy="412525"/>
          </a:xfrm>
          <a:prstGeom prst="rect">
            <a:avLst/>
          </a:prstGeom>
        </p:spPr>
      </p:pic>
      <p:pic>
        <p:nvPicPr>
          <p:cNvPr id="17" name="Graphic 16" descr="Questions with solid fill">
            <a:extLst>
              <a:ext uri="{FF2B5EF4-FFF2-40B4-BE49-F238E27FC236}">
                <a16:creationId xmlns:a16="http://schemas.microsoft.com/office/drawing/2014/main" id="{944047BE-4C67-481C-BC7B-27E6F504A98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49001" y="4311398"/>
            <a:ext cx="412525" cy="412525"/>
          </a:xfrm>
          <a:prstGeom prst="rect">
            <a:avLst/>
          </a:prstGeom>
        </p:spPr>
      </p:pic>
      <p:pic>
        <p:nvPicPr>
          <p:cNvPr id="18" name="Graphic 17" descr="Speaker phone with solid fill">
            <a:extLst>
              <a:ext uri="{FF2B5EF4-FFF2-40B4-BE49-F238E27FC236}">
                <a16:creationId xmlns:a16="http://schemas.microsoft.com/office/drawing/2014/main" id="{57A8D6A6-1F50-47AC-818E-12F371EF5E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28995" y="4880063"/>
            <a:ext cx="440151" cy="440151"/>
          </a:xfrm>
          <a:prstGeom prst="rect">
            <a:avLst/>
          </a:prstGeom>
        </p:spPr>
      </p:pic>
      <p:pic>
        <p:nvPicPr>
          <p:cNvPr id="19" name="Graphic 18" descr="Wrench with solid fill">
            <a:extLst>
              <a:ext uri="{FF2B5EF4-FFF2-40B4-BE49-F238E27FC236}">
                <a16:creationId xmlns:a16="http://schemas.microsoft.com/office/drawing/2014/main" id="{74C13574-5AF5-46C9-9F93-F8A7D492C17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82878" y="5541299"/>
            <a:ext cx="332384" cy="332384"/>
          </a:xfrm>
          <a:prstGeom prst="rect">
            <a:avLst/>
          </a:prstGeom>
        </p:spPr>
      </p:pic>
      <p:pic>
        <p:nvPicPr>
          <p:cNvPr id="20" name="Graphic 19" descr="Microscope with solid fill">
            <a:extLst>
              <a:ext uri="{FF2B5EF4-FFF2-40B4-BE49-F238E27FC236}">
                <a16:creationId xmlns:a16="http://schemas.microsoft.com/office/drawing/2014/main" id="{9E2208EF-C533-4792-9AB5-55479DA77E3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28995" y="3257972"/>
            <a:ext cx="440151" cy="440151"/>
          </a:xfrm>
          <a:prstGeom prst="rect">
            <a:avLst/>
          </a:prstGeom>
        </p:spPr>
      </p:pic>
      <p:pic>
        <p:nvPicPr>
          <p:cNvPr id="21" name="Graphic 20" descr="Ui Ux with solid fill">
            <a:extLst>
              <a:ext uri="{FF2B5EF4-FFF2-40B4-BE49-F238E27FC236}">
                <a16:creationId xmlns:a16="http://schemas.microsoft.com/office/drawing/2014/main" id="{8BD91916-E9EB-4C57-AD1C-39653EF963E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449001" y="3826917"/>
            <a:ext cx="400137" cy="400137"/>
          </a:xfrm>
          <a:prstGeom prst="rect">
            <a:avLst/>
          </a:prstGeom>
        </p:spPr>
      </p:pic>
      <p:sp>
        <p:nvSpPr>
          <p:cNvPr id="22" name="TextBox 21">
            <a:extLst>
              <a:ext uri="{FF2B5EF4-FFF2-40B4-BE49-F238E27FC236}">
                <a16:creationId xmlns:a16="http://schemas.microsoft.com/office/drawing/2014/main" id="{D8696AA5-97DF-418D-9A77-35392BE88552}"/>
              </a:ext>
            </a:extLst>
          </p:cNvPr>
          <p:cNvSpPr txBox="1"/>
          <p:nvPr/>
        </p:nvSpPr>
        <p:spPr>
          <a:xfrm>
            <a:off x="8468140" y="1898332"/>
            <a:ext cx="3535738" cy="4819268"/>
          </a:xfrm>
          <a:prstGeom prst="rect">
            <a:avLst/>
          </a:prstGeom>
          <a:noFill/>
          <a:ln>
            <a:noFill/>
          </a:ln>
        </p:spPr>
        <p:txBody>
          <a:bodyPr wrap="square">
            <a:spAutoFit/>
          </a:bodyPr>
          <a:lstStyle/>
          <a:p>
            <a:pPr marL="285750" indent="-285750">
              <a:buFont typeface="Arial" panose="020B0604020202020204" pitchFamily="34" charset="0"/>
              <a:buChar char="•"/>
            </a:pPr>
            <a:r>
              <a:rPr lang="en-GB" sz="1400">
                <a:solidFill>
                  <a:schemeClr val="bg1"/>
                </a:solidFill>
                <a:latin typeface="+mj-lt"/>
                <a:cs typeface="Calibri"/>
              </a:rPr>
              <a:t>Please use </a:t>
            </a:r>
            <a:r>
              <a:rPr lang="en-GB" sz="1400" b="1" i="0">
                <a:solidFill>
                  <a:schemeClr val="bg1"/>
                </a:solidFill>
                <a:effectLst/>
                <a:latin typeface="GDS Transport"/>
                <a:hlinkClick r:id="rId33">
                  <a:extLst>
                    <a:ext uri="{A12FA001-AC4F-418D-AE19-62706E023703}">
                      <ahyp:hlinkClr xmlns:ahyp="http://schemas.microsoft.com/office/drawing/2018/hyperlinkcolor" val="tx"/>
                    </a:ext>
                  </a:extLst>
                </a:hlinkClick>
              </a:rPr>
              <a:t>CDS error codes </a:t>
            </a:r>
            <a:r>
              <a:rPr lang="en-GB" sz="1400" i="0">
                <a:solidFill>
                  <a:schemeClr val="bg1"/>
                </a:solidFill>
                <a:effectLst/>
                <a:latin typeface="GDS Transport"/>
              </a:rPr>
              <a:t>to view the most common errors that Declarants may face.</a:t>
            </a:r>
          </a:p>
          <a:p>
            <a:pPr marL="285750" indent="-285750">
              <a:lnSpc>
                <a:spcPct val="107000"/>
              </a:lnSpc>
              <a:spcAft>
                <a:spcPts val="800"/>
              </a:spcAft>
              <a:buFont typeface="Arial" panose="020B0604020202020204" pitchFamily="34" charset="0"/>
              <a:buChar char="•"/>
            </a:pPr>
            <a:r>
              <a:rPr lang="en-GB" sz="1400">
                <a:solidFill>
                  <a:schemeClr val="bg1"/>
                </a:solidFill>
                <a:effectLst/>
                <a:ea typeface="Calibri" panose="020F0502020204030204" pitchFamily="34" charset="0"/>
                <a:cs typeface="Calibri" panose="020F0502020204030204" pitchFamily="34" charset="0"/>
              </a:rPr>
              <a:t>You will also find tutorials on </a:t>
            </a:r>
            <a:r>
              <a:rPr lang="en-GB" sz="1400" b="1">
                <a:solidFill>
                  <a:schemeClr val="bg1"/>
                </a:solidFill>
                <a:effectLst/>
                <a:ea typeface="Calibri" panose="020F0502020204030204" pitchFamily="34" charset="0"/>
                <a:cs typeface="Calibri" panose="020F0502020204030204" pitchFamily="34" charset="0"/>
                <a:hlinkClick r:id="rId34">
                  <a:extLst>
                    <a:ext uri="{A12FA001-AC4F-418D-AE19-62706E023703}">
                      <ahyp:hlinkClr xmlns:ahyp="http://schemas.microsoft.com/office/drawing/2018/hyperlinkcolor" val="tx"/>
                    </a:ext>
                  </a:extLst>
                </a:hlinkClick>
              </a:rPr>
              <a:t>Developer Hub</a:t>
            </a:r>
            <a:r>
              <a:rPr lang="en-GB" sz="1400" b="1">
                <a:solidFill>
                  <a:schemeClr val="bg1"/>
                </a:solidFill>
                <a:effectLst/>
                <a:ea typeface="Calibri" panose="020F0502020204030204" pitchFamily="34" charset="0"/>
                <a:cs typeface="Calibri" panose="020F0502020204030204" pitchFamily="34" charset="0"/>
              </a:rPr>
              <a:t> </a:t>
            </a:r>
            <a:r>
              <a:rPr lang="en-GB" sz="1400">
                <a:solidFill>
                  <a:schemeClr val="bg1"/>
                </a:solidFill>
                <a:effectLst/>
                <a:ea typeface="Calibri" panose="020F0502020204030204" pitchFamily="34" charset="0"/>
                <a:cs typeface="Calibri" panose="020F0502020204030204" pitchFamily="34" charset="0"/>
              </a:rPr>
              <a:t>covering a broad range of topics including:</a:t>
            </a:r>
          </a:p>
          <a:p>
            <a:pPr marL="742950" lvl="1" indent="-285750">
              <a:lnSpc>
                <a:spcPct val="107000"/>
              </a:lnSpc>
              <a:spcAft>
                <a:spcPts val="800"/>
              </a:spcAft>
              <a:buFont typeface="Arial" panose="020B0604020202020204" pitchFamily="34" charset="0"/>
              <a:buChar char="•"/>
            </a:pPr>
            <a:r>
              <a:rPr lang="en-GB" sz="1400">
                <a:solidFill>
                  <a:schemeClr val="bg1"/>
                </a:solidFill>
                <a:ea typeface="Calibri" panose="020F0502020204030204" pitchFamily="34" charset="0"/>
                <a:cs typeface="Calibri" panose="020F0502020204030204" pitchFamily="34" charset="0"/>
              </a:rPr>
              <a:t>Issuing a Get request.</a:t>
            </a:r>
            <a:endParaRPr lang="en-GB" sz="1400">
              <a:solidFill>
                <a:schemeClr val="bg1"/>
              </a:solidFill>
              <a:effectLst/>
              <a:ea typeface="Calibri" panose="020F0502020204030204" pitchFamily="34" charset="0"/>
              <a:cs typeface="Calibri" panose="020F0502020204030204" pitchFamily="34" charset="0"/>
            </a:endParaRPr>
          </a:p>
          <a:p>
            <a:pPr marL="742950" lvl="1" indent="-285750">
              <a:lnSpc>
                <a:spcPct val="107000"/>
              </a:lnSpc>
              <a:spcAft>
                <a:spcPts val="800"/>
              </a:spcAft>
              <a:buFont typeface="Arial" panose="020B0604020202020204" pitchFamily="34" charset="0"/>
              <a:buChar char="•"/>
            </a:pPr>
            <a:r>
              <a:rPr lang="en-GB" sz="1400">
                <a:solidFill>
                  <a:schemeClr val="bg1"/>
                </a:solidFill>
                <a:ea typeface="Calibri" panose="020F0502020204030204" pitchFamily="34" charset="0"/>
                <a:cs typeface="Calibri" panose="020F0502020204030204" pitchFamily="34" charset="0"/>
              </a:rPr>
              <a:t>Accessing an application–restricted endpoint.</a:t>
            </a:r>
          </a:p>
          <a:p>
            <a:pPr marL="742950" lvl="1" indent="-285750">
              <a:lnSpc>
                <a:spcPct val="107000"/>
              </a:lnSpc>
              <a:spcAft>
                <a:spcPts val="800"/>
              </a:spcAft>
              <a:buFont typeface="Arial" panose="020B0604020202020204" pitchFamily="34" charset="0"/>
              <a:buChar char="•"/>
            </a:pPr>
            <a:r>
              <a:rPr lang="en-GB" sz="1400">
                <a:solidFill>
                  <a:schemeClr val="bg1"/>
                </a:solidFill>
                <a:ea typeface="Calibri" panose="020F0502020204030204" pitchFamily="34" charset="0"/>
                <a:cs typeface="Calibri" panose="020F0502020204030204" pitchFamily="34" charset="0"/>
              </a:rPr>
              <a:t>Accessing a user-restricted endpoint.</a:t>
            </a:r>
          </a:p>
          <a:p>
            <a:pPr marL="285750" marR="0" lvl="0" indent="-285750"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en-GB" sz="1400">
                <a:solidFill>
                  <a:schemeClr val="bg1"/>
                </a:solidFill>
                <a:ea typeface="Calibri" panose="020F0502020204030204" pitchFamily="34" charset="0"/>
                <a:cs typeface="72 Condensed" panose="020B0506030000000003" pitchFamily="34" charset="0"/>
              </a:rPr>
              <a:t>There are several Trade Associations, Groups and Forums representing UK freight forwarders. These organisations support businesses involved in the movement of goods internationally on behalf of Importers and Exporters.</a:t>
            </a:r>
            <a:r>
              <a:rPr lang="en-GB" sz="1400" b="1">
                <a:solidFill>
                  <a:schemeClr val="bg1"/>
                </a:solidFill>
                <a:ea typeface="Calibri" panose="020F0502020204030204" pitchFamily="34" charset="0"/>
                <a:cs typeface="72 Condensed" panose="020B0506030000000003" pitchFamily="34" charset="0"/>
              </a:rPr>
              <a:t> Use their websites to keep up to date with the latest news, training, events.</a:t>
            </a:r>
            <a:endParaRPr lang="en-GB" sz="1400" b="1">
              <a:solidFill>
                <a:schemeClr val="bg1"/>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8366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2ED907A-3530-42B0-A65E-836FE11E9FA4}"/>
              </a:ext>
            </a:extLst>
          </p:cNvPr>
          <p:cNvSpPr/>
          <p:nvPr/>
        </p:nvSpPr>
        <p:spPr>
          <a:xfrm>
            <a:off x="-1" y="5518513"/>
            <a:ext cx="12192001" cy="1339488"/>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1E83B912-E642-4CD6-9A05-03CFFB525A56}"/>
              </a:ext>
            </a:extLst>
          </p:cNvPr>
          <p:cNvSpPr txBox="1"/>
          <p:nvPr/>
        </p:nvSpPr>
        <p:spPr>
          <a:xfrm>
            <a:off x="1487808" y="5887845"/>
            <a:ext cx="2787282" cy="705258"/>
          </a:xfrm>
          <a:prstGeom prst="rect">
            <a:avLst/>
          </a:prstGeom>
          <a:noFill/>
        </p:spPr>
        <p:txBody>
          <a:bodyPr wrap="square" rtlCol="0" anchor="ctr">
            <a:spAutoFit/>
          </a:bodyPr>
          <a:lstStyle/>
          <a:p>
            <a:pPr algn="ctr">
              <a:lnSpc>
                <a:spcPct val="150000"/>
              </a:lnSpc>
              <a:defRPr/>
            </a:pPr>
            <a:r>
              <a:rPr kumimoji="0" lang="en-GB" sz="1400" b="0" i="0" u="none" strike="noStrike" kern="1200" cap="none" spc="0" normalizeH="0" baseline="0" noProof="0" dirty="0">
                <a:ln>
                  <a:noFill/>
                </a:ln>
                <a:solidFill>
                  <a:schemeClr val="bg1"/>
                </a:solidFill>
                <a:effectLst/>
                <a:uLnTx/>
                <a:uFillTx/>
                <a:ea typeface="Calibri" panose="020F0502020204030204" pitchFamily="34" charset="0"/>
                <a:cs typeface="Times New Roman"/>
                <a:hlinkClick r:id="rId2">
                  <a:extLst>
                    <a:ext uri="{A12FA001-AC4F-418D-AE19-62706E023703}">
                      <ahyp:hlinkClr xmlns:ahyp="http://schemas.microsoft.com/office/drawing/2018/hyperlinkcolor" val="tx"/>
                    </a:ext>
                  </a:extLst>
                </a:hlinkClick>
              </a:rPr>
              <a:t>CDS – General</a:t>
            </a:r>
            <a:endParaRPr kumimoji="0" lang="en-GB" sz="1400" b="0" i="0" u="none" strike="noStrike" kern="1200" cap="none" spc="0" normalizeH="0" baseline="0" noProof="0" dirty="0">
              <a:ln>
                <a:noFill/>
              </a:ln>
              <a:solidFill>
                <a:schemeClr val="bg1"/>
              </a:solidFill>
              <a:effectLst/>
              <a:uLnTx/>
              <a:uFillTx/>
              <a:ea typeface="Calibri" panose="020F0502020204030204" pitchFamily="34" charset="0"/>
              <a:cs typeface="Times New Roman"/>
            </a:endParaRPr>
          </a:p>
          <a:p>
            <a:pPr algn="ctr">
              <a:lnSpc>
                <a:spcPct val="150000"/>
              </a:lnSpc>
              <a:defRPr/>
            </a:pPr>
            <a:r>
              <a:rPr kumimoji="0" lang="en-GB" sz="1400" b="0" i="0" u="none" strike="noStrike" kern="1200" cap="none" spc="0" normalizeH="0" baseline="0" noProof="0" dirty="0">
                <a:ln>
                  <a:noFill/>
                </a:ln>
                <a:solidFill>
                  <a:schemeClr val="bg1"/>
                </a:solidFill>
                <a:effectLst/>
                <a:uLnTx/>
                <a:uFillTx/>
                <a:ea typeface="Calibri" panose="020F0502020204030204" pitchFamily="34" charset="0"/>
                <a:cs typeface="Times New Roman"/>
                <a:hlinkClick r:id="rId3">
                  <a:extLst>
                    <a:ext uri="{A12FA001-AC4F-418D-AE19-62706E023703}">
                      <ahyp:hlinkClr xmlns:ahyp="http://schemas.microsoft.com/office/drawing/2018/hyperlinkcolor" val="tx"/>
                    </a:ext>
                  </a:extLst>
                </a:hlinkClick>
              </a:rPr>
              <a:t>Supplementary Declarations</a:t>
            </a:r>
            <a:endParaRPr lang="en-GB" sz="1400" dirty="0">
              <a:solidFill>
                <a:schemeClr val="bg1"/>
              </a:solidFill>
              <a:ea typeface="Calibri" panose="020F0502020204030204" pitchFamily="34" charset="0"/>
              <a:cs typeface="Times New Roman"/>
            </a:endParaRPr>
          </a:p>
        </p:txBody>
      </p:sp>
      <p:sp>
        <p:nvSpPr>
          <p:cNvPr id="6" name="TextBox 5">
            <a:extLst>
              <a:ext uri="{FF2B5EF4-FFF2-40B4-BE49-F238E27FC236}">
                <a16:creationId xmlns:a16="http://schemas.microsoft.com/office/drawing/2014/main" id="{0680530B-71F2-4903-B987-E6ACFE3930DC}"/>
              </a:ext>
            </a:extLst>
          </p:cNvPr>
          <p:cNvSpPr txBox="1"/>
          <p:nvPr/>
        </p:nvSpPr>
        <p:spPr>
          <a:xfrm>
            <a:off x="4702359" y="5887845"/>
            <a:ext cx="2787282" cy="705258"/>
          </a:xfrm>
          <a:prstGeom prst="rect">
            <a:avLst/>
          </a:prstGeom>
          <a:noFill/>
        </p:spPr>
        <p:txBody>
          <a:bodyPr wrap="square"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bg1"/>
                </a:solidFill>
                <a:effectLst/>
                <a:uLnTx/>
                <a:uFillTx/>
                <a:hlinkClick r:id="rId4">
                  <a:extLst>
                    <a:ext uri="{A12FA001-AC4F-418D-AE19-62706E023703}">
                      <ahyp:hlinkClr xmlns:ahyp="http://schemas.microsoft.com/office/drawing/2018/hyperlinkcolor" val="tx"/>
                    </a:ext>
                  </a:extLst>
                </a:hlinkClick>
              </a:rPr>
              <a:t>Sending Goods out of the UK</a:t>
            </a:r>
            <a:endParaRPr kumimoji="0" lang="en-GB" sz="1400" b="0" i="0" u="none" strike="noStrike" kern="1200" cap="none" spc="0" normalizeH="0" baseline="0" noProof="0" dirty="0">
              <a:ln>
                <a:noFill/>
              </a:ln>
              <a:solidFill>
                <a:schemeClr val="bg1"/>
              </a:solidFill>
              <a:effectLst/>
              <a:uLnTx/>
              <a:uFillTx/>
            </a:endParaRPr>
          </a:p>
          <a:p>
            <a:pPr algn="ctr">
              <a:lnSpc>
                <a:spcPct val="150000"/>
              </a:lnSpc>
              <a:defRPr/>
            </a:pPr>
            <a:r>
              <a:rPr kumimoji="0" lang="en-GB" sz="1400" b="0" i="0" u="none" strike="noStrike" kern="1200" cap="none" spc="0" normalizeH="0" baseline="0" noProof="0" dirty="0">
                <a:ln>
                  <a:noFill/>
                </a:ln>
                <a:solidFill>
                  <a:schemeClr val="bg1"/>
                </a:solidFill>
                <a:effectLst/>
                <a:uLnTx/>
                <a:uFillTx/>
                <a:ea typeface="Calibri" panose="020F0502020204030204" pitchFamily="34" charset="0"/>
                <a:cs typeface="Times New Roman"/>
                <a:hlinkClick r:id="rId5">
                  <a:extLst>
                    <a:ext uri="{A12FA001-AC4F-418D-AE19-62706E023703}">
                      <ahyp:hlinkClr xmlns:ahyp="http://schemas.microsoft.com/office/drawing/2018/hyperlinkcolor" val="tx"/>
                    </a:ext>
                  </a:extLst>
                </a:hlinkClick>
              </a:rPr>
              <a:t>New Rules for Exports</a:t>
            </a:r>
            <a:endParaRPr kumimoji="0" lang="en-GB" sz="1400" b="0" i="0" u="none" strike="noStrike" kern="1200" cap="none" spc="0" normalizeH="0" baseline="0" noProof="0" dirty="0">
              <a:ln>
                <a:noFill/>
              </a:ln>
              <a:solidFill>
                <a:schemeClr val="bg1"/>
              </a:solidFill>
              <a:effectLst/>
              <a:uLnTx/>
              <a:uFillTx/>
              <a:ea typeface="Calibri" panose="020F0502020204030204" pitchFamily="34" charset="0"/>
              <a:cs typeface="Times New Roman"/>
            </a:endParaRPr>
          </a:p>
        </p:txBody>
      </p:sp>
      <p:sp>
        <p:nvSpPr>
          <p:cNvPr id="7" name="TextBox 6">
            <a:extLst>
              <a:ext uri="{FF2B5EF4-FFF2-40B4-BE49-F238E27FC236}">
                <a16:creationId xmlns:a16="http://schemas.microsoft.com/office/drawing/2014/main" id="{9BA27E0E-CA98-4C42-8E07-12191E4312B0}"/>
              </a:ext>
            </a:extLst>
          </p:cNvPr>
          <p:cNvSpPr txBox="1"/>
          <p:nvPr/>
        </p:nvSpPr>
        <p:spPr>
          <a:xfrm>
            <a:off x="7916910" y="5889660"/>
            <a:ext cx="2921056" cy="705258"/>
          </a:xfrm>
          <a:prstGeom prst="rect">
            <a:avLst/>
          </a:prstGeom>
          <a:noFill/>
        </p:spPr>
        <p:txBody>
          <a:bodyPr wrap="square" lIns="91440" tIns="45720" rIns="91440" bIns="45720" anchor="ctr">
            <a:spAutoFit/>
          </a:bodyPr>
          <a:lstStyle/>
          <a:p>
            <a:pPr algn="ctr">
              <a:lnSpc>
                <a:spcPct val="150000"/>
              </a:lnSpc>
              <a:defRPr/>
            </a:pPr>
            <a:r>
              <a:rPr lang="en-GB" sz="1400" dirty="0">
                <a:solidFill>
                  <a:schemeClr val="bg1"/>
                </a:solidFill>
                <a:hlinkClick r:id="rId6">
                  <a:extLst>
                    <a:ext uri="{A12FA001-AC4F-418D-AE19-62706E023703}">
                      <ahyp:hlinkClr xmlns:ahyp="http://schemas.microsoft.com/office/drawing/2018/hyperlinkcolor" val="tx"/>
                    </a:ext>
                  </a:extLst>
                </a:hlinkClick>
              </a:rPr>
              <a:t>Clearance Instructions for Exports</a:t>
            </a:r>
            <a:endParaRPr lang="en-GB" sz="1400" dirty="0">
              <a:solidFill>
                <a:schemeClr val="bg1"/>
              </a:solidFill>
            </a:endParaRPr>
          </a:p>
          <a:p>
            <a:pPr algn="ctr">
              <a:lnSpc>
                <a:spcPct val="150000"/>
              </a:lnSpc>
              <a:defRPr/>
            </a:pPr>
            <a:r>
              <a:rPr lang="en-GB" sz="1400" dirty="0">
                <a:solidFill>
                  <a:schemeClr val="bg1"/>
                </a:solidFill>
                <a:cs typeface="Times New Roman"/>
                <a:hlinkClick r:id="rId7">
                  <a:extLst>
                    <a:ext uri="{A12FA001-AC4F-418D-AE19-62706E023703}">
                      <ahyp:hlinkClr xmlns:ahyp="http://schemas.microsoft.com/office/drawing/2018/hyperlinkcolor" val="tx"/>
                    </a:ext>
                  </a:extLst>
                </a:hlinkClick>
              </a:rPr>
              <a:t>Clearance Instructions for Imports</a:t>
            </a:r>
            <a:endParaRPr lang="en-GB" sz="1400" dirty="0">
              <a:solidFill>
                <a:schemeClr val="bg1"/>
              </a:solidFill>
              <a:cs typeface="Times New Roman"/>
            </a:endParaRPr>
          </a:p>
        </p:txBody>
      </p:sp>
      <p:grpSp>
        <p:nvGrpSpPr>
          <p:cNvPr id="8" name="Group 7">
            <a:extLst>
              <a:ext uri="{FF2B5EF4-FFF2-40B4-BE49-F238E27FC236}">
                <a16:creationId xmlns:a16="http://schemas.microsoft.com/office/drawing/2014/main" id="{55F59215-3A9C-4FFD-B229-40E909D28869}"/>
              </a:ext>
            </a:extLst>
          </p:cNvPr>
          <p:cNvGrpSpPr/>
          <p:nvPr/>
        </p:nvGrpSpPr>
        <p:grpSpPr>
          <a:xfrm>
            <a:off x="3025531" y="1897582"/>
            <a:ext cx="6140938" cy="3455831"/>
            <a:chOff x="1124686" y="1897582"/>
            <a:chExt cx="6140938" cy="3455831"/>
          </a:xfrm>
        </p:grpSpPr>
        <p:pic>
          <p:nvPicPr>
            <p:cNvPr id="9" name="Picture 4" descr="Help Me Choose Which Windows Laptop or PC is Right For Me | Microsoft">
              <a:extLst>
                <a:ext uri="{FF2B5EF4-FFF2-40B4-BE49-F238E27FC236}">
                  <a16:creationId xmlns:a16="http://schemas.microsoft.com/office/drawing/2014/main" id="{E51AECD6-0584-4162-A0CD-933EA23785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4686" y="1897582"/>
              <a:ext cx="6140938" cy="345583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E9A61DC-7982-45A4-BACC-DE8AC27785D7}"/>
                </a:ext>
              </a:extLst>
            </p:cNvPr>
            <p:cNvSpPr/>
            <p:nvPr/>
          </p:nvSpPr>
          <p:spPr>
            <a:xfrm>
              <a:off x="1976610" y="1987067"/>
              <a:ext cx="4089400" cy="2270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9D714181-628C-4B70-910F-C722D0D545E0}"/>
                </a:ext>
              </a:extLst>
            </p:cNvPr>
            <p:cNvPicPr>
              <a:picLocks noChangeAspect="1"/>
            </p:cNvPicPr>
            <p:nvPr/>
          </p:nvPicPr>
          <p:blipFill>
            <a:blip r:embed="rId9"/>
            <a:stretch>
              <a:fillRect/>
            </a:stretch>
          </p:blipFill>
          <p:spPr>
            <a:xfrm>
              <a:off x="1976611" y="1964554"/>
              <a:ext cx="4089400" cy="1974986"/>
            </a:xfrm>
            <a:prstGeom prst="rect">
              <a:avLst/>
            </a:prstGeom>
          </p:spPr>
        </p:pic>
      </p:grpSp>
      <p:sp>
        <p:nvSpPr>
          <p:cNvPr id="12" name="Rectangle: Diagonal Corners Rounded 11">
            <a:extLst>
              <a:ext uri="{FF2B5EF4-FFF2-40B4-BE49-F238E27FC236}">
                <a16:creationId xmlns:a16="http://schemas.microsoft.com/office/drawing/2014/main" id="{E1DDA3E5-B867-4217-8D21-D46F20DA79F9}"/>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solidFill>
                  <a:prstClr val="white"/>
                </a:solidFill>
                <a:cs typeface="Arial" panose="020B0604020202020204" pitchFamily="34" charset="0"/>
              </a:rPr>
              <a:t>Video Guides</a:t>
            </a:r>
          </a:p>
        </p:txBody>
      </p:sp>
      <p:sp>
        <p:nvSpPr>
          <p:cNvPr id="13" name="TextBox 12">
            <a:extLst>
              <a:ext uri="{FF2B5EF4-FFF2-40B4-BE49-F238E27FC236}">
                <a16:creationId xmlns:a16="http://schemas.microsoft.com/office/drawing/2014/main" id="{9BBD7259-C042-4363-8098-BA246F53A209}"/>
              </a:ext>
            </a:extLst>
          </p:cNvPr>
          <p:cNvSpPr txBox="1"/>
          <p:nvPr/>
        </p:nvSpPr>
        <p:spPr>
          <a:xfrm>
            <a:off x="0" y="5473470"/>
            <a:ext cx="3006501" cy="464871"/>
          </a:xfrm>
          <a:prstGeom prst="rect">
            <a:avLst/>
          </a:prstGeom>
          <a:noFill/>
        </p:spPr>
        <p:txBody>
          <a:bodyPr wrap="square">
            <a:spAutoFit/>
          </a:bodyPr>
          <a:lstStyle/>
          <a:p>
            <a:pPr algn="ctr">
              <a:lnSpc>
                <a:spcPct val="150000"/>
              </a:lnSpc>
              <a:defRPr/>
            </a:pPr>
            <a:r>
              <a:rPr kumimoji="0" lang="en-GB" sz="1800" b="1" i="0" u="none" strike="noStrike" kern="1200" cap="none" spc="0" normalizeH="0" baseline="0" noProof="0">
                <a:ln>
                  <a:noFill/>
                </a:ln>
                <a:solidFill>
                  <a:schemeClr val="bg1"/>
                </a:solidFill>
                <a:effectLst/>
                <a:uLnTx/>
                <a:uFillTx/>
                <a:ea typeface="+mn-ea"/>
                <a:cs typeface="+mn-cs"/>
              </a:rPr>
              <a:t>HMRC’s ‘How to’ videos:</a:t>
            </a:r>
            <a:endParaRPr kumimoji="0" lang="en-GB" sz="1800" b="1" i="0" u="none" strike="noStrike" kern="1200" cap="none" spc="0" normalizeH="0" baseline="0" noProof="0">
              <a:ln>
                <a:noFill/>
              </a:ln>
              <a:solidFill>
                <a:schemeClr val="bg1"/>
              </a:solidFill>
              <a:effectLst/>
              <a:uLnTx/>
              <a:uFillTx/>
              <a:cs typeface="Times New Roman"/>
            </a:endParaRPr>
          </a:p>
        </p:txBody>
      </p:sp>
      <p:grpSp>
        <p:nvGrpSpPr>
          <p:cNvPr id="14" name="Group 13">
            <a:extLst>
              <a:ext uri="{FF2B5EF4-FFF2-40B4-BE49-F238E27FC236}">
                <a16:creationId xmlns:a16="http://schemas.microsoft.com/office/drawing/2014/main" id="{048F9C3C-FA63-42D7-9840-876F3CB26415}"/>
              </a:ext>
            </a:extLst>
          </p:cNvPr>
          <p:cNvGrpSpPr/>
          <p:nvPr/>
        </p:nvGrpSpPr>
        <p:grpSpPr>
          <a:xfrm>
            <a:off x="5162406" y="-63328"/>
            <a:ext cx="6841472" cy="910091"/>
            <a:chOff x="5162406" y="-63328"/>
            <a:chExt cx="6841472" cy="910091"/>
          </a:xfrm>
        </p:grpSpPr>
        <p:graphicFrame>
          <p:nvGraphicFramePr>
            <p:cNvPr id="15" name="Diagram 14">
              <a:extLst>
                <a:ext uri="{FF2B5EF4-FFF2-40B4-BE49-F238E27FC236}">
                  <a16:creationId xmlns:a16="http://schemas.microsoft.com/office/drawing/2014/main" id="{8BD78D11-7989-48CB-A753-0FF0B7D4C544}"/>
                </a:ext>
              </a:extLst>
            </p:cNvPr>
            <p:cNvGraphicFramePr/>
            <p:nvPr>
              <p:extLst>
                <p:ext uri="{D42A27DB-BD31-4B8C-83A1-F6EECF244321}">
                  <p14:modId xmlns:p14="http://schemas.microsoft.com/office/powerpoint/2010/main" val="3710831062"/>
                </p:ext>
              </p:extLst>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6" name="Graphic 15" descr="Clapper board with solid fill">
              <a:extLst>
                <a:ext uri="{FF2B5EF4-FFF2-40B4-BE49-F238E27FC236}">
                  <a16:creationId xmlns:a16="http://schemas.microsoft.com/office/drawing/2014/main" id="{852BC336-4E4B-4CFE-B444-606043A7237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512252" y="245203"/>
              <a:ext cx="295446" cy="295446"/>
            </a:xfrm>
            <a:prstGeom prst="rect">
              <a:avLst/>
            </a:prstGeom>
          </p:spPr>
        </p:pic>
        <p:pic>
          <p:nvPicPr>
            <p:cNvPr id="17" name="Graphic 16" descr="Plugged Unplugged with solid fill">
              <a:extLst>
                <a:ext uri="{FF2B5EF4-FFF2-40B4-BE49-F238E27FC236}">
                  <a16:creationId xmlns:a16="http://schemas.microsoft.com/office/drawing/2014/main" id="{63949CD1-91FB-4558-8668-80242DB5153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413896" y="245203"/>
              <a:ext cx="295445" cy="295445"/>
            </a:xfrm>
            <a:prstGeom prst="rect">
              <a:avLst/>
            </a:prstGeom>
          </p:spPr>
        </p:pic>
        <p:pic>
          <p:nvPicPr>
            <p:cNvPr id="18" name="Graphic 17" descr="Internet Of Things with solid fill">
              <a:extLst>
                <a:ext uri="{FF2B5EF4-FFF2-40B4-BE49-F238E27FC236}">
                  <a16:creationId xmlns:a16="http://schemas.microsoft.com/office/drawing/2014/main" id="{900FDB94-3E9B-402A-A607-7141C4C15B0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30880" y="245203"/>
              <a:ext cx="295445" cy="295445"/>
            </a:xfrm>
            <a:prstGeom prst="rect">
              <a:avLst/>
            </a:prstGeom>
          </p:spPr>
        </p:pic>
        <p:pic>
          <p:nvPicPr>
            <p:cNvPr id="19" name="Graphic 18" descr="Ui Ux with solid fill">
              <a:extLst>
                <a:ext uri="{FF2B5EF4-FFF2-40B4-BE49-F238E27FC236}">
                  <a16:creationId xmlns:a16="http://schemas.microsoft.com/office/drawing/2014/main" id="{9ABD2281-59AD-4232-8557-84F1DB00A9E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472388" y="245203"/>
              <a:ext cx="295445" cy="295445"/>
            </a:xfrm>
            <a:prstGeom prst="rect">
              <a:avLst/>
            </a:prstGeom>
          </p:spPr>
        </p:pic>
        <p:pic>
          <p:nvPicPr>
            <p:cNvPr id="20" name="Graphic 19" descr="Open hand with plant with solid fill">
              <a:extLst>
                <a:ext uri="{FF2B5EF4-FFF2-40B4-BE49-F238E27FC236}">
                  <a16:creationId xmlns:a16="http://schemas.microsoft.com/office/drawing/2014/main" id="{9B057A6A-067F-4C4F-A4BB-BCB2B4B0DBA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377438" y="245203"/>
              <a:ext cx="307665" cy="307665"/>
            </a:xfrm>
            <a:prstGeom prst="rect">
              <a:avLst/>
            </a:prstGeom>
          </p:spPr>
        </p:pic>
        <p:pic>
          <p:nvPicPr>
            <p:cNvPr id="21" name="Graphic 20" descr="Books with solid fill">
              <a:extLst>
                <a:ext uri="{FF2B5EF4-FFF2-40B4-BE49-F238E27FC236}">
                  <a16:creationId xmlns:a16="http://schemas.microsoft.com/office/drawing/2014/main" id="{4A46180D-4459-4C87-B789-48A5FCFE4D1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1272672" y="245203"/>
              <a:ext cx="295445" cy="295445"/>
            </a:xfrm>
            <a:prstGeom prst="rect">
              <a:avLst/>
            </a:prstGeom>
          </p:spPr>
        </p:pic>
        <p:pic>
          <p:nvPicPr>
            <p:cNvPr id="22" name="Graphic 21" descr="Questions with solid fill">
              <a:extLst>
                <a:ext uri="{FF2B5EF4-FFF2-40B4-BE49-F238E27FC236}">
                  <a16:creationId xmlns:a16="http://schemas.microsoft.com/office/drawing/2014/main" id="{7A1D2A36-0F35-42F2-A693-F6315A1F117D}"/>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298115" y="245203"/>
              <a:ext cx="295445" cy="295445"/>
            </a:xfrm>
            <a:prstGeom prst="rect">
              <a:avLst/>
            </a:prstGeom>
          </p:spPr>
        </p:pic>
      </p:grpSp>
      <p:sp>
        <p:nvSpPr>
          <p:cNvPr id="23" name="Rectangle: Diagonal Corners Snipped 22">
            <a:extLst>
              <a:ext uri="{FF2B5EF4-FFF2-40B4-BE49-F238E27FC236}">
                <a16:creationId xmlns:a16="http://schemas.microsoft.com/office/drawing/2014/main" id="{8584E5AF-5487-4D68-9FF9-420CD7E02151}"/>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lIns="91440" tIns="45720" rIns="91440" bIns="45720" rtlCol="0" anchor="ctr"/>
          <a:lstStyle/>
          <a:p>
            <a:pPr>
              <a:defRPr/>
            </a:pPr>
            <a:r>
              <a:rPr lang="en-GB" kern="0">
                <a:solidFill>
                  <a:schemeClr val="bg1"/>
                </a:solidFill>
                <a:latin typeface="Calibri" panose="020F0502020204030204"/>
              </a:rPr>
              <a:t>Useful videos to support both </a:t>
            </a:r>
            <a:r>
              <a:rPr kumimoji="0" lang="en-GB" sz="1800" b="0" i="0" u="none" strike="noStrike" kern="0" cap="none" spc="0" normalizeH="0" baseline="0" noProof="0">
                <a:ln>
                  <a:noFill/>
                </a:ln>
                <a:solidFill>
                  <a:schemeClr val="bg1"/>
                </a:solidFill>
                <a:effectLst/>
                <a:uLnTx/>
                <a:uFillTx/>
                <a:latin typeface="Calibri" panose="020F0502020204030204"/>
                <a:ea typeface="+mn-ea"/>
                <a:cs typeface="+mn-cs"/>
              </a:rPr>
              <a:t>Software Developers </a:t>
            </a:r>
            <a:r>
              <a:rPr lang="en-GB" kern="0">
                <a:solidFill>
                  <a:schemeClr val="bg1"/>
                </a:solidFill>
                <a:latin typeface="Calibri" panose="020F0502020204030204"/>
              </a:rPr>
              <a:t>and Declarants</a:t>
            </a:r>
            <a:r>
              <a:rPr kumimoji="0" lang="en-GB" sz="1800" b="0" i="0" u="none" strike="noStrike" kern="0" cap="none" spc="0" normalizeH="0" baseline="0" noProof="0">
                <a:ln>
                  <a:noFill/>
                </a:ln>
                <a:solidFill>
                  <a:schemeClr val="bg1"/>
                </a:solidFill>
                <a:effectLst/>
                <a:uLnTx/>
                <a:uFillTx/>
                <a:latin typeface="Calibri" panose="020F0502020204030204"/>
                <a:ea typeface="+mn-ea"/>
                <a:cs typeface="+mn-cs"/>
              </a:rPr>
              <a:t>.</a:t>
            </a:r>
            <a:endParaRPr lang="en-US">
              <a:solidFill>
                <a:schemeClr val="bg1"/>
              </a:solidFill>
              <a:ea typeface="+mn-ea"/>
              <a:cs typeface="+mn-cs"/>
            </a:endParaRPr>
          </a:p>
        </p:txBody>
      </p:sp>
      <p:sp>
        <p:nvSpPr>
          <p:cNvPr id="24" name="Slide Number Placeholder 3">
            <a:extLst>
              <a:ext uri="{FF2B5EF4-FFF2-40B4-BE49-F238E27FC236}">
                <a16:creationId xmlns:a16="http://schemas.microsoft.com/office/drawing/2014/main" id="{D78A3BDC-668B-4BB7-B3CE-178941E22DDB}"/>
              </a:ext>
            </a:extLst>
          </p:cNvPr>
          <p:cNvSpPr>
            <a:spLocks noGrp="1"/>
          </p:cNvSpPr>
          <p:nvPr>
            <p:ph type="sldNum" sz="quarter" idx="12"/>
          </p:nvPr>
        </p:nvSpPr>
        <p:spPr>
          <a:xfrm>
            <a:off x="9298661" y="6356350"/>
            <a:ext cx="2743200" cy="365125"/>
          </a:xfrm>
        </p:spPr>
        <p:txBody>
          <a:bodyPr/>
          <a:lstStyle/>
          <a:p>
            <a:fld id="{831A7E15-3B48-4B7B-BB52-54578FC31682}" type="slidenum">
              <a:rPr lang="en-GB" smtClean="0"/>
              <a:t>25</a:t>
            </a:fld>
            <a:endParaRPr lang="en-GB"/>
          </a:p>
        </p:txBody>
      </p:sp>
    </p:spTree>
    <p:extLst>
      <p:ext uri="{BB962C8B-B14F-4D97-AF65-F5344CB8AC3E}">
        <p14:creationId xmlns:p14="http://schemas.microsoft.com/office/powerpoint/2010/main" val="3202166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a:solidFill>
                  <a:schemeClr val="tx1"/>
                </a:solidFill>
              </a:rPr>
              <a:t>Query Process</a:t>
            </a:r>
            <a:endParaRPr lang="en-US">
              <a:solidFill>
                <a:schemeClr val="tx1"/>
              </a:solidFill>
            </a:endParaRPr>
          </a:p>
        </p:txBody>
      </p:sp>
    </p:spTree>
    <p:extLst>
      <p:ext uri="{BB962C8B-B14F-4D97-AF65-F5344CB8AC3E}">
        <p14:creationId xmlns:p14="http://schemas.microsoft.com/office/powerpoint/2010/main" val="2081057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15A06E2-EB65-4610-A153-C037F5A7F455}"/>
              </a:ext>
            </a:extLst>
          </p:cNvPr>
          <p:cNvGrpSpPr/>
          <p:nvPr/>
        </p:nvGrpSpPr>
        <p:grpSpPr>
          <a:xfrm>
            <a:off x="5162406" y="-63328"/>
            <a:ext cx="6841472" cy="910091"/>
            <a:chOff x="5162406" y="-63328"/>
            <a:chExt cx="6841472" cy="910091"/>
          </a:xfrm>
        </p:grpSpPr>
        <p:graphicFrame>
          <p:nvGraphicFramePr>
            <p:cNvPr id="30" name="Diagram 29">
              <a:extLst>
                <a:ext uri="{FF2B5EF4-FFF2-40B4-BE49-F238E27FC236}">
                  <a16:creationId xmlns:a16="http://schemas.microsoft.com/office/drawing/2014/main" id="{024048D4-898F-4310-87F8-7020ADAD682E}"/>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2" name="Graphic 31" descr="Clapper board with solid fill">
              <a:extLst>
                <a:ext uri="{FF2B5EF4-FFF2-40B4-BE49-F238E27FC236}">
                  <a16:creationId xmlns:a16="http://schemas.microsoft.com/office/drawing/2014/main" id="{A7C3E8CE-7537-4180-8FA0-C78A4D7539D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12252" y="245203"/>
              <a:ext cx="295446" cy="295446"/>
            </a:xfrm>
            <a:prstGeom prst="rect">
              <a:avLst/>
            </a:prstGeom>
          </p:spPr>
        </p:pic>
        <p:pic>
          <p:nvPicPr>
            <p:cNvPr id="33" name="Graphic 32" descr="Plugged Unplugged with solid fill">
              <a:extLst>
                <a:ext uri="{FF2B5EF4-FFF2-40B4-BE49-F238E27FC236}">
                  <a16:creationId xmlns:a16="http://schemas.microsoft.com/office/drawing/2014/main" id="{839C75B8-E6B8-49D9-87DE-F8EAB710692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13896" y="245203"/>
              <a:ext cx="295445" cy="295445"/>
            </a:xfrm>
            <a:prstGeom prst="rect">
              <a:avLst/>
            </a:prstGeom>
          </p:spPr>
        </p:pic>
        <p:pic>
          <p:nvPicPr>
            <p:cNvPr id="34" name="Graphic 33" descr="Internet Of Things with solid fill">
              <a:extLst>
                <a:ext uri="{FF2B5EF4-FFF2-40B4-BE49-F238E27FC236}">
                  <a16:creationId xmlns:a16="http://schemas.microsoft.com/office/drawing/2014/main" id="{A3116E63-96DF-461E-8E3B-F80ED2F70D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30880" y="245203"/>
              <a:ext cx="295445" cy="295445"/>
            </a:xfrm>
            <a:prstGeom prst="rect">
              <a:avLst/>
            </a:prstGeom>
          </p:spPr>
        </p:pic>
        <p:pic>
          <p:nvPicPr>
            <p:cNvPr id="35" name="Graphic 34" descr="Ui Ux with solid fill">
              <a:extLst>
                <a:ext uri="{FF2B5EF4-FFF2-40B4-BE49-F238E27FC236}">
                  <a16:creationId xmlns:a16="http://schemas.microsoft.com/office/drawing/2014/main" id="{6A787CC1-DA28-4B9B-AB0E-BB2D08D085F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72388" y="245203"/>
              <a:ext cx="295445" cy="295445"/>
            </a:xfrm>
            <a:prstGeom prst="rect">
              <a:avLst/>
            </a:prstGeom>
          </p:spPr>
        </p:pic>
        <p:pic>
          <p:nvPicPr>
            <p:cNvPr id="36" name="Graphic 35" descr="Open hand with plant with solid fill">
              <a:extLst>
                <a:ext uri="{FF2B5EF4-FFF2-40B4-BE49-F238E27FC236}">
                  <a16:creationId xmlns:a16="http://schemas.microsoft.com/office/drawing/2014/main" id="{30729791-5523-400A-AB41-804852EFED4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77438" y="245203"/>
              <a:ext cx="307665" cy="307665"/>
            </a:xfrm>
            <a:prstGeom prst="rect">
              <a:avLst/>
            </a:prstGeom>
          </p:spPr>
        </p:pic>
        <p:pic>
          <p:nvPicPr>
            <p:cNvPr id="40" name="Graphic 39" descr="Books with solid fill">
              <a:extLst>
                <a:ext uri="{FF2B5EF4-FFF2-40B4-BE49-F238E27FC236}">
                  <a16:creationId xmlns:a16="http://schemas.microsoft.com/office/drawing/2014/main" id="{621E07E6-8913-45B8-A5AB-C3DC336D3CB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72672" y="245203"/>
              <a:ext cx="295445" cy="295445"/>
            </a:xfrm>
            <a:prstGeom prst="rect">
              <a:avLst/>
            </a:prstGeom>
          </p:spPr>
        </p:pic>
        <p:pic>
          <p:nvPicPr>
            <p:cNvPr id="41" name="Graphic 40" descr="Questions with solid fill">
              <a:extLst>
                <a:ext uri="{FF2B5EF4-FFF2-40B4-BE49-F238E27FC236}">
                  <a16:creationId xmlns:a16="http://schemas.microsoft.com/office/drawing/2014/main" id="{C5ABF51C-BC13-4820-A0A1-3833B347BA7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98115" y="245203"/>
              <a:ext cx="295445" cy="295445"/>
            </a:xfrm>
            <a:prstGeom prst="rect">
              <a:avLst/>
            </a:prstGeom>
          </p:spPr>
        </p:pic>
      </p:grpSp>
      <p:sp>
        <p:nvSpPr>
          <p:cNvPr id="38" name="Rectangle: Diagonal Corners Rounded 37">
            <a:extLst>
              <a:ext uri="{FF2B5EF4-FFF2-40B4-BE49-F238E27FC236}">
                <a16:creationId xmlns:a16="http://schemas.microsoft.com/office/drawing/2014/main" id="{5AFA594B-EE74-41C2-A724-811C35F5080F}"/>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solidFill>
                  <a:prstClr val="white"/>
                </a:solidFill>
                <a:cs typeface="Arial" panose="020B0604020202020204" pitchFamily="34" charset="0"/>
              </a:rPr>
              <a:t>Contacting HMRC</a:t>
            </a:r>
          </a:p>
        </p:txBody>
      </p:sp>
      <p:sp>
        <p:nvSpPr>
          <p:cNvPr id="24" name="Rectangle 23">
            <a:extLst>
              <a:ext uri="{FF2B5EF4-FFF2-40B4-BE49-F238E27FC236}">
                <a16:creationId xmlns:a16="http://schemas.microsoft.com/office/drawing/2014/main" id="{EBAF0771-3DC9-4493-9990-7F4EC51DA4FB}"/>
              </a:ext>
            </a:extLst>
          </p:cNvPr>
          <p:cNvSpPr/>
          <p:nvPr/>
        </p:nvSpPr>
        <p:spPr>
          <a:xfrm>
            <a:off x="-628" y="6134843"/>
            <a:ext cx="12192000" cy="730244"/>
          </a:xfrm>
          <a:prstGeom prst="rect">
            <a:avLst/>
          </a:prstGeom>
          <a:solidFill>
            <a:srgbClr val="FFFFFF">
              <a:lumMod val="85000"/>
            </a:srgb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kern="0">
                <a:solidFill>
                  <a:srgbClr val="00928D"/>
                </a:solidFill>
                <a:latin typeface="Calibri"/>
              </a:rPr>
              <a:t>Before contacting HMRC, Software Developers should review queries to ensure they are not software related. </a:t>
            </a:r>
            <a:endParaRPr kumimoji="0" lang="en-GB" sz="1800" b="0" i="0" u="none" strike="noStrike" kern="0" cap="none" spc="0" normalizeH="0" baseline="0" noProof="0">
              <a:ln>
                <a:noFill/>
              </a:ln>
              <a:solidFill>
                <a:srgbClr val="00928D"/>
              </a:solidFill>
              <a:effectLst/>
              <a:uLnTx/>
              <a:uFillTx/>
              <a:latin typeface="Calibri"/>
              <a:ea typeface="+mn-ea"/>
              <a:cs typeface="Calibri"/>
            </a:endParaRPr>
          </a:p>
        </p:txBody>
      </p:sp>
      <p:sp>
        <p:nvSpPr>
          <p:cNvPr id="26" name="Slide Number Placeholder 3">
            <a:extLst>
              <a:ext uri="{FF2B5EF4-FFF2-40B4-BE49-F238E27FC236}">
                <a16:creationId xmlns:a16="http://schemas.microsoft.com/office/drawing/2014/main" id="{5C02E7B3-13DF-42F6-88C1-029DB397F390}"/>
              </a:ext>
            </a:extLst>
          </p:cNvPr>
          <p:cNvSpPr txBox="1">
            <a:spLocks/>
          </p:cNvSpPr>
          <p:nvPr/>
        </p:nvSpPr>
        <p:spPr>
          <a:xfrm>
            <a:off x="10846698" y="6356350"/>
            <a:ext cx="843277"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tint val="75000"/>
                </a:srgbClr>
              </a:solidFill>
              <a:effectLst/>
              <a:uLnTx/>
              <a:uFillTx/>
              <a:latin typeface="Calibri"/>
              <a:ea typeface="+mn-ea"/>
              <a:cs typeface="+mn-cs"/>
            </a:endParaRPr>
          </a:p>
        </p:txBody>
      </p:sp>
      <p:cxnSp>
        <p:nvCxnSpPr>
          <p:cNvPr id="27" name="Straight Connector 26">
            <a:extLst>
              <a:ext uri="{FF2B5EF4-FFF2-40B4-BE49-F238E27FC236}">
                <a16:creationId xmlns:a16="http://schemas.microsoft.com/office/drawing/2014/main" id="{4A1AD5CE-5BD1-42AF-A9B8-003D68CCB9DB}"/>
              </a:ext>
            </a:extLst>
          </p:cNvPr>
          <p:cNvCxnSpPr>
            <a:cxnSpLocks/>
          </p:cNvCxnSpPr>
          <p:nvPr/>
        </p:nvCxnSpPr>
        <p:spPr>
          <a:xfrm>
            <a:off x="1820461" y="1351734"/>
            <a:ext cx="0" cy="4305645"/>
          </a:xfrm>
          <a:prstGeom prst="line">
            <a:avLst/>
          </a:prstGeom>
          <a:noFill/>
          <a:ln w="28575" cap="flat" cmpd="sng" algn="ctr">
            <a:solidFill>
              <a:srgbClr val="000000">
                <a:lumMod val="95000"/>
                <a:lumOff val="5000"/>
              </a:srgbClr>
            </a:solidFill>
            <a:prstDash val="solid"/>
            <a:miter lim="800000"/>
            <a:headEnd type="oval"/>
            <a:tailEnd type="oval"/>
          </a:ln>
          <a:effectLst/>
        </p:spPr>
      </p:cxnSp>
      <p:sp>
        <p:nvSpPr>
          <p:cNvPr id="37" name="Oval 36">
            <a:extLst>
              <a:ext uri="{FF2B5EF4-FFF2-40B4-BE49-F238E27FC236}">
                <a16:creationId xmlns:a16="http://schemas.microsoft.com/office/drawing/2014/main" id="{246373DF-C3B0-4688-90DC-CD8D29866C3E}"/>
              </a:ext>
            </a:extLst>
          </p:cNvPr>
          <p:cNvSpPr/>
          <p:nvPr/>
        </p:nvSpPr>
        <p:spPr>
          <a:xfrm>
            <a:off x="1518286" y="1597164"/>
            <a:ext cx="607836" cy="595319"/>
          </a:xfrm>
          <a:prstGeom prst="ellipse">
            <a:avLst/>
          </a:prstGeom>
          <a:solidFill>
            <a:srgbClr val="93B8C6"/>
          </a:solidFill>
          <a:ln w="34925" cap="flat" cmpd="sng" algn="ctr">
            <a:noFill/>
            <a:prstDash val="solid"/>
            <a:miter lim="800000"/>
          </a:ln>
          <a:effectLst/>
        </p:spPr>
        <p:txBody>
          <a:bodyPr rtlCol="0" anchor="ctr"/>
          <a:lstStyle/>
          <a:p>
            <a:pPr marL="0" marR="0" lvl="0" indent="0" algn="ctr" defTabSz="77906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Calibri"/>
                <a:ea typeface="+mn-ea"/>
                <a:cs typeface="+mn-cs"/>
              </a:rPr>
              <a:t>1</a:t>
            </a:r>
          </a:p>
        </p:txBody>
      </p:sp>
      <p:sp>
        <p:nvSpPr>
          <p:cNvPr id="42" name="Oval 41">
            <a:extLst>
              <a:ext uri="{FF2B5EF4-FFF2-40B4-BE49-F238E27FC236}">
                <a16:creationId xmlns:a16="http://schemas.microsoft.com/office/drawing/2014/main" id="{20FCCECF-B82D-44C2-8BD0-65C85F8A5DE9}"/>
              </a:ext>
            </a:extLst>
          </p:cNvPr>
          <p:cNvSpPr/>
          <p:nvPr/>
        </p:nvSpPr>
        <p:spPr>
          <a:xfrm>
            <a:off x="1517298" y="3199380"/>
            <a:ext cx="607836" cy="595319"/>
          </a:xfrm>
          <a:prstGeom prst="ellipse">
            <a:avLst/>
          </a:prstGeom>
          <a:solidFill>
            <a:srgbClr val="7DC4C0"/>
          </a:solidFill>
          <a:ln w="34925" cap="flat" cmpd="sng" algn="ctr">
            <a:noFill/>
            <a:prstDash val="solid"/>
            <a:miter lim="800000"/>
          </a:ln>
          <a:effectLst/>
        </p:spPr>
        <p:txBody>
          <a:bodyPr rtlCol="0" anchor="ctr"/>
          <a:lstStyle/>
          <a:p>
            <a:pPr marL="0" marR="0" lvl="0" indent="0" algn="ctr" defTabSz="77906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Calibri"/>
                <a:ea typeface="+mn-ea"/>
                <a:cs typeface="+mn-cs"/>
              </a:rPr>
              <a:t>3</a:t>
            </a:r>
          </a:p>
        </p:txBody>
      </p:sp>
      <p:sp>
        <p:nvSpPr>
          <p:cNvPr id="43" name="Oval 42">
            <a:extLst>
              <a:ext uri="{FF2B5EF4-FFF2-40B4-BE49-F238E27FC236}">
                <a16:creationId xmlns:a16="http://schemas.microsoft.com/office/drawing/2014/main" id="{EF28D783-829A-45B9-87E7-69AEC422C9F5}"/>
              </a:ext>
            </a:extLst>
          </p:cNvPr>
          <p:cNvSpPr/>
          <p:nvPr/>
        </p:nvSpPr>
        <p:spPr>
          <a:xfrm>
            <a:off x="1519673" y="4000488"/>
            <a:ext cx="607836" cy="595319"/>
          </a:xfrm>
          <a:prstGeom prst="ellipse">
            <a:avLst/>
          </a:prstGeom>
          <a:solidFill>
            <a:srgbClr val="00928C"/>
          </a:solidFill>
          <a:ln w="34925" cap="flat" cmpd="sng" algn="ctr">
            <a:noFill/>
            <a:prstDash val="solid"/>
            <a:miter lim="800000"/>
          </a:ln>
          <a:effectLst/>
        </p:spPr>
        <p:txBody>
          <a:bodyPr rtlCol="0" anchor="ctr"/>
          <a:lstStyle/>
          <a:p>
            <a:pPr marL="0" marR="0" lvl="0" indent="0" algn="ctr" defTabSz="77906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Calibri"/>
                <a:ea typeface="+mn-ea"/>
                <a:cs typeface="+mn-cs"/>
              </a:rPr>
              <a:t>4</a:t>
            </a:r>
          </a:p>
        </p:txBody>
      </p:sp>
      <p:sp>
        <p:nvSpPr>
          <p:cNvPr id="44" name="Oval 43">
            <a:extLst>
              <a:ext uri="{FF2B5EF4-FFF2-40B4-BE49-F238E27FC236}">
                <a16:creationId xmlns:a16="http://schemas.microsoft.com/office/drawing/2014/main" id="{5B2ED8A8-E1BE-42BC-A494-FD9C1A7530A8}"/>
              </a:ext>
            </a:extLst>
          </p:cNvPr>
          <p:cNvSpPr/>
          <p:nvPr/>
        </p:nvSpPr>
        <p:spPr>
          <a:xfrm>
            <a:off x="1517298" y="4801595"/>
            <a:ext cx="607836" cy="595319"/>
          </a:xfrm>
          <a:prstGeom prst="ellipse">
            <a:avLst/>
          </a:prstGeom>
          <a:solidFill>
            <a:srgbClr val="15636B"/>
          </a:solidFill>
          <a:ln w="34925" cap="flat" cmpd="sng" algn="ctr">
            <a:noFill/>
            <a:prstDash val="solid"/>
            <a:miter lim="800000"/>
          </a:ln>
          <a:effectLst/>
        </p:spPr>
        <p:txBody>
          <a:bodyPr rtlCol="0" anchor="ctr"/>
          <a:lstStyle/>
          <a:p>
            <a:pPr marL="0" marR="0" lvl="0" indent="0" algn="ctr" defTabSz="77906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Calibri"/>
                <a:ea typeface="+mn-ea"/>
                <a:cs typeface="+mn-cs"/>
              </a:rPr>
              <a:t>5</a:t>
            </a:r>
          </a:p>
        </p:txBody>
      </p:sp>
      <p:sp>
        <p:nvSpPr>
          <p:cNvPr id="45" name="Oval 44">
            <a:extLst>
              <a:ext uri="{FF2B5EF4-FFF2-40B4-BE49-F238E27FC236}">
                <a16:creationId xmlns:a16="http://schemas.microsoft.com/office/drawing/2014/main" id="{B7EE8ECB-B513-4B94-8A7D-24F5173DF622}"/>
              </a:ext>
            </a:extLst>
          </p:cNvPr>
          <p:cNvSpPr/>
          <p:nvPr/>
        </p:nvSpPr>
        <p:spPr>
          <a:xfrm>
            <a:off x="1517298" y="2398272"/>
            <a:ext cx="607836" cy="595319"/>
          </a:xfrm>
          <a:prstGeom prst="ellipse">
            <a:avLst/>
          </a:prstGeom>
          <a:solidFill>
            <a:srgbClr val="8ECCC8"/>
          </a:solidFill>
          <a:ln w="34925" cap="flat" cmpd="sng" algn="ctr">
            <a:noFill/>
            <a:prstDash val="solid"/>
            <a:miter lim="800000"/>
          </a:ln>
          <a:effectLst/>
        </p:spPr>
        <p:txBody>
          <a:bodyPr rtlCol="0" anchor="ctr"/>
          <a:lstStyle/>
          <a:p>
            <a:pPr marL="0" marR="0" lvl="0" indent="0" algn="ctr" defTabSz="77906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srgbClr val="FFFFFF"/>
                </a:solidFill>
                <a:effectLst/>
                <a:uLnTx/>
                <a:uFillTx/>
                <a:latin typeface="Calibri"/>
                <a:ea typeface="+mn-ea"/>
                <a:cs typeface="+mn-cs"/>
              </a:rPr>
              <a:t>2</a:t>
            </a:r>
          </a:p>
        </p:txBody>
      </p:sp>
      <p:sp>
        <p:nvSpPr>
          <p:cNvPr id="46" name="TextBox 45">
            <a:extLst>
              <a:ext uri="{FF2B5EF4-FFF2-40B4-BE49-F238E27FC236}">
                <a16:creationId xmlns:a16="http://schemas.microsoft.com/office/drawing/2014/main" id="{FA7EACC4-563B-4118-9D71-9DDC05F57F78}"/>
              </a:ext>
            </a:extLst>
          </p:cNvPr>
          <p:cNvSpPr txBox="1"/>
          <p:nvPr/>
        </p:nvSpPr>
        <p:spPr>
          <a:xfrm>
            <a:off x="42" y="790439"/>
            <a:ext cx="2360534" cy="369332"/>
          </a:xfrm>
          <a:prstGeom prst="rect">
            <a:avLst/>
          </a:prstGeom>
          <a:noFill/>
        </p:spPr>
        <p:txBody>
          <a:bodyPr wrap="square" rtlCol="0">
            <a:spAutoFit/>
          </a:bodyPr>
          <a:lstStyle/>
          <a:p>
            <a:pPr algn="ctr">
              <a:defRPr/>
            </a:pPr>
            <a:r>
              <a:rPr lang="en-GB" b="1">
                <a:solidFill>
                  <a:srgbClr val="00928C"/>
                </a:solidFill>
                <a:latin typeface="Graphik" panose="020B0503030202060203" pitchFamily="34" charset="77"/>
              </a:rPr>
              <a:t>Our query process: </a:t>
            </a:r>
          </a:p>
        </p:txBody>
      </p:sp>
      <p:sp>
        <p:nvSpPr>
          <p:cNvPr id="47" name="TextBox 46">
            <a:extLst>
              <a:ext uri="{FF2B5EF4-FFF2-40B4-BE49-F238E27FC236}">
                <a16:creationId xmlns:a16="http://schemas.microsoft.com/office/drawing/2014/main" id="{77588D55-2609-4130-8C97-C4AF3637323A}"/>
              </a:ext>
            </a:extLst>
          </p:cNvPr>
          <p:cNvSpPr txBox="1"/>
          <p:nvPr/>
        </p:nvSpPr>
        <p:spPr>
          <a:xfrm>
            <a:off x="2134736" y="1649580"/>
            <a:ext cx="1606171" cy="5232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rPr>
              <a:t>Team receive query via email.</a:t>
            </a:r>
          </a:p>
        </p:txBody>
      </p:sp>
      <p:sp>
        <p:nvSpPr>
          <p:cNvPr id="48" name="TextBox 47">
            <a:extLst>
              <a:ext uri="{FF2B5EF4-FFF2-40B4-BE49-F238E27FC236}">
                <a16:creationId xmlns:a16="http://schemas.microsoft.com/office/drawing/2014/main" id="{4A5B578E-EF2E-41BF-808A-504FEE88FD9B}"/>
              </a:ext>
            </a:extLst>
          </p:cNvPr>
          <p:cNvSpPr txBox="1"/>
          <p:nvPr/>
        </p:nvSpPr>
        <p:spPr>
          <a:xfrm>
            <a:off x="2134735" y="2387509"/>
            <a:ext cx="1776515" cy="5232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rPr>
              <a:t>Team open query as a ticket.</a:t>
            </a:r>
          </a:p>
        </p:txBody>
      </p:sp>
      <p:sp>
        <p:nvSpPr>
          <p:cNvPr id="49" name="TextBox 48">
            <a:extLst>
              <a:ext uri="{FF2B5EF4-FFF2-40B4-BE49-F238E27FC236}">
                <a16:creationId xmlns:a16="http://schemas.microsoft.com/office/drawing/2014/main" id="{05BD777F-CC5F-46F2-81BC-1CAD09006B66}"/>
              </a:ext>
            </a:extLst>
          </p:cNvPr>
          <p:cNvSpPr txBox="1"/>
          <p:nvPr/>
        </p:nvSpPr>
        <p:spPr>
          <a:xfrm>
            <a:off x="2134736" y="3205501"/>
            <a:ext cx="1705510" cy="5232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rPr>
              <a:t>Experts are assigned to investigate.</a:t>
            </a:r>
          </a:p>
        </p:txBody>
      </p:sp>
      <p:sp>
        <p:nvSpPr>
          <p:cNvPr id="50" name="TextBox 49">
            <a:extLst>
              <a:ext uri="{FF2B5EF4-FFF2-40B4-BE49-F238E27FC236}">
                <a16:creationId xmlns:a16="http://schemas.microsoft.com/office/drawing/2014/main" id="{4F0A8F9E-2083-48BB-A007-3ACBA02462AF}"/>
              </a:ext>
            </a:extLst>
          </p:cNvPr>
          <p:cNvSpPr txBox="1"/>
          <p:nvPr/>
        </p:nvSpPr>
        <p:spPr>
          <a:xfrm>
            <a:off x="2134736" y="4063328"/>
            <a:ext cx="1078787" cy="5232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rPr>
              <a:t>Resolution is found.</a:t>
            </a:r>
          </a:p>
        </p:txBody>
      </p:sp>
      <p:sp>
        <p:nvSpPr>
          <p:cNvPr id="51" name="TextBox 50">
            <a:extLst>
              <a:ext uri="{FF2B5EF4-FFF2-40B4-BE49-F238E27FC236}">
                <a16:creationId xmlns:a16="http://schemas.microsoft.com/office/drawing/2014/main" id="{47FCCCEB-0945-494A-933F-283C1F550989}"/>
              </a:ext>
            </a:extLst>
          </p:cNvPr>
          <p:cNvSpPr txBox="1"/>
          <p:nvPr/>
        </p:nvSpPr>
        <p:spPr>
          <a:xfrm>
            <a:off x="2134736" y="4853307"/>
            <a:ext cx="1380300" cy="5232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rPr>
              <a:t>Team issue an email reply. </a:t>
            </a:r>
          </a:p>
        </p:txBody>
      </p:sp>
      <p:sp>
        <p:nvSpPr>
          <p:cNvPr id="58" name="TextBox 57">
            <a:extLst>
              <a:ext uri="{FF2B5EF4-FFF2-40B4-BE49-F238E27FC236}">
                <a16:creationId xmlns:a16="http://schemas.microsoft.com/office/drawing/2014/main" id="{A3C75858-48E0-4215-91F7-AB045BC7214C}"/>
              </a:ext>
            </a:extLst>
          </p:cNvPr>
          <p:cNvSpPr txBox="1"/>
          <p:nvPr/>
        </p:nvSpPr>
        <p:spPr>
          <a:xfrm>
            <a:off x="6678602" y="862262"/>
            <a:ext cx="3774618" cy="1397755"/>
          </a:xfrm>
          <a:prstGeom prst="rect">
            <a:avLst/>
          </a:prstGeom>
          <a:noFill/>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00928C"/>
                </a:solidFill>
                <a:effectLst/>
                <a:uLnTx/>
                <a:uFillTx/>
              </a:rPr>
              <a:t>SDST</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400" i="0" u="none" strike="noStrike" kern="0" cap="none" spc="0" normalizeH="0" baseline="0" noProof="0" dirty="0">
                <a:ln>
                  <a:noFill/>
                </a:ln>
                <a:effectLst/>
                <a:uLnTx/>
                <a:uFillTx/>
              </a:rPr>
              <a:t>This mailbox is for queries regarding </a:t>
            </a:r>
            <a:r>
              <a:rPr kumimoji="0" lang="en-GB" sz="1400" b="1" i="0" u="none" strike="noStrike" kern="0" cap="none" spc="0" normalizeH="0" baseline="0" noProof="0" dirty="0">
                <a:ln>
                  <a:noFill/>
                </a:ln>
                <a:solidFill>
                  <a:srgbClr val="00928D"/>
                </a:solidFill>
                <a:effectLst/>
                <a:uLnTx/>
                <a:uFillTx/>
              </a:rPr>
              <a:t>TT</a:t>
            </a:r>
            <a:r>
              <a:rPr kumimoji="0" lang="en-GB" sz="1400" i="0" u="none" strike="noStrike" kern="0" cap="none" spc="0" normalizeH="0" baseline="0" noProof="0" dirty="0">
                <a:ln>
                  <a:noFill/>
                </a:ln>
                <a:effectLst/>
                <a:uLnTx/>
                <a:uFillTx/>
              </a:rPr>
              <a:t>. This is for </a:t>
            </a:r>
            <a:r>
              <a:rPr lang="en-GB" sz="1400" b="1" kern="0" dirty="0">
                <a:solidFill>
                  <a:srgbClr val="00928D"/>
                </a:solidFill>
              </a:rPr>
              <a:t>Software</a:t>
            </a:r>
            <a:r>
              <a:rPr kumimoji="0" lang="en-GB" sz="1400" b="1" i="0" u="none" strike="noStrike" kern="0" cap="none" spc="0" normalizeH="0" baseline="0" noProof="0" dirty="0">
                <a:ln>
                  <a:noFill/>
                </a:ln>
                <a:solidFill>
                  <a:srgbClr val="00928D"/>
                </a:solidFill>
                <a:effectLst/>
                <a:uLnTx/>
                <a:uFillTx/>
              </a:rPr>
              <a:t> </a:t>
            </a:r>
            <a:r>
              <a:rPr lang="en-GB" sz="1400" b="1" kern="0" dirty="0">
                <a:solidFill>
                  <a:srgbClr val="00928D"/>
                </a:solidFill>
              </a:rPr>
              <a:t>Developers</a:t>
            </a:r>
            <a:r>
              <a:rPr kumimoji="0" lang="en-GB" sz="1400" b="1" i="0" u="none" strike="noStrike" kern="0" cap="none" spc="0" normalizeH="0" baseline="0" noProof="0" dirty="0">
                <a:ln>
                  <a:noFill/>
                </a:ln>
                <a:solidFill>
                  <a:srgbClr val="00928D"/>
                </a:solidFill>
                <a:effectLst/>
                <a:uLnTx/>
                <a:uFillTx/>
              </a:rPr>
              <a:t> only</a:t>
            </a:r>
            <a:r>
              <a:rPr kumimoji="0" lang="en-GB" sz="1400" i="0" u="none" strike="noStrike" kern="0" cap="none" spc="0" normalizeH="0" baseline="0" noProof="0" dirty="0">
                <a:ln>
                  <a:noFill/>
                </a:ln>
                <a:effectLst/>
                <a:uLnTx/>
                <a:uFillTx/>
              </a:rPr>
              <a:t>. </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400" b="0" i="0" u="none" strike="noStrike" kern="0" cap="none" spc="0" normalizeH="0" baseline="0" noProof="0" dirty="0">
                <a:ln>
                  <a:noFill/>
                </a:ln>
                <a:effectLst/>
                <a:uLnTx/>
                <a:uFillTx/>
              </a:rPr>
              <a:t>Email: </a:t>
            </a:r>
            <a:r>
              <a:rPr lang="en-GB" sz="1400" b="0" i="0" dirty="0">
                <a:solidFill>
                  <a:srgbClr val="00928D"/>
                </a:solidFill>
                <a:effectLst/>
                <a:latin typeface="GDS Transport"/>
                <a:hlinkClick r:id="rId22">
                  <a:extLst>
                    <a:ext uri="{A12FA001-AC4F-418D-AE19-62706E023703}">
                      <ahyp:hlinkClr xmlns:ahyp="http://schemas.microsoft.com/office/drawing/2018/hyperlinkcolor" val="tx"/>
                    </a:ext>
                  </a:extLst>
                </a:hlinkClick>
              </a:rPr>
              <a:t>SDSTeam@hmrc.gov.uk</a:t>
            </a:r>
            <a:endParaRPr kumimoji="0" lang="en-GB" sz="1400" b="0" i="0" u="none" strike="noStrike" kern="0" cap="none" spc="0" normalizeH="0" baseline="0" noProof="0" dirty="0">
              <a:ln>
                <a:noFill/>
              </a:ln>
              <a:solidFill>
                <a:srgbClr val="000000"/>
              </a:solidFill>
              <a:effectLst/>
              <a:uLnTx/>
              <a:uFillTx/>
            </a:endParaRPr>
          </a:p>
        </p:txBody>
      </p:sp>
      <p:sp>
        <p:nvSpPr>
          <p:cNvPr id="59" name="TextBox 58">
            <a:extLst>
              <a:ext uri="{FF2B5EF4-FFF2-40B4-BE49-F238E27FC236}">
                <a16:creationId xmlns:a16="http://schemas.microsoft.com/office/drawing/2014/main" id="{DBE671F1-24A2-4078-A0A0-734C5C4F9212}"/>
              </a:ext>
            </a:extLst>
          </p:cNvPr>
          <p:cNvSpPr txBox="1"/>
          <p:nvPr/>
        </p:nvSpPr>
        <p:spPr>
          <a:xfrm>
            <a:off x="6496126" y="2507151"/>
            <a:ext cx="4276863" cy="1397755"/>
          </a:xfrm>
          <a:prstGeom prst="rect">
            <a:avLst/>
          </a:prstGeom>
          <a:noFill/>
        </p:spPr>
        <p:txBody>
          <a:bodyPr wrap="square" lIns="91440" tIns="45720" rIns="91440" bIns="45720" anchor="t">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008680"/>
                </a:solidFill>
                <a:effectLst/>
                <a:uLnTx/>
                <a:uFillTx/>
              </a:rPr>
              <a:t>TDR Communications Mailbox</a:t>
            </a:r>
            <a:endParaRPr kumimoji="0" lang="en-GB" sz="1600" b="1" i="0" u="none" strike="noStrike" kern="0" cap="none" spc="0" normalizeH="0" baseline="0" noProof="0" dirty="0">
              <a:ln>
                <a:noFill/>
              </a:ln>
              <a:solidFill>
                <a:srgbClr val="008680"/>
              </a:solidFill>
              <a:effectLst/>
              <a:uLnTx/>
              <a:uFillTx/>
              <a:cs typeface="Calibri"/>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rPr>
              <a:t>This mailbox is for queries regarding </a:t>
            </a:r>
            <a:r>
              <a:rPr kumimoji="0" lang="en-GB" sz="1400" b="1" i="0" u="none" strike="noStrike" kern="0" cap="none" spc="0" normalizeH="0" baseline="0" noProof="0" dirty="0">
                <a:ln>
                  <a:noFill/>
                </a:ln>
                <a:solidFill>
                  <a:srgbClr val="00928D"/>
                </a:solidFill>
                <a:effectLst/>
                <a:uLnTx/>
                <a:uFillTx/>
              </a:rPr>
              <a:t>TDR</a:t>
            </a:r>
            <a:r>
              <a:rPr kumimoji="0" lang="en-GB" sz="1400" i="0" u="none" strike="noStrike" kern="0" cap="none" spc="0" normalizeH="0" baseline="0" noProof="0" dirty="0">
                <a:ln>
                  <a:noFill/>
                </a:ln>
                <a:effectLst/>
                <a:uLnTx/>
                <a:uFillTx/>
              </a:rPr>
              <a:t>,</a:t>
            </a:r>
            <a:r>
              <a:rPr kumimoji="0" lang="en-GB" sz="1400" b="1" i="0" u="none" strike="noStrike" kern="0" cap="none" spc="0" normalizeH="0" baseline="0" noProof="0" dirty="0">
                <a:ln>
                  <a:noFill/>
                </a:ln>
                <a:solidFill>
                  <a:srgbClr val="00928D"/>
                </a:solidFill>
                <a:effectLst/>
                <a:uLnTx/>
                <a:uFillTx/>
              </a:rPr>
              <a:t> </a:t>
            </a:r>
            <a:r>
              <a:rPr kumimoji="0" lang="en-GB" sz="1400" b="0" i="0" u="none" strike="noStrike" kern="0" cap="none" spc="0" normalizeH="0" baseline="0" noProof="0" dirty="0">
                <a:ln>
                  <a:noFill/>
                </a:ln>
                <a:solidFill>
                  <a:srgbClr val="000000"/>
                </a:solidFill>
                <a:effectLst/>
                <a:uLnTx/>
                <a:uFillTx/>
              </a:rPr>
              <a:t>such as access &amp; rejection queries. </a:t>
            </a:r>
          </a:p>
          <a:p>
            <a:pPr algn="ctr">
              <a:lnSpc>
                <a:spcPct val="150000"/>
              </a:lnSpc>
              <a:defRPr/>
            </a:pPr>
            <a:r>
              <a:rPr kumimoji="0" lang="en-GB" sz="1400" b="0" i="0" u="none" strike="noStrike" kern="0" cap="none" spc="0" normalizeH="0" baseline="0" noProof="0" dirty="0">
                <a:ln>
                  <a:noFill/>
                </a:ln>
                <a:solidFill>
                  <a:srgbClr val="000000"/>
                </a:solidFill>
                <a:effectLst/>
                <a:uLnTx/>
                <a:uFillTx/>
              </a:rPr>
              <a:t>Email: </a:t>
            </a:r>
            <a:r>
              <a:rPr kumimoji="0" lang="en-GB" sz="1400" b="0" i="0" u="none" strike="noStrike" kern="0" cap="none" spc="0" normalizeH="0" baseline="0" noProof="0" dirty="0">
                <a:ln>
                  <a:noFill/>
                </a:ln>
                <a:solidFill>
                  <a:srgbClr val="00928C"/>
                </a:solidFill>
                <a:effectLst/>
                <a:uLnTx/>
                <a:uFillTx/>
                <a:hlinkClick r:id="rId23">
                  <a:extLst>
                    <a:ext uri="{A12FA001-AC4F-418D-AE19-62706E023703}">
                      <ahyp:hlinkClr xmlns:ahyp="http://schemas.microsoft.com/office/drawing/2018/hyperlinkcolor" val="tx"/>
                    </a:ext>
                  </a:extLst>
                </a:hlinkClick>
              </a:rPr>
              <a:t>tdrcommunications@hmrc.gov.uk</a:t>
            </a:r>
            <a:r>
              <a:rPr kumimoji="0" lang="en-GB" sz="1400" b="0" i="0" u="none" strike="noStrike" kern="0" cap="none" spc="0" normalizeH="0" baseline="0" noProof="0" dirty="0">
                <a:ln>
                  <a:noFill/>
                </a:ln>
                <a:solidFill>
                  <a:srgbClr val="00928C"/>
                </a:solidFill>
                <a:effectLst/>
                <a:uLnTx/>
                <a:uFillTx/>
              </a:rPr>
              <a:t> </a:t>
            </a:r>
          </a:p>
        </p:txBody>
      </p:sp>
      <p:sp>
        <p:nvSpPr>
          <p:cNvPr id="60" name="TextBox 59">
            <a:extLst>
              <a:ext uri="{FF2B5EF4-FFF2-40B4-BE49-F238E27FC236}">
                <a16:creationId xmlns:a16="http://schemas.microsoft.com/office/drawing/2014/main" id="{0F999505-F76B-4A24-AA33-803E82CAEB93}"/>
              </a:ext>
            </a:extLst>
          </p:cNvPr>
          <p:cNvSpPr txBox="1"/>
          <p:nvPr/>
        </p:nvSpPr>
        <p:spPr>
          <a:xfrm>
            <a:off x="6496126" y="4152040"/>
            <a:ext cx="4361679" cy="1651671"/>
          </a:xfrm>
          <a:prstGeom prst="rect">
            <a:avLst/>
          </a:prstGeom>
          <a:noFill/>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00928C"/>
                </a:solidFill>
                <a:effectLst/>
                <a:uLnTx/>
                <a:uFillTx/>
              </a:rPr>
              <a:t>CDS Operations</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rPr>
              <a:t>This mailbox is for queries regarding the </a:t>
            </a:r>
            <a:r>
              <a:rPr kumimoji="0" lang="en-GB" sz="1400" b="1" i="0" u="none" strike="noStrike" kern="0" cap="none" spc="0" normalizeH="0" baseline="0" noProof="0" dirty="0">
                <a:ln>
                  <a:noFill/>
                </a:ln>
                <a:solidFill>
                  <a:srgbClr val="00928D"/>
                </a:solidFill>
                <a:effectLst/>
                <a:uLnTx/>
                <a:uFillTx/>
              </a:rPr>
              <a:t>CDS Live </a:t>
            </a:r>
            <a:r>
              <a:rPr lang="en-GB" sz="1400" kern="0" dirty="0">
                <a:solidFill>
                  <a:srgbClr val="000000"/>
                </a:solidFill>
              </a:rPr>
              <a:t>service</a:t>
            </a:r>
            <a:r>
              <a:rPr kumimoji="0" lang="en-GB" sz="1400" i="0" u="none" strike="noStrike" kern="0" cap="none" spc="0" normalizeH="0" baseline="0" noProof="0" dirty="0">
                <a:ln>
                  <a:noFill/>
                </a:ln>
                <a:solidFill>
                  <a:srgbClr val="000000"/>
                </a:solidFill>
                <a:effectLst/>
                <a:uLnTx/>
                <a:uFillTx/>
              </a:rPr>
              <a:t>.</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rPr>
              <a:t>Email:</a:t>
            </a:r>
            <a:r>
              <a:rPr kumimoji="0" lang="en-GB" sz="1400" b="1" i="0" u="none" strike="noStrike" kern="0" cap="none" spc="0" normalizeH="0" baseline="0" noProof="0" dirty="0">
                <a:ln>
                  <a:noFill/>
                </a:ln>
                <a:solidFill>
                  <a:srgbClr val="000000"/>
                </a:solidFill>
                <a:effectLst/>
                <a:uLnTx/>
                <a:uFillTx/>
              </a:rPr>
              <a:t> </a:t>
            </a:r>
            <a:r>
              <a:rPr kumimoji="0" lang="en-GB" sz="1400" b="0" i="0" u="none" strike="noStrike" kern="0" cap="none" spc="0" normalizeH="0" baseline="0" noProof="0" dirty="0">
                <a:ln>
                  <a:noFill/>
                </a:ln>
                <a:solidFill>
                  <a:srgbClr val="00928C"/>
                </a:solidFill>
                <a:effectLst/>
                <a:uLnTx/>
                <a:uFillTx/>
                <a:hlinkClick r:id="rId24">
                  <a:extLst>
                    <a:ext uri="{A12FA001-AC4F-418D-AE19-62706E023703}">
                      <ahyp:hlinkClr xmlns:ahyp="http://schemas.microsoft.com/office/drawing/2018/hyperlinkcolor" val="tx"/>
                    </a:ext>
                  </a:extLst>
                </a:hlinkClick>
              </a:rPr>
              <a:t>cds.operations@hmrc.gov.uk</a:t>
            </a:r>
            <a:r>
              <a:rPr kumimoji="0" lang="en-GB" sz="1400" b="0" i="0" u="none" strike="noStrike" kern="0" cap="none" spc="0" normalizeH="0" baseline="0" noProof="0" dirty="0">
                <a:ln>
                  <a:noFill/>
                </a:ln>
                <a:solidFill>
                  <a:srgbClr val="000000"/>
                </a:solidFill>
                <a:effectLst/>
                <a:uLnTx/>
                <a:uFillTx/>
              </a:rPr>
              <a:t>	</a:t>
            </a:r>
          </a:p>
          <a:p>
            <a:pPr marL="0" marR="0" lvl="0" indent="0" algn="ctr" defTabSz="914400" eaLnBrk="1" fontAlgn="auto" latinLnBrk="0" hangingPunct="1">
              <a:lnSpc>
                <a:spcPct val="150000"/>
              </a:lnSpc>
              <a:spcBef>
                <a:spcPts val="0"/>
              </a:spcBef>
              <a:spcAft>
                <a:spcPts val="0"/>
              </a:spcAft>
              <a:buClrTx/>
              <a:buSzTx/>
              <a:buFontTx/>
              <a:buNone/>
              <a:tabLst/>
              <a:defRPr/>
            </a:pPr>
            <a:endParaRPr lang="en-GB" sz="1000" kern="0" dirty="0">
              <a:solidFill>
                <a:srgbClr val="000000"/>
              </a:solidFill>
            </a:endParaRPr>
          </a:p>
          <a:p>
            <a:pPr marL="0" marR="0" lvl="0" indent="0" algn="ctr" defTabSz="914400" eaLnBrk="1" fontAlgn="auto" latinLnBrk="0" hangingPunct="1">
              <a:lnSpc>
                <a:spcPct val="150000"/>
              </a:lnSpc>
              <a:spcBef>
                <a:spcPts val="0"/>
              </a:spcBef>
              <a:spcAft>
                <a:spcPts val="0"/>
              </a:spcAft>
              <a:buClrTx/>
              <a:buSzTx/>
              <a:buFontTx/>
              <a:buNone/>
              <a:tabLst/>
              <a:defRPr/>
            </a:pPr>
            <a:r>
              <a:rPr lang="en-GB" sz="1400" kern="0" dirty="0">
                <a:solidFill>
                  <a:srgbClr val="000000"/>
                </a:solidFill>
              </a:rPr>
              <a:t>CDS problems can also be reported via an </a:t>
            </a:r>
            <a:r>
              <a:rPr lang="en-GB" sz="1400" kern="0" dirty="0">
                <a:solidFill>
                  <a:srgbClr val="00928D"/>
                </a:solidFill>
                <a:hlinkClick r:id="rId25">
                  <a:extLst>
                    <a:ext uri="{A12FA001-AC4F-418D-AE19-62706E023703}">
                      <ahyp:hlinkClr xmlns:ahyp="http://schemas.microsoft.com/office/drawing/2018/hyperlinkcolor" val="tx"/>
                    </a:ext>
                  </a:extLst>
                </a:hlinkClick>
              </a:rPr>
              <a:t>online form</a:t>
            </a:r>
            <a:endParaRPr kumimoji="0" lang="en-GB" sz="1400" b="0" i="0" u="none" strike="noStrike" kern="0" cap="none" spc="0" normalizeH="0" baseline="0" noProof="0" dirty="0">
              <a:ln>
                <a:noFill/>
              </a:ln>
              <a:solidFill>
                <a:srgbClr val="00928D"/>
              </a:solidFill>
              <a:effectLst/>
              <a:uLnTx/>
              <a:uFillTx/>
            </a:endParaRPr>
          </a:p>
        </p:txBody>
      </p:sp>
      <p:sp>
        <p:nvSpPr>
          <p:cNvPr id="3" name="Slide Number Placeholder 2">
            <a:extLst>
              <a:ext uri="{FF2B5EF4-FFF2-40B4-BE49-F238E27FC236}">
                <a16:creationId xmlns:a16="http://schemas.microsoft.com/office/drawing/2014/main" id="{394F75C3-1DAA-49A2-8BBC-8E09BBF89409}"/>
              </a:ext>
            </a:extLst>
          </p:cNvPr>
          <p:cNvSpPr>
            <a:spLocks noGrp="1"/>
          </p:cNvSpPr>
          <p:nvPr>
            <p:ph type="sldNum" sz="quarter" idx="12"/>
          </p:nvPr>
        </p:nvSpPr>
        <p:spPr/>
        <p:txBody>
          <a:bodyPr/>
          <a:lstStyle/>
          <a:p>
            <a:fld id="{831A7E15-3B48-4B7B-BB52-54578FC31682}" type="slidenum">
              <a:rPr lang="en-GB" smtClean="0"/>
              <a:t>27</a:t>
            </a:fld>
            <a:endParaRPr lang="en-GB"/>
          </a:p>
        </p:txBody>
      </p:sp>
    </p:spTree>
    <p:extLst>
      <p:ext uri="{BB962C8B-B14F-4D97-AF65-F5344CB8AC3E}">
        <p14:creationId xmlns:p14="http://schemas.microsoft.com/office/powerpoint/2010/main" val="780103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DB673D-478D-4909-B024-5D9E4D805BCA}"/>
              </a:ext>
            </a:extLst>
          </p:cNvPr>
          <p:cNvPicPr>
            <a:picLocks noChangeAspect="1"/>
          </p:cNvPicPr>
          <p:nvPr/>
        </p:nvPicPr>
        <p:blipFill>
          <a:blip r:embed="rId3">
            <a:alphaModFix amt="50000"/>
          </a:blip>
          <a:stretch>
            <a:fillRect/>
          </a:stretch>
        </p:blipFill>
        <p:spPr>
          <a:xfrm>
            <a:off x="0" y="628161"/>
            <a:ext cx="12192000" cy="5910751"/>
          </a:xfrm>
          <a:prstGeom prst="rect">
            <a:avLst/>
          </a:prstGeom>
        </p:spPr>
      </p:pic>
      <p:sp>
        <p:nvSpPr>
          <p:cNvPr id="5" name="Arrow: Pentagon 4">
            <a:extLst>
              <a:ext uri="{FF2B5EF4-FFF2-40B4-BE49-F238E27FC236}">
                <a16:creationId xmlns:a16="http://schemas.microsoft.com/office/drawing/2014/main" id="{4DF10143-8E34-49A5-9886-1EE75D66DC9E}"/>
              </a:ext>
            </a:extLst>
          </p:cNvPr>
          <p:cNvSpPr/>
          <p:nvPr/>
        </p:nvSpPr>
        <p:spPr>
          <a:xfrm rot="10800000" flipH="1">
            <a:off x="0" y="3230443"/>
            <a:ext cx="8977023" cy="1325148"/>
          </a:xfrm>
          <a:prstGeom prst="homePlate">
            <a:avLst>
              <a:gd name="adj" fmla="val 65736"/>
            </a:avLst>
          </a:prstGeom>
          <a:solidFill>
            <a:srgbClr val="EBEBEB"/>
          </a:solidFill>
          <a:ln>
            <a:noFill/>
          </a:ln>
          <a:effectLst>
            <a:outerShdw blurRad="139700" dist="889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Content Placeholder 4"/>
          <p:cNvSpPr>
            <a:spLocks noGrp="1"/>
          </p:cNvSpPr>
          <p:nvPr>
            <p:ph sz="half" idx="1"/>
          </p:nvPr>
        </p:nvSpPr>
        <p:spPr>
          <a:xfrm>
            <a:off x="253688" y="3438809"/>
            <a:ext cx="7999766" cy="1900734"/>
          </a:xfrm>
        </p:spPr>
        <p:txBody>
          <a:bodyPr vert="horz" lIns="91440" tIns="45720" rIns="91440" bIns="45720" rtlCol="0" anchor="t">
            <a:noAutofit/>
          </a:bodyPr>
          <a:lstStyle/>
          <a:p>
            <a:r>
              <a:rPr lang="en-GB" sz="3200">
                <a:solidFill>
                  <a:schemeClr val="tx1"/>
                </a:solidFill>
              </a:rPr>
              <a:t>Glossary</a:t>
            </a:r>
            <a:endParaRPr lang="en-US">
              <a:solidFill>
                <a:schemeClr val="tx1"/>
              </a:solidFill>
            </a:endParaRPr>
          </a:p>
        </p:txBody>
      </p:sp>
    </p:spTree>
    <p:extLst>
      <p:ext uri="{BB962C8B-B14F-4D97-AF65-F5344CB8AC3E}">
        <p14:creationId xmlns:p14="http://schemas.microsoft.com/office/powerpoint/2010/main" val="4129144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1D0679-BB43-41F9-B80D-7A36F290C853}"/>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29</a:t>
            </a:fld>
            <a:endParaRPr lang="en-US">
              <a:solidFill>
                <a:srgbClr val="000000">
                  <a:tint val="75000"/>
                </a:srgbClr>
              </a:solidFill>
            </a:endParaRPr>
          </a:p>
        </p:txBody>
      </p:sp>
      <p:sp>
        <p:nvSpPr>
          <p:cNvPr id="6" name="TextBox 5">
            <a:extLst>
              <a:ext uri="{FF2B5EF4-FFF2-40B4-BE49-F238E27FC236}">
                <a16:creationId xmlns:a16="http://schemas.microsoft.com/office/drawing/2014/main" id="{B687B971-E428-48B1-A6A3-1A86D10BA60B}"/>
              </a:ext>
            </a:extLst>
          </p:cNvPr>
          <p:cNvSpPr txBox="1"/>
          <p:nvPr/>
        </p:nvSpPr>
        <p:spPr>
          <a:xfrm>
            <a:off x="1442872" y="1829662"/>
            <a:ext cx="9829800" cy="830997"/>
          </a:xfrm>
          <a:prstGeom prst="rect">
            <a:avLst/>
          </a:prstGeom>
          <a:noFill/>
          <a:ln>
            <a:noFill/>
          </a:ln>
        </p:spPr>
        <p:txBody>
          <a:bodyPr wrap="square" lIns="91440" tIns="45720" rIns="91440" bIns="45720" anchor="t">
            <a:spAutoFit/>
          </a:bodyPr>
          <a:lstStyle/>
          <a:p>
            <a:pPr algn="l" rtl="0" fontAlgn="base"/>
            <a:r>
              <a:rPr lang="en-GB" sz="1600" b="1" i="0" u="none" strike="noStrike">
                <a:solidFill>
                  <a:srgbClr val="00928D"/>
                </a:solidFill>
                <a:effectLst/>
                <a:latin typeface="+mj-lt"/>
              </a:rPr>
              <a:t>AFSS</a:t>
            </a:r>
            <a:endParaRPr lang="en-US" sz="1600" b="0" i="0">
              <a:solidFill>
                <a:srgbClr val="000000"/>
              </a:solidFill>
              <a:effectLst/>
              <a:latin typeface="+mj-lt"/>
            </a:endParaRPr>
          </a:p>
          <a:p>
            <a:pPr fontAlgn="base"/>
            <a:r>
              <a:rPr lang="en-GB" sz="1600" b="0" i="0">
                <a:solidFill>
                  <a:srgbClr val="242424"/>
                </a:solidFill>
                <a:effectLst/>
              </a:rPr>
              <a:t>AFSS (Association of Freight Software Suppliers) brings together and represents many of the leading suppliers of software to the freight and transportation industry.</a:t>
            </a:r>
            <a:endParaRPr lang="en-GB" sz="1600" b="0" i="0">
              <a:solidFill>
                <a:srgbClr val="242424"/>
              </a:solidFill>
              <a:effectLst/>
              <a:cs typeface="Calibri"/>
            </a:endParaRPr>
          </a:p>
        </p:txBody>
      </p:sp>
      <p:sp>
        <p:nvSpPr>
          <p:cNvPr id="7" name="Rectangle 6">
            <a:extLst>
              <a:ext uri="{FF2B5EF4-FFF2-40B4-BE49-F238E27FC236}">
                <a16:creationId xmlns:a16="http://schemas.microsoft.com/office/drawing/2014/main" id="{E2214382-C454-4345-80C2-E3FC903D5C27}"/>
              </a:ext>
            </a:extLst>
          </p:cNvPr>
          <p:cNvSpPr/>
          <p:nvPr/>
        </p:nvSpPr>
        <p:spPr>
          <a:xfrm>
            <a:off x="509637" y="1896071"/>
            <a:ext cx="698180" cy="698180"/>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8" name="Rectangle 7">
            <a:extLst>
              <a:ext uri="{FF2B5EF4-FFF2-40B4-BE49-F238E27FC236}">
                <a16:creationId xmlns:a16="http://schemas.microsoft.com/office/drawing/2014/main" id="{ED08E503-DC9F-4A63-9B2B-9FA61F8C3A2A}"/>
              </a:ext>
            </a:extLst>
          </p:cNvPr>
          <p:cNvSpPr/>
          <p:nvPr/>
        </p:nvSpPr>
        <p:spPr>
          <a:xfrm>
            <a:off x="509637" y="2952931"/>
            <a:ext cx="698180" cy="6981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9" name="Rectangle 8">
            <a:extLst>
              <a:ext uri="{FF2B5EF4-FFF2-40B4-BE49-F238E27FC236}">
                <a16:creationId xmlns:a16="http://schemas.microsoft.com/office/drawing/2014/main" id="{AFE12D4A-6A46-4D9F-AF35-7A34DDD9566E}"/>
              </a:ext>
            </a:extLst>
          </p:cNvPr>
          <p:cNvSpPr/>
          <p:nvPr/>
        </p:nvSpPr>
        <p:spPr>
          <a:xfrm>
            <a:off x="509637" y="4009791"/>
            <a:ext cx="698180" cy="698180"/>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10" name="Rectangle 9">
            <a:extLst>
              <a:ext uri="{FF2B5EF4-FFF2-40B4-BE49-F238E27FC236}">
                <a16:creationId xmlns:a16="http://schemas.microsoft.com/office/drawing/2014/main" id="{07BFF324-2559-4C21-AA25-5E2F6735B28E}"/>
              </a:ext>
            </a:extLst>
          </p:cNvPr>
          <p:cNvSpPr/>
          <p:nvPr/>
        </p:nvSpPr>
        <p:spPr>
          <a:xfrm>
            <a:off x="509637" y="5066651"/>
            <a:ext cx="698180" cy="698180"/>
          </a:xfrm>
          <a:prstGeom prst="rect">
            <a:avLst/>
          </a:prstGeom>
          <a:solidFill>
            <a:srgbClr val="98D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4</a:t>
            </a:r>
          </a:p>
        </p:txBody>
      </p:sp>
      <p:grpSp>
        <p:nvGrpSpPr>
          <p:cNvPr id="11" name="Group 10">
            <a:extLst>
              <a:ext uri="{FF2B5EF4-FFF2-40B4-BE49-F238E27FC236}">
                <a16:creationId xmlns:a16="http://schemas.microsoft.com/office/drawing/2014/main" id="{C840C626-35E4-4112-B5BE-F9FC70E3F77F}"/>
              </a:ext>
            </a:extLst>
          </p:cNvPr>
          <p:cNvGrpSpPr/>
          <p:nvPr/>
        </p:nvGrpSpPr>
        <p:grpSpPr>
          <a:xfrm>
            <a:off x="5162406" y="-63328"/>
            <a:ext cx="6841472" cy="910091"/>
            <a:chOff x="5162406" y="-63328"/>
            <a:chExt cx="6841472" cy="910091"/>
          </a:xfrm>
        </p:grpSpPr>
        <p:graphicFrame>
          <p:nvGraphicFramePr>
            <p:cNvPr id="12" name="Diagram 11">
              <a:extLst>
                <a:ext uri="{FF2B5EF4-FFF2-40B4-BE49-F238E27FC236}">
                  <a16:creationId xmlns:a16="http://schemas.microsoft.com/office/drawing/2014/main" id="{35535C97-424C-4A29-86EF-8F5809942D47}"/>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Graphic 12" descr="Clapper board with solid fill">
              <a:extLst>
                <a:ext uri="{FF2B5EF4-FFF2-40B4-BE49-F238E27FC236}">
                  <a16:creationId xmlns:a16="http://schemas.microsoft.com/office/drawing/2014/main" id="{AB8DD0B1-A554-4B1E-A138-CB6E894952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14" name="Graphic 13" descr="Plugged Unplugged with solid fill">
              <a:extLst>
                <a:ext uri="{FF2B5EF4-FFF2-40B4-BE49-F238E27FC236}">
                  <a16:creationId xmlns:a16="http://schemas.microsoft.com/office/drawing/2014/main" id="{FC9D744A-1694-428B-94B6-8FAAF3962BA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15" name="Graphic 14" descr="Internet Of Things with solid fill">
              <a:extLst>
                <a:ext uri="{FF2B5EF4-FFF2-40B4-BE49-F238E27FC236}">
                  <a16:creationId xmlns:a16="http://schemas.microsoft.com/office/drawing/2014/main" id="{75DB9C59-76C0-4378-A67C-48E3E01E1E4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6" name="Graphic 15" descr="Ui Ux with solid fill">
              <a:extLst>
                <a:ext uri="{FF2B5EF4-FFF2-40B4-BE49-F238E27FC236}">
                  <a16:creationId xmlns:a16="http://schemas.microsoft.com/office/drawing/2014/main" id="{9E7FD9ED-9D6B-42C3-90FF-BD28AAC5D24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7" name="Graphic 16" descr="Open hand with plant with solid fill">
              <a:extLst>
                <a:ext uri="{FF2B5EF4-FFF2-40B4-BE49-F238E27FC236}">
                  <a16:creationId xmlns:a16="http://schemas.microsoft.com/office/drawing/2014/main" id="{F069D38B-C4C9-4D50-A1EE-BBFF9840CEC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8" name="Graphic 17" descr="Books with solid fill">
              <a:extLst>
                <a:ext uri="{FF2B5EF4-FFF2-40B4-BE49-F238E27FC236}">
                  <a16:creationId xmlns:a16="http://schemas.microsoft.com/office/drawing/2014/main" id="{D3A62A9E-47CF-44E4-B284-AC032F52DE8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9" name="Graphic 18" descr="Questions with solid fill">
              <a:extLst>
                <a:ext uri="{FF2B5EF4-FFF2-40B4-BE49-F238E27FC236}">
                  <a16:creationId xmlns:a16="http://schemas.microsoft.com/office/drawing/2014/main" id="{9193529D-5917-445B-9C56-BC72F76A13F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20" name="Rectangle: Diagonal Corners Rounded 19">
            <a:extLst>
              <a:ext uri="{FF2B5EF4-FFF2-40B4-BE49-F238E27FC236}">
                <a16:creationId xmlns:a16="http://schemas.microsoft.com/office/drawing/2014/main" id="{31353F78-2084-4408-9EB7-5C3750D85073}"/>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Definitions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21" name="Rectangle: Diagonal Corners Snipped 20">
            <a:extLst>
              <a:ext uri="{FF2B5EF4-FFF2-40B4-BE49-F238E27FC236}">
                <a16:creationId xmlns:a16="http://schemas.microsoft.com/office/drawing/2014/main" id="{045E87B5-1BE6-4B94-9F3E-1C161FBEB3A0}"/>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lang="en-GB">
                <a:solidFill>
                  <a:schemeClr val="bg1"/>
                </a:solidFill>
              </a:rPr>
              <a:t>Definitions of keywords and acronyms that are frequently mentioned.</a:t>
            </a:r>
            <a:endParaRPr lang="en-US">
              <a:solidFill>
                <a:schemeClr val="bg1"/>
              </a:solidFill>
            </a:endParaRPr>
          </a:p>
        </p:txBody>
      </p:sp>
      <p:sp>
        <p:nvSpPr>
          <p:cNvPr id="22" name="TextBox 21">
            <a:extLst>
              <a:ext uri="{FF2B5EF4-FFF2-40B4-BE49-F238E27FC236}">
                <a16:creationId xmlns:a16="http://schemas.microsoft.com/office/drawing/2014/main" id="{0F0D19A8-FA09-4460-A891-223E2CBF73E8}"/>
              </a:ext>
            </a:extLst>
          </p:cNvPr>
          <p:cNvSpPr txBox="1"/>
          <p:nvPr/>
        </p:nvSpPr>
        <p:spPr>
          <a:xfrm>
            <a:off x="1442872" y="2886522"/>
            <a:ext cx="9829800" cy="830997"/>
          </a:xfrm>
          <a:prstGeom prst="rect">
            <a:avLst/>
          </a:prstGeom>
          <a:noFill/>
          <a:ln>
            <a:noFill/>
          </a:ln>
        </p:spPr>
        <p:txBody>
          <a:bodyPr wrap="square" anchor="t">
            <a:spAutoFit/>
          </a:bodyPr>
          <a:lstStyle/>
          <a:p>
            <a:pPr algn="l" rtl="0" fontAlgn="base"/>
            <a:r>
              <a:rPr lang="en-GB" sz="1600" b="1" i="0" u="none" strike="noStrike">
                <a:solidFill>
                  <a:srgbClr val="000000"/>
                </a:solidFill>
                <a:effectLst/>
                <a:latin typeface="+mj-lt"/>
              </a:rPr>
              <a:t>AICES</a:t>
            </a:r>
            <a:r>
              <a:rPr lang="en-US" sz="1600" b="0" i="0">
                <a:solidFill>
                  <a:srgbClr val="000000"/>
                </a:solidFill>
                <a:effectLst/>
                <a:latin typeface="+mj-lt"/>
              </a:rPr>
              <a:t>​</a:t>
            </a:r>
          </a:p>
          <a:p>
            <a:pPr fontAlgn="base"/>
            <a:r>
              <a:rPr lang="en-GB" sz="1600" b="0" i="0">
                <a:solidFill>
                  <a:srgbClr val="242424"/>
                </a:solidFill>
                <a:effectLst/>
              </a:rPr>
              <a:t>AICES (Association of International Courier and Express Services) represents members on matters related to the business of providing </a:t>
            </a:r>
            <a:r>
              <a:rPr lang="en-GB" sz="1600">
                <a:solidFill>
                  <a:srgbClr val="242424"/>
                </a:solidFill>
              </a:rPr>
              <a:t>international</a:t>
            </a:r>
            <a:r>
              <a:rPr lang="en-GB" sz="1600" b="0" i="0">
                <a:solidFill>
                  <a:srgbClr val="242424"/>
                </a:solidFill>
                <a:effectLst/>
              </a:rPr>
              <a:t> express services</a:t>
            </a:r>
            <a:r>
              <a:rPr lang="en-GB" sz="1600">
                <a:solidFill>
                  <a:srgbClr val="242424"/>
                </a:solidFill>
              </a:rPr>
              <a:t>,</a:t>
            </a:r>
            <a:r>
              <a:rPr lang="en-GB" sz="1600" b="0" i="0">
                <a:solidFill>
                  <a:srgbClr val="242424"/>
                </a:solidFill>
                <a:effectLst/>
              </a:rPr>
              <a:t> particularly with Government departments and agencies.</a:t>
            </a:r>
            <a:endParaRPr lang="en-GB" sz="1600" b="0" i="0">
              <a:solidFill>
                <a:srgbClr val="242424"/>
              </a:solidFill>
              <a:effectLst/>
              <a:cs typeface="Calibri"/>
            </a:endParaRPr>
          </a:p>
        </p:txBody>
      </p:sp>
      <p:sp>
        <p:nvSpPr>
          <p:cNvPr id="23" name="TextBox 22">
            <a:extLst>
              <a:ext uri="{FF2B5EF4-FFF2-40B4-BE49-F238E27FC236}">
                <a16:creationId xmlns:a16="http://schemas.microsoft.com/office/drawing/2014/main" id="{F029F269-92E7-49C7-A952-1143E3EBA9A2}"/>
              </a:ext>
            </a:extLst>
          </p:cNvPr>
          <p:cNvSpPr txBox="1"/>
          <p:nvPr/>
        </p:nvSpPr>
        <p:spPr>
          <a:xfrm>
            <a:off x="1442872" y="3943382"/>
            <a:ext cx="9829800" cy="830997"/>
          </a:xfrm>
          <a:prstGeom prst="rect">
            <a:avLst/>
          </a:prstGeom>
          <a:noFill/>
          <a:ln>
            <a:noFill/>
          </a:ln>
        </p:spPr>
        <p:txBody>
          <a:bodyPr wrap="square" anchor="t">
            <a:spAutoFit/>
          </a:bodyPr>
          <a:lstStyle/>
          <a:p>
            <a:pPr algn="l" rtl="0" fontAlgn="base"/>
            <a:r>
              <a:rPr lang="en-GB" sz="1600" b="1" i="0" u="none" strike="noStrike" dirty="0">
                <a:solidFill>
                  <a:srgbClr val="3B80A1"/>
                </a:solidFill>
                <a:effectLst/>
                <a:latin typeface="Calibri" panose="020F0502020204030204" pitchFamily="34" charset="0"/>
              </a:rPr>
              <a:t>API (Application Programming Interface)​</a:t>
            </a:r>
          </a:p>
          <a:p>
            <a:pPr fontAlgn="base"/>
            <a:r>
              <a:rPr lang="en-GB" sz="1600" b="0" i="0" u="none" strike="noStrike" dirty="0">
                <a:solidFill>
                  <a:srgbClr val="000000"/>
                </a:solidFill>
                <a:effectLst/>
              </a:rPr>
              <a:t>An API is a software intermediary that allows two applications to talk to each other. An API delivers a </a:t>
            </a:r>
            <a:r>
              <a:rPr lang="en-GB" sz="1600">
                <a:solidFill>
                  <a:srgbClr val="000000"/>
                </a:solidFill>
              </a:rPr>
              <a:t>u</a:t>
            </a:r>
            <a:r>
              <a:rPr lang="en-GB" sz="1600" b="0" i="0" u="none" strike="noStrike">
                <a:solidFill>
                  <a:srgbClr val="000000"/>
                </a:solidFill>
                <a:effectLst/>
              </a:rPr>
              <a:t>ser </a:t>
            </a:r>
            <a:r>
              <a:rPr lang="en-GB" sz="1600" b="0" i="0" u="none" strike="noStrike" dirty="0">
                <a:solidFill>
                  <a:srgbClr val="000000"/>
                </a:solidFill>
                <a:effectLst/>
              </a:rPr>
              <a:t>response to a system and sends the system’s response back to the </a:t>
            </a:r>
            <a:r>
              <a:rPr lang="en-GB" sz="1600" b="0" i="0" u="none" strike="noStrike">
                <a:solidFill>
                  <a:srgbClr val="000000"/>
                </a:solidFill>
                <a:effectLst/>
              </a:rPr>
              <a:t>user</a:t>
            </a:r>
            <a:r>
              <a:rPr lang="en-GB" sz="1600" b="0" i="0" u="none" strike="noStrike" dirty="0">
                <a:solidFill>
                  <a:srgbClr val="000000"/>
                </a:solidFill>
                <a:effectLst/>
              </a:rPr>
              <a:t>. </a:t>
            </a:r>
            <a:endParaRPr lang="en-GB" sz="1600" b="0" i="0" dirty="0">
              <a:solidFill>
                <a:srgbClr val="000000"/>
              </a:solidFill>
              <a:effectLst/>
            </a:endParaRPr>
          </a:p>
        </p:txBody>
      </p:sp>
      <p:sp>
        <p:nvSpPr>
          <p:cNvPr id="24" name="TextBox 23">
            <a:extLst>
              <a:ext uri="{FF2B5EF4-FFF2-40B4-BE49-F238E27FC236}">
                <a16:creationId xmlns:a16="http://schemas.microsoft.com/office/drawing/2014/main" id="{D4DA02FC-DD6C-48F1-9FE8-C9FB34742F04}"/>
              </a:ext>
            </a:extLst>
          </p:cNvPr>
          <p:cNvSpPr txBox="1"/>
          <p:nvPr/>
        </p:nvSpPr>
        <p:spPr>
          <a:xfrm>
            <a:off x="1442872" y="5000242"/>
            <a:ext cx="9829800" cy="830997"/>
          </a:xfrm>
          <a:prstGeom prst="rect">
            <a:avLst/>
          </a:prstGeom>
          <a:noFill/>
          <a:ln>
            <a:noFill/>
          </a:ln>
        </p:spPr>
        <p:txBody>
          <a:bodyPr wrap="square" anchor="t">
            <a:spAutoFit/>
          </a:bodyPr>
          <a:lstStyle/>
          <a:p>
            <a:pPr algn="l" rtl="0" fontAlgn="base"/>
            <a:r>
              <a:rPr lang="en-GB" sz="1600" b="1" dirty="0">
                <a:solidFill>
                  <a:srgbClr val="7EC4C0"/>
                </a:solidFill>
                <a:latin typeface="Calibri" panose="020F0502020204030204" pitchFamily="34" charset="0"/>
              </a:rPr>
              <a:t>BIFA</a:t>
            </a:r>
          </a:p>
          <a:p>
            <a:pPr fontAlgn="base"/>
            <a:r>
              <a:rPr lang="en-GB" sz="1600" dirty="0">
                <a:ea typeface="Calibri" panose="020F0502020204030204" pitchFamily="34" charset="0"/>
                <a:cs typeface="72 Condensed" panose="020B0506030000000003" pitchFamily="34" charset="0"/>
              </a:rPr>
              <a:t>Th</a:t>
            </a:r>
            <a:r>
              <a:rPr lang="en-GB" sz="1600" b="0" i="0" dirty="0">
                <a:effectLst/>
                <a:cs typeface="72 Condensed" panose="020B0506030000000003" pitchFamily="34" charset="0"/>
              </a:rPr>
              <a:t>e</a:t>
            </a:r>
            <a:r>
              <a:rPr lang="en-GB" sz="1600" dirty="0">
                <a:cs typeface="72 Condensed" panose="020B0506030000000003" pitchFamily="34" charset="0"/>
              </a:rPr>
              <a:t> </a:t>
            </a:r>
            <a:r>
              <a:rPr lang="en-GB" sz="1600" b="0" i="0" dirty="0">
                <a:effectLst/>
                <a:cs typeface="72 Condensed" panose="020B0506030000000003" pitchFamily="34" charset="0"/>
              </a:rPr>
              <a:t>British International Freight Association, also known as BIFA, is the prime United Kingdom trade association representing UK freight forwarders.</a:t>
            </a:r>
          </a:p>
        </p:txBody>
      </p:sp>
    </p:spTree>
    <p:extLst>
      <p:ext uri="{BB962C8B-B14F-4D97-AF65-F5344CB8AC3E}">
        <p14:creationId xmlns:p14="http://schemas.microsoft.com/office/powerpoint/2010/main" val="234915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1D0679-BB43-41F9-B80D-7A36F290C853}"/>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30</a:t>
            </a:fld>
            <a:endParaRPr lang="en-US">
              <a:solidFill>
                <a:srgbClr val="000000">
                  <a:tint val="75000"/>
                </a:srgbClr>
              </a:solidFill>
            </a:endParaRPr>
          </a:p>
        </p:txBody>
      </p:sp>
      <p:sp>
        <p:nvSpPr>
          <p:cNvPr id="3" name="TextBox 2">
            <a:extLst>
              <a:ext uri="{FF2B5EF4-FFF2-40B4-BE49-F238E27FC236}">
                <a16:creationId xmlns:a16="http://schemas.microsoft.com/office/drawing/2014/main" id="{C3347D3D-275E-46EE-98BA-8A8491B4BEAE}"/>
              </a:ext>
            </a:extLst>
          </p:cNvPr>
          <p:cNvSpPr txBox="1"/>
          <p:nvPr/>
        </p:nvSpPr>
        <p:spPr>
          <a:xfrm>
            <a:off x="1442872" y="1829662"/>
            <a:ext cx="9829800" cy="830997"/>
          </a:xfrm>
          <a:prstGeom prst="rect">
            <a:avLst/>
          </a:prstGeom>
          <a:noFill/>
          <a:ln>
            <a:noFill/>
          </a:ln>
        </p:spPr>
        <p:txBody>
          <a:bodyPr wrap="square" anchor="ctr">
            <a:spAutoFit/>
          </a:bodyPr>
          <a:lstStyle/>
          <a:p>
            <a:pPr algn="l" rtl="0" fontAlgn="base"/>
            <a:r>
              <a:rPr lang="en-GB" sz="1600" b="1" i="0" u="none" strike="noStrike" dirty="0">
                <a:solidFill>
                  <a:srgbClr val="00928D"/>
                </a:solidFill>
                <a:effectLst/>
                <a:latin typeface="+mj-lt"/>
              </a:rPr>
              <a:t>CSP (Community System Providers)​</a:t>
            </a:r>
          </a:p>
          <a:p>
            <a:pPr algn="l" rtl="0" fontAlgn="base"/>
            <a:r>
              <a:rPr lang="en-GB" sz="1600" b="0" i="0" u="none" strike="noStrike">
                <a:solidFill>
                  <a:srgbClr val="000000"/>
                </a:solidFill>
                <a:effectLst/>
              </a:rPr>
              <a:t>Independent trade systems that directly interface with HMRC frontier systems. CSPs track the movement of goods within ports and airports, enabling them to operate more efficiently.</a:t>
            </a:r>
          </a:p>
        </p:txBody>
      </p:sp>
      <p:sp>
        <p:nvSpPr>
          <p:cNvPr id="4" name="Rectangle 3">
            <a:extLst>
              <a:ext uri="{FF2B5EF4-FFF2-40B4-BE49-F238E27FC236}">
                <a16:creationId xmlns:a16="http://schemas.microsoft.com/office/drawing/2014/main" id="{E5C977CA-D785-4A8A-9A53-7193C04EA7A8}"/>
              </a:ext>
            </a:extLst>
          </p:cNvPr>
          <p:cNvSpPr/>
          <p:nvPr/>
        </p:nvSpPr>
        <p:spPr>
          <a:xfrm>
            <a:off x="509637" y="1896071"/>
            <a:ext cx="698180" cy="698180"/>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5</a:t>
            </a:r>
          </a:p>
        </p:txBody>
      </p:sp>
      <p:sp>
        <p:nvSpPr>
          <p:cNvPr id="6" name="Rectangle 5">
            <a:extLst>
              <a:ext uri="{FF2B5EF4-FFF2-40B4-BE49-F238E27FC236}">
                <a16:creationId xmlns:a16="http://schemas.microsoft.com/office/drawing/2014/main" id="{2CA528DD-A216-46CE-B0AC-FB54FA020BD2}"/>
              </a:ext>
            </a:extLst>
          </p:cNvPr>
          <p:cNvSpPr/>
          <p:nvPr/>
        </p:nvSpPr>
        <p:spPr>
          <a:xfrm>
            <a:off x="509637" y="2952931"/>
            <a:ext cx="698180" cy="6981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6</a:t>
            </a:r>
          </a:p>
        </p:txBody>
      </p:sp>
      <p:sp>
        <p:nvSpPr>
          <p:cNvPr id="7" name="Rectangle 6">
            <a:extLst>
              <a:ext uri="{FF2B5EF4-FFF2-40B4-BE49-F238E27FC236}">
                <a16:creationId xmlns:a16="http://schemas.microsoft.com/office/drawing/2014/main" id="{DE756C91-E33B-4DD1-B932-F991D329FC1F}"/>
              </a:ext>
            </a:extLst>
          </p:cNvPr>
          <p:cNvSpPr/>
          <p:nvPr/>
        </p:nvSpPr>
        <p:spPr>
          <a:xfrm>
            <a:off x="509637" y="4009791"/>
            <a:ext cx="698180" cy="698180"/>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7</a:t>
            </a:r>
          </a:p>
        </p:txBody>
      </p:sp>
      <p:sp>
        <p:nvSpPr>
          <p:cNvPr id="8" name="Rectangle 7">
            <a:extLst>
              <a:ext uri="{FF2B5EF4-FFF2-40B4-BE49-F238E27FC236}">
                <a16:creationId xmlns:a16="http://schemas.microsoft.com/office/drawing/2014/main" id="{3A5DA85B-7CD2-4E9D-886D-4F983B571C01}"/>
              </a:ext>
            </a:extLst>
          </p:cNvPr>
          <p:cNvSpPr/>
          <p:nvPr/>
        </p:nvSpPr>
        <p:spPr>
          <a:xfrm>
            <a:off x="509637" y="5066651"/>
            <a:ext cx="698180" cy="698180"/>
          </a:xfrm>
          <a:prstGeom prst="rect">
            <a:avLst/>
          </a:prstGeom>
          <a:solidFill>
            <a:srgbClr val="98D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8</a:t>
            </a:r>
          </a:p>
        </p:txBody>
      </p:sp>
      <p:grpSp>
        <p:nvGrpSpPr>
          <p:cNvPr id="9" name="Group 8">
            <a:extLst>
              <a:ext uri="{FF2B5EF4-FFF2-40B4-BE49-F238E27FC236}">
                <a16:creationId xmlns:a16="http://schemas.microsoft.com/office/drawing/2014/main" id="{4F7B995C-652E-4842-A69F-92D88890D7C9}"/>
              </a:ext>
            </a:extLst>
          </p:cNvPr>
          <p:cNvGrpSpPr/>
          <p:nvPr/>
        </p:nvGrpSpPr>
        <p:grpSpPr>
          <a:xfrm>
            <a:off x="5162406" y="-63328"/>
            <a:ext cx="6841472" cy="910091"/>
            <a:chOff x="5162406" y="-63328"/>
            <a:chExt cx="6841472" cy="910091"/>
          </a:xfrm>
        </p:grpSpPr>
        <p:graphicFrame>
          <p:nvGraphicFramePr>
            <p:cNvPr id="10" name="Diagram 9">
              <a:extLst>
                <a:ext uri="{FF2B5EF4-FFF2-40B4-BE49-F238E27FC236}">
                  <a16:creationId xmlns:a16="http://schemas.microsoft.com/office/drawing/2014/main" id="{18DC101D-995C-4737-AB76-C70060C2DFEA}"/>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Graphic 10" descr="Clapper board with solid fill">
              <a:extLst>
                <a:ext uri="{FF2B5EF4-FFF2-40B4-BE49-F238E27FC236}">
                  <a16:creationId xmlns:a16="http://schemas.microsoft.com/office/drawing/2014/main" id="{4311187C-2E30-4488-B82C-B62773679E5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12" name="Graphic 11" descr="Plugged Unplugged with solid fill">
              <a:extLst>
                <a:ext uri="{FF2B5EF4-FFF2-40B4-BE49-F238E27FC236}">
                  <a16:creationId xmlns:a16="http://schemas.microsoft.com/office/drawing/2014/main" id="{0CD137A1-AF77-466C-839F-6FE8E44B9E5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13" name="Graphic 12" descr="Internet Of Things with solid fill">
              <a:extLst>
                <a:ext uri="{FF2B5EF4-FFF2-40B4-BE49-F238E27FC236}">
                  <a16:creationId xmlns:a16="http://schemas.microsoft.com/office/drawing/2014/main" id="{BD50A84A-CA7B-4C99-A544-DF852BF2471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4" name="Graphic 13" descr="Ui Ux with solid fill">
              <a:extLst>
                <a:ext uri="{FF2B5EF4-FFF2-40B4-BE49-F238E27FC236}">
                  <a16:creationId xmlns:a16="http://schemas.microsoft.com/office/drawing/2014/main" id="{F553626F-AB44-40C1-96D7-8E15363F58B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5" name="Graphic 14" descr="Open hand with plant with solid fill">
              <a:extLst>
                <a:ext uri="{FF2B5EF4-FFF2-40B4-BE49-F238E27FC236}">
                  <a16:creationId xmlns:a16="http://schemas.microsoft.com/office/drawing/2014/main" id="{147543EC-D053-4B6E-B0BB-BA462B57B97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6" name="Graphic 15" descr="Books with solid fill">
              <a:extLst>
                <a:ext uri="{FF2B5EF4-FFF2-40B4-BE49-F238E27FC236}">
                  <a16:creationId xmlns:a16="http://schemas.microsoft.com/office/drawing/2014/main" id="{DAE88E0B-E4F2-4142-A7C9-065C58EE3B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7" name="Graphic 16" descr="Questions with solid fill">
              <a:extLst>
                <a:ext uri="{FF2B5EF4-FFF2-40B4-BE49-F238E27FC236}">
                  <a16:creationId xmlns:a16="http://schemas.microsoft.com/office/drawing/2014/main" id="{7D16C9B0-237F-4B54-BA98-F3CD5D5BB7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8" name="Rectangle: Diagonal Corners Rounded 17">
            <a:extLst>
              <a:ext uri="{FF2B5EF4-FFF2-40B4-BE49-F238E27FC236}">
                <a16:creationId xmlns:a16="http://schemas.microsoft.com/office/drawing/2014/main" id="{3C56F5D9-7305-4ABA-8391-2E1EB61AB2EE}"/>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Definitions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9" name="Rectangle: Diagonal Corners Snipped 18">
            <a:extLst>
              <a:ext uri="{FF2B5EF4-FFF2-40B4-BE49-F238E27FC236}">
                <a16:creationId xmlns:a16="http://schemas.microsoft.com/office/drawing/2014/main" id="{FAA76060-0F7E-464F-A72B-7FF548CABBFD}"/>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lang="en-GB">
                <a:solidFill>
                  <a:schemeClr val="bg1"/>
                </a:solidFill>
              </a:rPr>
              <a:t>Definitions of keywords and acronyms that are frequently mentioned.</a:t>
            </a:r>
            <a:endParaRPr lang="en-US">
              <a:solidFill>
                <a:schemeClr val="bg1"/>
              </a:solidFill>
            </a:endParaRPr>
          </a:p>
        </p:txBody>
      </p:sp>
      <p:sp>
        <p:nvSpPr>
          <p:cNvPr id="20" name="TextBox 19">
            <a:extLst>
              <a:ext uri="{FF2B5EF4-FFF2-40B4-BE49-F238E27FC236}">
                <a16:creationId xmlns:a16="http://schemas.microsoft.com/office/drawing/2014/main" id="{76C5DF1A-EF18-4DFF-8BD5-0689727E9A42}"/>
              </a:ext>
            </a:extLst>
          </p:cNvPr>
          <p:cNvSpPr txBox="1"/>
          <p:nvPr/>
        </p:nvSpPr>
        <p:spPr>
          <a:xfrm>
            <a:off x="1442872" y="2886523"/>
            <a:ext cx="9829800" cy="830997"/>
          </a:xfrm>
          <a:prstGeom prst="rect">
            <a:avLst/>
          </a:prstGeom>
          <a:noFill/>
          <a:ln>
            <a:noFill/>
          </a:ln>
        </p:spPr>
        <p:txBody>
          <a:bodyPr wrap="square" anchor="t">
            <a:spAutoFit/>
          </a:bodyPr>
          <a:lstStyle/>
          <a:p>
            <a:pPr algn="l" rtl="0" fontAlgn="base"/>
            <a:r>
              <a:rPr lang="en-GB" sz="1600" b="1" dirty="0">
                <a:solidFill>
                  <a:srgbClr val="000000"/>
                </a:solidFill>
                <a:latin typeface="+mj-lt"/>
              </a:rPr>
              <a:t>DMSCLE (Notification Message)</a:t>
            </a:r>
          </a:p>
          <a:p>
            <a:pPr algn="l" rtl="0" fontAlgn="base"/>
            <a:r>
              <a:rPr lang="en-GB" sz="1600">
                <a:solidFill>
                  <a:srgbClr val="000000"/>
                </a:solidFill>
              </a:rPr>
              <a:t>This message informs the submitter that the declaration is now cleared, and by implication, the goods can be released.</a:t>
            </a:r>
          </a:p>
        </p:txBody>
      </p:sp>
      <p:sp>
        <p:nvSpPr>
          <p:cNvPr id="21" name="TextBox 20">
            <a:extLst>
              <a:ext uri="{FF2B5EF4-FFF2-40B4-BE49-F238E27FC236}">
                <a16:creationId xmlns:a16="http://schemas.microsoft.com/office/drawing/2014/main" id="{289AB3BC-8617-4364-A0D7-BA1BE7E3D9EA}"/>
              </a:ext>
            </a:extLst>
          </p:cNvPr>
          <p:cNvSpPr txBox="1"/>
          <p:nvPr/>
        </p:nvSpPr>
        <p:spPr>
          <a:xfrm>
            <a:off x="1442872" y="3820272"/>
            <a:ext cx="9829800" cy="1077218"/>
          </a:xfrm>
          <a:prstGeom prst="rect">
            <a:avLst/>
          </a:prstGeom>
          <a:noFill/>
          <a:ln>
            <a:noFill/>
          </a:ln>
        </p:spPr>
        <p:txBody>
          <a:bodyPr wrap="square" anchor="t">
            <a:spAutoFit/>
          </a:bodyPr>
          <a:lstStyle/>
          <a:p>
            <a:pPr algn="l" rtl="0" fontAlgn="base"/>
            <a:r>
              <a:rPr lang="en-GB" sz="1600" b="1" i="0" u="none" strike="noStrike" dirty="0">
                <a:solidFill>
                  <a:srgbClr val="3B80A1"/>
                </a:solidFill>
                <a:effectLst/>
                <a:latin typeface="+mj-lt"/>
              </a:rPr>
              <a:t>DMSTAX (Notification Message)</a:t>
            </a:r>
          </a:p>
          <a:p>
            <a:pPr fontAlgn="base"/>
            <a:r>
              <a:rPr lang="en-GB" sz="1600">
                <a:solidFill>
                  <a:srgbClr val="000000"/>
                </a:solidFill>
              </a:rPr>
              <a:t>With this message, the submitter is informed of the duties liable. It can either inform on what has been reserved against a deferment account or similar method of payment. Alternatively, it can be used as a payment instruction for immediate methods of payment. In the immediate payment scenario, a payment reference is also provided.</a:t>
            </a:r>
          </a:p>
        </p:txBody>
      </p:sp>
      <p:sp>
        <p:nvSpPr>
          <p:cNvPr id="22" name="TextBox 21">
            <a:extLst>
              <a:ext uri="{FF2B5EF4-FFF2-40B4-BE49-F238E27FC236}">
                <a16:creationId xmlns:a16="http://schemas.microsoft.com/office/drawing/2014/main" id="{4F1F3FCD-2778-4FC3-8896-09085CAB4820}"/>
              </a:ext>
            </a:extLst>
          </p:cNvPr>
          <p:cNvSpPr txBox="1"/>
          <p:nvPr/>
        </p:nvSpPr>
        <p:spPr>
          <a:xfrm>
            <a:off x="1442872" y="5000242"/>
            <a:ext cx="9829800" cy="830997"/>
          </a:xfrm>
          <a:prstGeom prst="rect">
            <a:avLst/>
          </a:prstGeom>
          <a:noFill/>
          <a:ln>
            <a:noFill/>
          </a:ln>
        </p:spPr>
        <p:txBody>
          <a:bodyPr wrap="square" anchor="t">
            <a:spAutoFit/>
          </a:bodyPr>
          <a:lstStyle/>
          <a:p>
            <a:pPr algn="l" rtl="0" fontAlgn="base"/>
            <a:r>
              <a:rPr lang="en-GB" sz="1600" b="1" i="0" dirty="0">
                <a:solidFill>
                  <a:srgbClr val="67B9B5"/>
                </a:solidFill>
                <a:effectLst/>
                <a:latin typeface="+mj-lt"/>
              </a:rPr>
              <a:t>DMSREJ (Notification Message)</a:t>
            </a:r>
          </a:p>
          <a:p>
            <a:pPr fontAlgn="base"/>
            <a:r>
              <a:rPr lang="en-GB" sz="1600">
                <a:solidFill>
                  <a:srgbClr val="000000"/>
                </a:solidFill>
              </a:rPr>
              <a:t>With this message, the submitter is informed that the received message has been rejected. This can apply to declarations and additional messages.</a:t>
            </a:r>
          </a:p>
        </p:txBody>
      </p:sp>
    </p:spTree>
    <p:extLst>
      <p:ext uri="{BB962C8B-B14F-4D97-AF65-F5344CB8AC3E}">
        <p14:creationId xmlns:p14="http://schemas.microsoft.com/office/powerpoint/2010/main" val="2978700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1D0679-BB43-41F9-B80D-7A36F290C853}"/>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31</a:t>
            </a:fld>
            <a:endParaRPr lang="en-US">
              <a:solidFill>
                <a:srgbClr val="000000">
                  <a:tint val="75000"/>
                </a:srgbClr>
              </a:solidFill>
            </a:endParaRPr>
          </a:p>
        </p:txBody>
      </p:sp>
      <p:sp>
        <p:nvSpPr>
          <p:cNvPr id="3" name="TextBox 2">
            <a:extLst>
              <a:ext uri="{FF2B5EF4-FFF2-40B4-BE49-F238E27FC236}">
                <a16:creationId xmlns:a16="http://schemas.microsoft.com/office/drawing/2014/main" id="{D20BC30B-8F01-481C-B39A-E413B44F25D7}"/>
              </a:ext>
            </a:extLst>
          </p:cNvPr>
          <p:cNvSpPr txBox="1"/>
          <p:nvPr/>
        </p:nvSpPr>
        <p:spPr>
          <a:xfrm>
            <a:off x="1442872" y="1829662"/>
            <a:ext cx="9829800" cy="830997"/>
          </a:xfrm>
          <a:prstGeom prst="rect">
            <a:avLst/>
          </a:prstGeom>
          <a:noFill/>
          <a:ln>
            <a:noFill/>
          </a:ln>
        </p:spPr>
        <p:txBody>
          <a:bodyPr wrap="square" anchor="ctr">
            <a:spAutoFit/>
          </a:bodyPr>
          <a:lstStyle/>
          <a:p>
            <a:pPr algn="l" rtl="0" fontAlgn="base"/>
            <a:r>
              <a:rPr lang="en-GB" sz="1600" b="1" i="0" u="none" strike="noStrike" dirty="0">
                <a:solidFill>
                  <a:srgbClr val="00928D"/>
                </a:solidFill>
                <a:effectLst/>
                <a:latin typeface="+mj-lt"/>
              </a:rPr>
              <a:t>EAL (Export Arrival at Location) Message</a:t>
            </a:r>
            <a:endParaRPr lang="en-US" sz="1600" b="0" i="0" dirty="0">
              <a:solidFill>
                <a:srgbClr val="000000"/>
              </a:solidFill>
              <a:effectLst/>
              <a:latin typeface="+mj-lt"/>
            </a:endParaRPr>
          </a:p>
          <a:p>
            <a:pPr>
              <a:spcAft>
                <a:spcPts val="800"/>
              </a:spcAft>
            </a:pPr>
            <a:r>
              <a:rPr lang="en-GB" sz="1600" b="0" i="0" dirty="0">
                <a:solidFill>
                  <a:srgbClr val="242424"/>
                </a:solidFill>
                <a:effectLst/>
                <a:latin typeface="+mj-lt"/>
              </a:rPr>
              <a:t>An EAL message </a:t>
            </a:r>
            <a:r>
              <a:rPr lang="en-GB" sz="1600" dirty="0">
                <a:solidFill>
                  <a:srgbClr val="242424"/>
                </a:solidFill>
                <a:latin typeface="+mj-lt"/>
              </a:rPr>
              <a:t>notifies CDS that the goods have arrived at the Office of Export/Office at Exit, at which point they come under </a:t>
            </a:r>
            <a:r>
              <a:rPr lang="en-GB" sz="1600">
                <a:solidFill>
                  <a:srgbClr val="242424"/>
                </a:solidFill>
                <a:latin typeface="+mj-lt"/>
              </a:rPr>
              <a:t>customs</a:t>
            </a:r>
            <a:r>
              <a:rPr lang="en-GB" sz="1600" dirty="0">
                <a:solidFill>
                  <a:srgbClr val="242424"/>
                </a:solidFill>
                <a:latin typeface="+mj-lt"/>
              </a:rPr>
              <a:t> control.</a:t>
            </a:r>
          </a:p>
        </p:txBody>
      </p:sp>
      <p:sp>
        <p:nvSpPr>
          <p:cNvPr id="4" name="Rectangle 3">
            <a:extLst>
              <a:ext uri="{FF2B5EF4-FFF2-40B4-BE49-F238E27FC236}">
                <a16:creationId xmlns:a16="http://schemas.microsoft.com/office/drawing/2014/main" id="{3F814B49-1EAF-45FB-9C4A-367905F95F0D}"/>
              </a:ext>
            </a:extLst>
          </p:cNvPr>
          <p:cNvSpPr/>
          <p:nvPr/>
        </p:nvSpPr>
        <p:spPr>
          <a:xfrm>
            <a:off x="509637" y="1896071"/>
            <a:ext cx="698180" cy="698180"/>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9</a:t>
            </a:r>
          </a:p>
        </p:txBody>
      </p:sp>
      <p:sp>
        <p:nvSpPr>
          <p:cNvPr id="6" name="Rectangle 5">
            <a:extLst>
              <a:ext uri="{FF2B5EF4-FFF2-40B4-BE49-F238E27FC236}">
                <a16:creationId xmlns:a16="http://schemas.microsoft.com/office/drawing/2014/main" id="{142E7DE9-A66C-4071-8CC6-D69884A136FB}"/>
              </a:ext>
            </a:extLst>
          </p:cNvPr>
          <p:cNvSpPr/>
          <p:nvPr/>
        </p:nvSpPr>
        <p:spPr>
          <a:xfrm>
            <a:off x="509637" y="2952931"/>
            <a:ext cx="698180" cy="6981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10</a:t>
            </a:r>
          </a:p>
        </p:txBody>
      </p:sp>
      <p:sp>
        <p:nvSpPr>
          <p:cNvPr id="7" name="Rectangle 6">
            <a:extLst>
              <a:ext uri="{FF2B5EF4-FFF2-40B4-BE49-F238E27FC236}">
                <a16:creationId xmlns:a16="http://schemas.microsoft.com/office/drawing/2014/main" id="{BE3B5BF7-5942-4FCF-A676-A2489CEA5BBB}"/>
              </a:ext>
            </a:extLst>
          </p:cNvPr>
          <p:cNvSpPr/>
          <p:nvPr/>
        </p:nvSpPr>
        <p:spPr>
          <a:xfrm>
            <a:off x="509637" y="4009791"/>
            <a:ext cx="698180" cy="698180"/>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11</a:t>
            </a:r>
          </a:p>
        </p:txBody>
      </p:sp>
      <p:sp>
        <p:nvSpPr>
          <p:cNvPr id="8" name="Rectangle 7">
            <a:extLst>
              <a:ext uri="{FF2B5EF4-FFF2-40B4-BE49-F238E27FC236}">
                <a16:creationId xmlns:a16="http://schemas.microsoft.com/office/drawing/2014/main" id="{E37AF3D0-1E36-451F-B30C-B5BE1A19CA7D}"/>
              </a:ext>
            </a:extLst>
          </p:cNvPr>
          <p:cNvSpPr/>
          <p:nvPr/>
        </p:nvSpPr>
        <p:spPr>
          <a:xfrm>
            <a:off x="509637" y="5066651"/>
            <a:ext cx="698180" cy="698180"/>
          </a:xfrm>
          <a:prstGeom prst="rect">
            <a:avLst/>
          </a:prstGeom>
          <a:solidFill>
            <a:srgbClr val="98D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12</a:t>
            </a:r>
          </a:p>
        </p:txBody>
      </p:sp>
      <p:grpSp>
        <p:nvGrpSpPr>
          <p:cNvPr id="9" name="Group 8">
            <a:extLst>
              <a:ext uri="{FF2B5EF4-FFF2-40B4-BE49-F238E27FC236}">
                <a16:creationId xmlns:a16="http://schemas.microsoft.com/office/drawing/2014/main" id="{54FB2F6B-1605-4312-8912-0B81B05A3C7E}"/>
              </a:ext>
            </a:extLst>
          </p:cNvPr>
          <p:cNvGrpSpPr/>
          <p:nvPr/>
        </p:nvGrpSpPr>
        <p:grpSpPr>
          <a:xfrm>
            <a:off x="5162406" y="-63328"/>
            <a:ext cx="6841472" cy="910091"/>
            <a:chOff x="5162406" y="-63328"/>
            <a:chExt cx="6841472" cy="910091"/>
          </a:xfrm>
        </p:grpSpPr>
        <p:graphicFrame>
          <p:nvGraphicFramePr>
            <p:cNvPr id="10" name="Diagram 9">
              <a:extLst>
                <a:ext uri="{FF2B5EF4-FFF2-40B4-BE49-F238E27FC236}">
                  <a16:creationId xmlns:a16="http://schemas.microsoft.com/office/drawing/2014/main" id="{4FAB5D69-825D-413B-AEE7-E4E513E23AF0}"/>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Graphic 10" descr="Clapper board with solid fill">
              <a:extLst>
                <a:ext uri="{FF2B5EF4-FFF2-40B4-BE49-F238E27FC236}">
                  <a16:creationId xmlns:a16="http://schemas.microsoft.com/office/drawing/2014/main" id="{8F31907E-2285-483A-AE9B-7E0FE5210C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12" name="Graphic 11" descr="Plugged Unplugged with solid fill">
              <a:extLst>
                <a:ext uri="{FF2B5EF4-FFF2-40B4-BE49-F238E27FC236}">
                  <a16:creationId xmlns:a16="http://schemas.microsoft.com/office/drawing/2014/main" id="{D742BC24-86D4-4CEA-A4F9-2E229D6991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13" name="Graphic 12" descr="Internet Of Things with solid fill">
              <a:extLst>
                <a:ext uri="{FF2B5EF4-FFF2-40B4-BE49-F238E27FC236}">
                  <a16:creationId xmlns:a16="http://schemas.microsoft.com/office/drawing/2014/main" id="{9D3FFA25-AC8C-406A-A086-5FFCC822175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4" name="Graphic 13" descr="Ui Ux with solid fill">
              <a:extLst>
                <a:ext uri="{FF2B5EF4-FFF2-40B4-BE49-F238E27FC236}">
                  <a16:creationId xmlns:a16="http://schemas.microsoft.com/office/drawing/2014/main" id="{273BF400-89A2-4CDE-B487-00DEE456E4F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5" name="Graphic 14" descr="Open hand with plant with solid fill">
              <a:extLst>
                <a:ext uri="{FF2B5EF4-FFF2-40B4-BE49-F238E27FC236}">
                  <a16:creationId xmlns:a16="http://schemas.microsoft.com/office/drawing/2014/main" id="{5F71D3DE-C21C-40E4-8AF3-E0ED110E9F4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6" name="Graphic 15" descr="Books with solid fill">
              <a:extLst>
                <a:ext uri="{FF2B5EF4-FFF2-40B4-BE49-F238E27FC236}">
                  <a16:creationId xmlns:a16="http://schemas.microsoft.com/office/drawing/2014/main" id="{73E58BDB-ED76-4C60-8FC5-C21349EAA2B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7" name="Graphic 16" descr="Questions with solid fill">
              <a:extLst>
                <a:ext uri="{FF2B5EF4-FFF2-40B4-BE49-F238E27FC236}">
                  <a16:creationId xmlns:a16="http://schemas.microsoft.com/office/drawing/2014/main" id="{5EF800F5-8693-49CD-BA2B-589F208D896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8" name="Rectangle: Diagonal Corners Rounded 17">
            <a:extLst>
              <a:ext uri="{FF2B5EF4-FFF2-40B4-BE49-F238E27FC236}">
                <a16:creationId xmlns:a16="http://schemas.microsoft.com/office/drawing/2014/main" id="{2659AFBD-3AF0-472D-8E10-A7556782BBFD}"/>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Definitions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9" name="Rectangle: Diagonal Corners Snipped 18">
            <a:extLst>
              <a:ext uri="{FF2B5EF4-FFF2-40B4-BE49-F238E27FC236}">
                <a16:creationId xmlns:a16="http://schemas.microsoft.com/office/drawing/2014/main" id="{2063A3E4-0C8A-4029-B2A2-A46A71428129}"/>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lang="en-GB">
                <a:solidFill>
                  <a:schemeClr val="bg1"/>
                </a:solidFill>
              </a:rPr>
              <a:t>Definitions of keywords and acronyms that are frequently mentioned.</a:t>
            </a:r>
            <a:endParaRPr lang="en-US">
              <a:solidFill>
                <a:schemeClr val="bg1"/>
              </a:solidFill>
            </a:endParaRPr>
          </a:p>
        </p:txBody>
      </p:sp>
      <p:sp>
        <p:nvSpPr>
          <p:cNvPr id="20" name="TextBox 19">
            <a:extLst>
              <a:ext uri="{FF2B5EF4-FFF2-40B4-BE49-F238E27FC236}">
                <a16:creationId xmlns:a16="http://schemas.microsoft.com/office/drawing/2014/main" id="{F1D7616D-C509-49F6-8CC5-3310DEB904B6}"/>
              </a:ext>
            </a:extLst>
          </p:cNvPr>
          <p:cNvSpPr txBox="1"/>
          <p:nvPr/>
        </p:nvSpPr>
        <p:spPr>
          <a:xfrm>
            <a:off x="1442872" y="2886522"/>
            <a:ext cx="9829800" cy="830997"/>
          </a:xfrm>
          <a:prstGeom prst="rect">
            <a:avLst/>
          </a:prstGeom>
          <a:noFill/>
          <a:ln>
            <a:noFill/>
          </a:ln>
        </p:spPr>
        <p:txBody>
          <a:bodyPr wrap="square" anchor="t">
            <a:spAutoFit/>
          </a:bodyPr>
          <a:lstStyle/>
          <a:p>
            <a:pPr algn="l" rtl="0" fontAlgn="base"/>
            <a:r>
              <a:rPr lang="en-GB" sz="1600" b="1" i="0" u="none" strike="noStrike" dirty="0">
                <a:solidFill>
                  <a:srgbClr val="000000"/>
                </a:solidFill>
                <a:effectLst/>
                <a:latin typeface="+mj-lt"/>
              </a:rPr>
              <a:t>EDL (Export Departure from Location) Message</a:t>
            </a:r>
          </a:p>
          <a:p>
            <a:pPr>
              <a:spcAft>
                <a:spcPts val="800"/>
              </a:spcAft>
            </a:pPr>
            <a:r>
              <a:rPr lang="en-GB" sz="1600" b="0" i="0" dirty="0">
                <a:solidFill>
                  <a:srgbClr val="242424"/>
                </a:solidFill>
                <a:effectLst/>
                <a:latin typeface="+mj-lt"/>
              </a:rPr>
              <a:t>An EDL message notifies CDS of the departure of goods from the UK. The message also notifies CDS of transport details for the departure.</a:t>
            </a:r>
          </a:p>
        </p:txBody>
      </p:sp>
      <p:sp>
        <p:nvSpPr>
          <p:cNvPr id="21" name="TextBox 20">
            <a:extLst>
              <a:ext uri="{FF2B5EF4-FFF2-40B4-BE49-F238E27FC236}">
                <a16:creationId xmlns:a16="http://schemas.microsoft.com/office/drawing/2014/main" id="{C4D1C048-FA59-45CC-9462-2E2A62F3F0D7}"/>
              </a:ext>
            </a:extLst>
          </p:cNvPr>
          <p:cNvSpPr txBox="1"/>
          <p:nvPr/>
        </p:nvSpPr>
        <p:spPr>
          <a:xfrm>
            <a:off x="1442872" y="3943382"/>
            <a:ext cx="9829800" cy="830997"/>
          </a:xfrm>
          <a:prstGeom prst="rect">
            <a:avLst/>
          </a:prstGeom>
          <a:noFill/>
          <a:ln>
            <a:noFill/>
          </a:ln>
        </p:spPr>
        <p:txBody>
          <a:bodyPr wrap="square" anchor="t">
            <a:spAutoFit/>
          </a:bodyPr>
          <a:lstStyle/>
          <a:p>
            <a:pPr algn="l" rtl="0" fontAlgn="base"/>
            <a:r>
              <a:rPr lang="en-GB" sz="1600" b="1" i="0" u="none" strike="noStrike" dirty="0">
                <a:solidFill>
                  <a:srgbClr val="3B80A1"/>
                </a:solidFill>
                <a:effectLst/>
                <a:latin typeface="+mj-lt"/>
              </a:rPr>
              <a:t>MRN (Movement Reference Number)</a:t>
            </a:r>
          </a:p>
          <a:p>
            <a:pPr>
              <a:spcAft>
                <a:spcPts val="800"/>
              </a:spcAft>
            </a:pPr>
            <a:r>
              <a:rPr lang="en-GB" sz="1600" dirty="0"/>
              <a:t>An MRN is a customs identification number that’s created each time an import or export declaration is submitted. The number generated is bespoke, allowing goods to be uniquely linked to the declarant.</a:t>
            </a:r>
            <a:endParaRPr lang="en-GB" sz="1600" b="0" i="0" dirty="0">
              <a:solidFill>
                <a:srgbClr val="242424"/>
              </a:solidFill>
              <a:effectLst/>
              <a:latin typeface="+mj-lt"/>
            </a:endParaRPr>
          </a:p>
        </p:txBody>
      </p:sp>
      <p:sp>
        <p:nvSpPr>
          <p:cNvPr id="22" name="TextBox 21">
            <a:extLst>
              <a:ext uri="{FF2B5EF4-FFF2-40B4-BE49-F238E27FC236}">
                <a16:creationId xmlns:a16="http://schemas.microsoft.com/office/drawing/2014/main" id="{17B984EF-019C-4F61-930E-ED03E158974A}"/>
              </a:ext>
            </a:extLst>
          </p:cNvPr>
          <p:cNvSpPr txBox="1"/>
          <p:nvPr/>
        </p:nvSpPr>
        <p:spPr>
          <a:xfrm>
            <a:off x="1442872" y="4877132"/>
            <a:ext cx="9829800" cy="1077218"/>
          </a:xfrm>
          <a:prstGeom prst="rect">
            <a:avLst/>
          </a:prstGeom>
          <a:noFill/>
          <a:ln>
            <a:noFill/>
          </a:ln>
        </p:spPr>
        <p:txBody>
          <a:bodyPr wrap="square" anchor="t">
            <a:spAutoFit/>
          </a:bodyPr>
          <a:lstStyle/>
          <a:p>
            <a:pPr algn="l" rtl="0" fontAlgn="base"/>
            <a:r>
              <a:rPr lang="en-GB" sz="1600" b="1" i="0" u="none" strike="noStrike" dirty="0">
                <a:solidFill>
                  <a:srgbClr val="67B9B5"/>
                </a:solidFill>
                <a:effectLst/>
                <a:latin typeface="+mj-lt"/>
              </a:rPr>
              <a:t>RESTful APIs​</a:t>
            </a:r>
          </a:p>
          <a:p>
            <a:pPr algn="l" rtl="0" fontAlgn="base"/>
            <a:r>
              <a:rPr lang="en-GB" sz="1600" dirty="0"/>
              <a:t>A RESTful API is an architectural style for an application program interface (API) that uses HTTP requests to access and use data. That data can be used to GET, PUT, POST and DELETE data types, which refers to the reading, updating, creating and deleting of operations concerning resources. </a:t>
            </a:r>
          </a:p>
        </p:txBody>
      </p:sp>
    </p:spTree>
    <p:extLst>
      <p:ext uri="{BB962C8B-B14F-4D97-AF65-F5344CB8AC3E}">
        <p14:creationId xmlns:p14="http://schemas.microsoft.com/office/powerpoint/2010/main" val="1843984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1D0679-BB43-41F9-B80D-7A36F290C853}"/>
              </a:ext>
            </a:extLst>
          </p:cNvPr>
          <p:cNvSpPr>
            <a:spLocks noGrp="1"/>
          </p:cNvSpPr>
          <p:nvPr>
            <p:ph type="sldNum" sz="quarter" idx="12"/>
          </p:nvPr>
        </p:nvSpPr>
        <p:spPr/>
        <p:txBody>
          <a:bodyPr/>
          <a:lstStyle/>
          <a:p>
            <a:fld id="{505D49E0-8A1B-064A-8359-1403606AC716}" type="slidenum">
              <a:rPr lang="en-US" smtClean="0">
                <a:solidFill>
                  <a:srgbClr val="000000">
                    <a:tint val="75000"/>
                  </a:srgbClr>
                </a:solidFill>
              </a:rPr>
              <a:pPr/>
              <a:t>32</a:t>
            </a:fld>
            <a:endParaRPr lang="en-US">
              <a:solidFill>
                <a:srgbClr val="000000">
                  <a:tint val="75000"/>
                </a:srgbClr>
              </a:solidFill>
            </a:endParaRPr>
          </a:p>
        </p:txBody>
      </p:sp>
      <p:sp>
        <p:nvSpPr>
          <p:cNvPr id="3" name="TextBox 2">
            <a:extLst>
              <a:ext uri="{FF2B5EF4-FFF2-40B4-BE49-F238E27FC236}">
                <a16:creationId xmlns:a16="http://schemas.microsoft.com/office/drawing/2014/main" id="{2B022AC7-9EC8-4699-8CE4-998A003B7E70}"/>
              </a:ext>
            </a:extLst>
          </p:cNvPr>
          <p:cNvSpPr txBox="1"/>
          <p:nvPr/>
        </p:nvSpPr>
        <p:spPr>
          <a:xfrm>
            <a:off x="1442872" y="1952773"/>
            <a:ext cx="9829800" cy="584775"/>
          </a:xfrm>
          <a:prstGeom prst="rect">
            <a:avLst/>
          </a:prstGeom>
          <a:noFill/>
          <a:ln>
            <a:noFill/>
          </a:ln>
        </p:spPr>
        <p:txBody>
          <a:bodyPr wrap="square" anchor="ctr">
            <a:spAutoFit/>
          </a:bodyPr>
          <a:lstStyle/>
          <a:p>
            <a:pPr algn="l" rtl="0" fontAlgn="base"/>
            <a:r>
              <a:rPr lang="en-GB" sz="1600" b="1" i="0" u="none" strike="noStrike" dirty="0">
                <a:solidFill>
                  <a:srgbClr val="00928D"/>
                </a:solidFill>
                <a:effectLst/>
                <a:latin typeface="+mj-lt"/>
              </a:rPr>
              <a:t>SDST (Software Developer Support Team)</a:t>
            </a:r>
          </a:p>
          <a:p>
            <a:pPr algn="l" rtl="0" fontAlgn="base"/>
            <a:r>
              <a:rPr lang="en-GB" sz="1600" dirty="0">
                <a:solidFill>
                  <a:srgbClr val="242424"/>
                </a:solidFill>
                <a:latin typeface="+mj-lt"/>
              </a:rPr>
              <a:t>This team supports software developers during development and testing of their product.</a:t>
            </a:r>
          </a:p>
        </p:txBody>
      </p:sp>
      <p:sp>
        <p:nvSpPr>
          <p:cNvPr id="4" name="Rectangle 3">
            <a:extLst>
              <a:ext uri="{FF2B5EF4-FFF2-40B4-BE49-F238E27FC236}">
                <a16:creationId xmlns:a16="http://schemas.microsoft.com/office/drawing/2014/main" id="{3327C951-EA2B-4609-B773-F51F75DF417B}"/>
              </a:ext>
            </a:extLst>
          </p:cNvPr>
          <p:cNvSpPr/>
          <p:nvPr/>
        </p:nvSpPr>
        <p:spPr>
          <a:xfrm>
            <a:off x="509637" y="1896071"/>
            <a:ext cx="698180" cy="698180"/>
          </a:xfrm>
          <a:prstGeom prst="rect">
            <a:avLst/>
          </a:prstGeom>
          <a:solidFill>
            <a:srgbClr val="0092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13</a:t>
            </a:r>
          </a:p>
        </p:txBody>
      </p:sp>
      <p:sp>
        <p:nvSpPr>
          <p:cNvPr id="6" name="Rectangle 5">
            <a:extLst>
              <a:ext uri="{FF2B5EF4-FFF2-40B4-BE49-F238E27FC236}">
                <a16:creationId xmlns:a16="http://schemas.microsoft.com/office/drawing/2014/main" id="{39052AAF-BDCF-409F-A0DD-F2E9B0C67A21}"/>
              </a:ext>
            </a:extLst>
          </p:cNvPr>
          <p:cNvSpPr/>
          <p:nvPr/>
        </p:nvSpPr>
        <p:spPr>
          <a:xfrm>
            <a:off x="509637" y="2952931"/>
            <a:ext cx="698180" cy="6981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14</a:t>
            </a:r>
          </a:p>
        </p:txBody>
      </p:sp>
      <p:sp>
        <p:nvSpPr>
          <p:cNvPr id="7" name="Rectangle 6">
            <a:extLst>
              <a:ext uri="{FF2B5EF4-FFF2-40B4-BE49-F238E27FC236}">
                <a16:creationId xmlns:a16="http://schemas.microsoft.com/office/drawing/2014/main" id="{D83FDDB6-1166-4806-862C-F9B5FF84459C}"/>
              </a:ext>
            </a:extLst>
          </p:cNvPr>
          <p:cNvSpPr/>
          <p:nvPr/>
        </p:nvSpPr>
        <p:spPr>
          <a:xfrm>
            <a:off x="509637" y="4009791"/>
            <a:ext cx="698180" cy="698180"/>
          </a:xfrm>
          <a:prstGeom prst="rect">
            <a:avLst/>
          </a:prstGeom>
          <a:solidFill>
            <a:srgbClr val="3B8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15</a:t>
            </a:r>
          </a:p>
        </p:txBody>
      </p:sp>
      <p:sp>
        <p:nvSpPr>
          <p:cNvPr id="8" name="Rectangle 7">
            <a:extLst>
              <a:ext uri="{FF2B5EF4-FFF2-40B4-BE49-F238E27FC236}">
                <a16:creationId xmlns:a16="http://schemas.microsoft.com/office/drawing/2014/main" id="{A88E29E4-0301-485E-AD2D-FA668F28075F}"/>
              </a:ext>
            </a:extLst>
          </p:cNvPr>
          <p:cNvSpPr/>
          <p:nvPr/>
        </p:nvSpPr>
        <p:spPr>
          <a:xfrm>
            <a:off x="509637" y="5066651"/>
            <a:ext cx="698180" cy="698180"/>
          </a:xfrm>
          <a:prstGeom prst="rect">
            <a:avLst/>
          </a:prstGeom>
          <a:solidFill>
            <a:srgbClr val="98D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16</a:t>
            </a:r>
          </a:p>
        </p:txBody>
      </p:sp>
      <p:grpSp>
        <p:nvGrpSpPr>
          <p:cNvPr id="9" name="Group 8">
            <a:extLst>
              <a:ext uri="{FF2B5EF4-FFF2-40B4-BE49-F238E27FC236}">
                <a16:creationId xmlns:a16="http://schemas.microsoft.com/office/drawing/2014/main" id="{81E7046B-3624-4B94-8795-6DE127FA853E}"/>
              </a:ext>
            </a:extLst>
          </p:cNvPr>
          <p:cNvGrpSpPr/>
          <p:nvPr/>
        </p:nvGrpSpPr>
        <p:grpSpPr>
          <a:xfrm>
            <a:off x="5162406" y="-63328"/>
            <a:ext cx="6841472" cy="910091"/>
            <a:chOff x="5162406" y="-63328"/>
            <a:chExt cx="6841472" cy="910091"/>
          </a:xfrm>
        </p:grpSpPr>
        <p:graphicFrame>
          <p:nvGraphicFramePr>
            <p:cNvPr id="10" name="Diagram 9">
              <a:extLst>
                <a:ext uri="{FF2B5EF4-FFF2-40B4-BE49-F238E27FC236}">
                  <a16:creationId xmlns:a16="http://schemas.microsoft.com/office/drawing/2014/main" id="{508E8F26-54E1-47E1-BFF5-16BA102CAA3E}"/>
                </a:ext>
              </a:extLst>
            </p:cNvPr>
            <p:cNvGraphicFramePr/>
            <p:nvPr/>
          </p:nvGraphicFramePr>
          <p:xfrm>
            <a:off x="5162406" y="-63328"/>
            <a:ext cx="6841472" cy="91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Graphic 10" descr="Clapper board with solid fill">
              <a:extLst>
                <a:ext uri="{FF2B5EF4-FFF2-40B4-BE49-F238E27FC236}">
                  <a16:creationId xmlns:a16="http://schemas.microsoft.com/office/drawing/2014/main" id="{2ABBD051-220C-462C-A0DC-FCD0C648FF9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2252" y="245203"/>
              <a:ext cx="295446" cy="295446"/>
            </a:xfrm>
            <a:prstGeom prst="rect">
              <a:avLst/>
            </a:prstGeom>
          </p:spPr>
        </p:pic>
        <p:pic>
          <p:nvPicPr>
            <p:cNvPr id="12" name="Graphic 11" descr="Plugged Unplugged with solid fill">
              <a:extLst>
                <a:ext uri="{FF2B5EF4-FFF2-40B4-BE49-F238E27FC236}">
                  <a16:creationId xmlns:a16="http://schemas.microsoft.com/office/drawing/2014/main" id="{986579FF-74E9-40A0-A2B4-B0E9DEEB4AA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3896" y="245203"/>
              <a:ext cx="295445" cy="295445"/>
            </a:xfrm>
            <a:prstGeom prst="rect">
              <a:avLst/>
            </a:prstGeom>
          </p:spPr>
        </p:pic>
        <p:pic>
          <p:nvPicPr>
            <p:cNvPr id="13" name="Graphic 12" descr="Internet Of Things with solid fill">
              <a:extLst>
                <a:ext uri="{FF2B5EF4-FFF2-40B4-BE49-F238E27FC236}">
                  <a16:creationId xmlns:a16="http://schemas.microsoft.com/office/drawing/2014/main" id="{305E3436-40FC-42F0-AD01-0BB37E1A624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30880" y="245203"/>
              <a:ext cx="295445" cy="295445"/>
            </a:xfrm>
            <a:prstGeom prst="rect">
              <a:avLst/>
            </a:prstGeom>
          </p:spPr>
        </p:pic>
        <p:pic>
          <p:nvPicPr>
            <p:cNvPr id="14" name="Graphic 13" descr="Ui Ux with solid fill">
              <a:extLst>
                <a:ext uri="{FF2B5EF4-FFF2-40B4-BE49-F238E27FC236}">
                  <a16:creationId xmlns:a16="http://schemas.microsoft.com/office/drawing/2014/main" id="{06E9C0AF-24E5-49DB-89D1-42129DF5F62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2388" y="245203"/>
              <a:ext cx="295445" cy="295445"/>
            </a:xfrm>
            <a:prstGeom prst="rect">
              <a:avLst/>
            </a:prstGeom>
          </p:spPr>
        </p:pic>
        <p:pic>
          <p:nvPicPr>
            <p:cNvPr id="15" name="Graphic 14" descr="Open hand with plant with solid fill">
              <a:extLst>
                <a:ext uri="{FF2B5EF4-FFF2-40B4-BE49-F238E27FC236}">
                  <a16:creationId xmlns:a16="http://schemas.microsoft.com/office/drawing/2014/main" id="{B8330D98-0564-4F43-8BB6-AE4769C8078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77438" y="245203"/>
              <a:ext cx="307665" cy="307665"/>
            </a:xfrm>
            <a:prstGeom prst="rect">
              <a:avLst/>
            </a:prstGeom>
          </p:spPr>
        </p:pic>
        <p:pic>
          <p:nvPicPr>
            <p:cNvPr id="16" name="Graphic 15" descr="Books with solid fill">
              <a:extLst>
                <a:ext uri="{FF2B5EF4-FFF2-40B4-BE49-F238E27FC236}">
                  <a16:creationId xmlns:a16="http://schemas.microsoft.com/office/drawing/2014/main" id="{3ABC3AB7-DCDB-4295-A64B-2D38895089A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2672" y="245203"/>
              <a:ext cx="295445" cy="295445"/>
            </a:xfrm>
            <a:prstGeom prst="rect">
              <a:avLst/>
            </a:prstGeom>
          </p:spPr>
        </p:pic>
        <p:pic>
          <p:nvPicPr>
            <p:cNvPr id="17" name="Graphic 16" descr="Questions with solid fill">
              <a:extLst>
                <a:ext uri="{FF2B5EF4-FFF2-40B4-BE49-F238E27FC236}">
                  <a16:creationId xmlns:a16="http://schemas.microsoft.com/office/drawing/2014/main" id="{644472F9-DEBA-49FB-8791-B0A11DA37B7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98115" y="245203"/>
              <a:ext cx="295445" cy="295445"/>
            </a:xfrm>
            <a:prstGeom prst="rect">
              <a:avLst/>
            </a:prstGeom>
          </p:spPr>
        </p:pic>
      </p:grpSp>
      <p:sp>
        <p:nvSpPr>
          <p:cNvPr id="18" name="Rectangle: Diagonal Corners Rounded 17">
            <a:extLst>
              <a:ext uri="{FF2B5EF4-FFF2-40B4-BE49-F238E27FC236}">
                <a16:creationId xmlns:a16="http://schemas.microsoft.com/office/drawing/2014/main" id="{2E9C0B21-4E5C-44AF-A468-F0D1ED443464}"/>
              </a:ext>
            </a:extLst>
          </p:cNvPr>
          <p:cNvSpPr/>
          <p:nvPr/>
        </p:nvSpPr>
        <p:spPr>
          <a:xfrm>
            <a:off x="-2" y="-242"/>
            <a:ext cx="5013436" cy="820589"/>
          </a:xfrm>
          <a:prstGeom prst="round2DiagRect">
            <a:avLst>
              <a:gd name="adj1" fmla="val 0"/>
              <a:gd name="adj2" fmla="val 18831"/>
            </a:avLst>
          </a:prstGeom>
          <a:solidFill>
            <a:srgbClr val="00868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prstClr val="white"/>
                </a:solidFill>
                <a:cs typeface="Arial" panose="020B0604020202020204" pitchFamily="34" charset="0"/>
              </a:rPr>
              <a:t>Definitions</a:t>
            </a:r>
            <a:endParaRPr kumimoji="0" lang="en-GB" b="1" i="0" strike="noStrike" kern="1200" cap="none" spc="0" normalizeH="0" baseline="0" noProof="0">
              <a:ln>
                <a:noFill/>
              </a:ln>
              <a:solidFill>
                <a:prstClr val="white"/>
              </a:solidFill>
              <a:effectLst/>
              <a:uLnTx/>
              <a:uFillTx/>
              <a:cs typeface="Arial" panose="020B0604020202020204" pitchFamily="34" charset="0"/>
            </a:endParaRPr>
          </a:p>
        </p:txBody>
      </p:sp>
      <p:sp>
        <p:nvSpPr>
          <p:cNvPr id="19" name="Rectangle: Diagonal Corners Snipped 18">
            <a:extLst>
              <a:ext uri="{FF2B5EF4-FFF2-40B4-BE49-F238E27FC236}">
                <a16:creationId xmlns:a16="http://schemas.microsoft.com/office/drawing/2014/main" id="{1DADF6B0-E36F-4627-8CB9-8D9B7776A929}"/>
              </a:ext>
            </a:extLst>
          </p:cNvPr>
          <p:cNvSpPr/>
          <p:nvPr/>
        </p:nvSpPr>
        <p:spPr>
          <a:xfrm>
            <a:off x="-1" y="820347"/>
            <a:ext cx="12192001" cy="822404"/>
          </a:xfrm>
          <a:prstGeom prst="snip2DiagRect">
            <a:avLst>
              <a:gd name="adj1" fmla="val 0"/>
              <a:gd name="adj2" fmla="val 9894"/>
            </a:avLst>
          </a:prstGeom>
          <a:gradFill rotWithShape="1">
            <a:gsLst>
              <a:gs pos="0">
                <a:srgbClr val="008985">
                  <a:lumMod val="110000"/>
                  <a:satMod val="105000"/>
                  <a:tint val="67000"/>
                </a:srgbClr>
              </a:gs>
              <a:gs pos="50000">
                <a:srgbClr val="008985">
                  <a:lumMod val="105000"/>
                  <a:satMod val="103000"/>
                  <a:tint val="73000"/>
                </a:srgbClr>
              </a:gs>
              <a:gs pos="100000">
                <a:srgbClr val="008985">
                  <a:lumMod val="105000"/>
                  <a:satMod val="109000"/>
                  <a:tint val="81000"/>
                </a:srgbClr>
              </a:gs>
            </a:gsLst>
            <a:lin ang="5400000" scaled="0"/>
          </a:gradFill>
          <a:ln w="6350" cap="flat" cmpd="sng" algn="ctr">
            <a:solidFill>
              <a:srgbClr val="008985"/>
            </a:solidFill>
            <a:prstDash val="solid"/>
            <a:miter lim="800000"/>
          </a:ln>
          <a:effectLst/>
        </p:spPr>
        <p:txBody>
          <a:bodyPr rtlCol="0" anchor="ctr"/>
          <a:lstStyle/>
          <a:p>
            <a:pPr>
              <a:defRPr/>
            </a:pPr>
            <a:r>
              <a:rPr lang="en-GB">
                <a:solidFill>
                  <a:schemeClr val="bg1"/>
                </a:solidFill>
              </a:rPr>
              <a:t>Definitions of keywords and acronyms that are frequently mentioned.</a:t>
            </a:r>
            <a:endParaRPr lang="en-US">
              <a:solidFill>
                <a:schemeClr val="bg1"/>
              </a:solidFill>
            </a:endParaRPr>
          </a:p>
        </p:txBody>
      </p:sp>
      <p:sp>
        <p:nvSpPr>
          <p:cNvPr id="20" name="TextBox 19">
            <a:extLst>
              <a:ext uri="{FF2B5EF4-FFF2-40B4-BE49-F238E27FC236}">
                <a16:creationId xmlns:a16="http://schemas.microsoft.com/office/drawing/2014/main" id="{13CC9045-F344-48EC-A32E-06073803FF44}"/>
              </a:ext>
            </a:extLst>
          </p:cNvPr>
          <p:cNvSpPr txBox="1"/>
          <p:nvPr/>
        </p:nvSpPr>
        <p:spPr>
          <a:xfrm>
            <a:off x="1442872" y="2886522"/>
            <a:ext cx="9829800" cy="830997"/>
          </a:xfrm>
          <a:prstGeom prst="rect">
            <a:avLst/>
          </a:prstGeom>
          <a:noFill/>
          <a:ln>
            <a:noFill/>
          </a:ln>
        </p:spPr>
        <p:txBody>
          <a:bodyPr wrap="square" anchor="t">
            <a:spAutoFit/>
          </a:bodyPr>
          <a:lstStyle/>
          <a:p>
            <a:pPr algn="l" rtl="0" fontAlgn="base"/>
            <a:r>
              <a:rPr lang="en-GB" sz="1600" b="1" i="0" u="none" strike="noStrike" dirty="0">
                <a:solidFill>
                  <a:srgbClr val="000000"/>
                </a:solidFill>
                <a:effectLst/>
                <a:latin typeface="+mj-lt"/>
              </a:rPr>
              <a:t>SWD (Software Developer)​</a:t>
            </a:r>
          </a:p>
          <a:p>
            <a:pPr algn="l" rtl="0" fontAlgn="base"/>
            <a:r>
              <a:rPr lang="en-GB" sz="1600" dirty="0">
                <a:solidFill>
                  <a:srgbClr val="242424"/>
                </a:solidFill>
                <a:latin typeface="+mj-lt"/>
              </a:rPr>
              <a:t>A SWD is an acronym commonly used when describing Software Developers. Your Software Developer is the third-party software provider enabling your access to HMRC services.</a:t>
            </a:r>
          </a:p>
        </p:txBody>
      </p:sp>
      <p:sp>
        <p:nvSpPr>
          <p:cNvPr id="21" name="TextBox 20">
            <a:extLst>
              <a:ext uri="{FF2B5EF4-FFF2-40B4-BE49-F238E27FC236}">
                <a16:creationId xmlns:a16="http://schemas.microsoft.com/office/drawing/2014/main" id="{C32D8295-EB3C-4CC6-97EB-5454544FFB4E}"/>
              </a:ext>
            </a:extLst>
          </p:cNvPr>
          <p:cNvSpPr txBox="1"/>
          <p:nvPr/>
        </p:nvSpPr>
        <p:spPr>
          <a:xfrm>
            <a:off x="1442872" y="3943382"/>
            <a:ext cx="9829800" cy="830997"/>
          </a:xfrm>
          <a:prstGeom prst="rect">
            <a:avLst/>
          </a:prstGeom>
          <a:noFill/>
          <a:ln>
            <a:noFill/>
          </a:ln>
        </p:spPr>
        <p:txBody>
          <a:bodyPr wrap="square" anchor="t">
            <a:spAutoFit/>
          </a:bodyPr>
          <a:lstStyle/>
          <a:p>
            <a:pPr algn="l" rtl="0" fontAlgn="base"/>
            <a:r>
              <a:rPr lang="en-GB" sz="1600" b="1" i="0" u="none" strike="noStrike" dirty="0">
                <a:solidFill>
                  <a:srgbClr val="3B80A1"/>
                </a:solidFill>
                <a:effectLst/>
                <a:latin typeface="+mj-lt"/>
              </a:rPr>
              <a:t>TDR (Trader Dress Rehearsal) </a:t>
            </a:r>
          </a:p>
          <a:p>
            <a:pPr fontAlgn="base"/>
            <a:r>
              <a:rPr lang="en-GB" sz="1600">
                <a:solidFill>
                  <a:srgbClr val="242424"/>
                </a:solidFill>
                <a:latin typeface="+mj-lt"/>
              </a:rPr>
              <a:t>TDR</a:t>
            </a:r>
            <a:r>
              <a:rPr lang="en-GB" sz="1600" dirty="0">
                <a:solidFill>
                  <a:srgbClr val="242424"/>
                </a:solidFill>
                <a:latin typeface="+mj-lt"/>
              </a:rPr>
              <a:t> is a free service that is designed to help you prepare for CDS Live. It is Declarant focused and lets you submit different declaration scenarios in a simulated environment.</a:t>
            </a:r>
          </a:p>
        </p:txBody>
      </p:sp>
      <p:sp>
        <p:nvSpPr>
          <p:cNvPr id="22" name="TextBox 21">
            <a:extLst>
              <a:ext uri="{FF2B5EF4-FFF2-40B4-BE49-F238E27FC236}">
                <a16:creationId xmlns:a16="http://schemas.microsoft.com/office/drawing/2014/main" id="{E939EEC7-CAC3-42D5-BFED-FCF60654CFA5}"/>
              </a:ext>
            </a:extLst>
          </p:cNvPr>
          <p:cNvSpPr txBox="1"/>
          <p:nvPr/>
        </p:nvSpPr>
        <p:spPr>
          <a:xfrm>
            <a:off x="1442872" y="5000242"/>
            <a:ext cx="9829800" cy="830997"/>
          </a:xfrm>
          <a:prstGeom prst="rect">
            <a:avLst/>
          </a:prstGeom>
          <a:noFill/>
          <a:ln>
            <a:noFill/>
          </a:ln>
        </p:spPr>
        <p:txBody>
          <a:bodyPr wrap="square" anchor="t">
            <a:spAutoFit/>
          </a:bodyPr>
          <a:lstStyle/>
          <a:p>
            <a:pPr algn="l" rtl="0" fontAlgn="base"/>
            <a:r>
              <a:rPr lang="en-GB" sz="1600" b="1" i="0" u="none" strike="noStrike" dirty="0">
                <a:solidFill>
                  <a:srgbClr val="67B9B5"/>
                </a:solidFill>
                <a:effectLst/>
                <a:latin typeface="+mj-lt"/>
              </a:rPr>
              <a:t>TT (Trade Test)</a:t>
            </a:r>
          </a:p>
          <a:p>
            <a:pPr fontAlgn="base"/>
            <a:r>
              <a:rPr lang="en-GB" sz="1600" dirty="0">
                <a:solidFill>
                  <a:srgbClr val="242424"/>
                </a:solidFill>
                <a:latin typeface="+mj-lt"/>
              </a:rPr>
              <a:t>A functional test platform where 3rd party developers can assure their software integration against CDS APIs and a CDS back-end for all core declaration processes and notification types.</a:t>
            </a:r>
          </a:p>
        </p:txBody>
      </p:sp>
    </p:spTree>
    <p:extLst>
      <p:ext uri="{BB962C8B-B14F-4D97-AF65-F5344CB8AC3E}">
        <p14:creationId xmlns:p14="http://schemas.microsoft.com/office/powerpoint/2010/main" val="4825039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Custom 1">
      <a:dk1>
        <a:srgbClr val="000000"/>
      </a:dk1>
      <a:lt1>
        <a:srgbClr val="FFFFFF"/>
      </a:lt1>
      <a:dk2>
        <a:srgbClr val="00928C"/>
      </a:dk2>
      <a:lt2>
        <a:srgbClr val="F6F5F2"/>
      </a:lt2>
      <a:accent1>
        <a:srgbClr val="00928C"/>
      </a:accent1>
      <a:accent2>
        <a:srgbClr val="7DC4C0"/>
      </a:accent2>
      <a:accent3>
        <a:srgbClr val="CCECE6"/>
      </a:accent3>
      <a:accent4>
        <a:srgbClr val="2C617A"/>
      </a:accent4>
      <a:accent5>
        <a:srgbClr val="3A7FA0"/>
      </a:accent5>
      <a:accent6>
        <a:srgbClr val="A2C8D5"/>
      </a:accent6>
      <a:hlink>
        <a:srgbClr val="00928C"/>
      </a:hlink>
      <a:folHlink>
        <a:srgbClr val="00928C"/>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928D"/>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50000"/>
          </a:lnSpc>
          <a:defRPr sz="1600" dirty="0" err="1" smtClean="0">
            <a:latin typeface="Graphik" panose="020B0503030202060203" pitchFamily="34" charset="77"/>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B6227A1C823E4CAF14D4577B45949E" ma:contentTypeVersion="19" ma:contentTypeDescription="Create a new document." ma:contentTypeScope="" ma:versionID="c59ce9a44b3149714c7cabfd6731ad0e">
  <xsd:schema xmlns:xsd="http://www.w3.org/2001/XMLSchema" xmlns:xs="http://www.w3.org/2001/XMLSchema" xmlns:p="http://schemas.microsoft.com/office/2006/metadata/properties" xmlns:ns1="http://schemas.microsoft.com/sharepoint/v3" xmlns:ns2="ab1752b4-7f55-4279-8f58-7cb04b745f69" xmlns:ns3="85501699-eeeb-42a5-8a52-bd04b8e60049" targetNamespace="http://schemas.microsoft.com/office/2006/metadata/properties" ma:root="true" ma:fieldsID="d36a1bc5c8fe207c1b190469645772fc" ns1:_="" ns2:_="" ns3:_="">
    <xsd:import namespace="http://schemas.microsoft.com/sharepoint/v3"/>
    <xsd:import namespace="ab1752b4-7f55-4279-8f58-7cb04b745f69"/>
    <xsd:import namespace="85501699-eeeb-42a5-8a52-bd04b8e6004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1752b4-7f55-4279-8f58-7cb04b745f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3ebb39f-d69b-4575-80f5-9912993956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5501699-eeeb-42a5-8a52-bd04b8e6004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4f4fd1c5-1e9f-4007-a5a9-81264056e6c1}" ma:internalName="TaxCatchAll" ma:showField="CatchAllData" ma:web="85501699-eeeb-42a5-8a52-bd04b8e600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ab1752b4-7f55-4279-8f58-7cb04b745f69" xsi:nil="true"/>
    <SharedWithUsers xmlns="85501699-eeeb-42a5-8a52-bd04b8e60049">
      <UserInfo>
        <DisplayName>Sangha, Jasmin (CDIO)</DisplayName>
        <AccountId>40</AccountId>
        <AccountType/>
      </UserInfo>
      <UserInfo>
        <DisplayName>Holmes, Tom (CDIO)</DisplayName>
        <AccountId>179</AccountId>
        <AccountType/>
      </UserInfo>
      <UserInfo>
        <DisplayName>Brimelow, Claire (CDIO Borders and Trade)</DisplayName>
        <AccountId>18</AccountId>
        <AccountType/>
      </UserInfo>
      <UserInfo>
        <DisplayName>Cameron, Raymond (CDIO Chief Platform Office)</DisplayName>
        <AccountId>330</AccountId>
        <AccountType/>
      </UserInfo>
      <UserInfo>
        <DisplayName>Lenihan, Sinead (CDIO Chief Platform Office)</DisplayName>
        <AccountId>331</AccountId>
        <AccountType/>
      </UserInfo>
      <UserInfo>
        <DisplayName>Chok Wing, James (BCD)</DisplayName>
        <AccountId>351</AccountId>
        <AccountType/>
      </UserInfo>
      <UserInfo>
        <DisplayName>Dinwoodie, Rachel (CDIO)</DisplayName>
        <AccountId>352</AccountId>
        <AccountType/>
      </UserInfo>
      <UserInfo>
        <DisplayName>Hussain-Rehman, Shazia (CDIO Borders and Trade)</DisplayName>
        <AccountId>156</AccountId>
        <AccountType/>
      </UserInfo>
      <UserInfo>
        <DisplayName>Law, Francesca (CDIO Borders and Trade)</DisplayName>
        <AccountId>11</AccountId>
        <AccountType/>
      </UserInfo>
    </SharedWithUsers>
    <TaxCatchAll xmlns="85501699-eeeb-42a5-8a52-bd04b8e60049" xsi:nil="true"/>
    <lcf76f155ced4ddcb4097134ff3c332f xmlns="ab1752b4-7f55-4279-8f58-7cb04b745f69">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747D4B56-6CC8-4A7A-BE4F-AD99EA12630E}">
  <ds:schemaRefs>
    <ds:schemaRef ds:uri="http://schemas.microsoft.com/sharepoint/v3/contenttype/forms"/>
  </ds:schemaRefs>
</ds:datastoreItem>
</file>

<file path=customXml/itemProps2.xml><?xml version="1.0" encoding="utf-8"?>
<ds:datastoreItem xmlns:ds="http://schemas.openxmlformats.org/officeDocument/2006/customXml" ds:itemID="{F499731F-B977-46BA-B158-2854D97BF57D}">
  <ds:schemaRefs>
    <ds:schemaRef ds:uri="85501699-eeeb-42a5-8a52-bd04b8e60049"/>
    <ds:schemaRef ds:uri="ab1752b4-7f55-4279-8f58-7cb04b745f6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B8BE64-CE9F-47AE-8068-07F7A69F4BA4}">
  <ds:schemaRefs>
    <ds:schemaRef ds:uri="ab1752b4-7f55-4279-8f58-7cb04b745f69"/>
    <ds:schemaRef ds:uri="http://schemas.microsoft.com/office/2006/documentManagement/types"/>
    <ds:schemaRef ds:uri="http://schemas.microsoft.com/office/2006/metadata/properties"/>
    <ds:schemaRef ds:uri="http://purl.org/dc/elements/1.1/"/>
    <ds:schemaRef ds:uri="85501699-eeeb-42a5-8a52-bd04b8e60049"/>
    <ds:schemaRef ds:uri="http://purl.org/dc/terms/"/>
    <ds:schemaRef ds:uri="http://schemas.openxmlformats.org/package/2006/metadata/core-properties"/>
    <ds:schemaRef ds:uri="http://purl.org/dc/dcmitype/"/>
    <ds:schemaRef ds:uri="http://schemas.microsoft.com/office/infopath/2007/PartnerControls"/>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1770</TotalTime>
  <Words>4928</Words>
  <Application>Microsoft Office PowerPoint</Application>
  <PresentationFormat>Widescreen</PresentationFormat>
  <Paragraphs>475</Paragraphs>
  <Slides>32</Slides>
  <Notes>16</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4" baseType="lpstr">
      <vt:lpstr>Arial</vt:lpstr>
      <vt:lpstr>Calibri</vt:lpstr>
      <vt:lpstr>Calibri (Headings)</vt:lpstr>
      <vt:lpstr>Calibri Light</vt:lpstr>
      <vt:lpstr>GDS Transport</vt:lpstr>
      <vt:lpstr>Graphik</vt:lpstr>
      <vt:lpstr>Segoe UI</vt:lpstr>
      <vt:lpstr>Symbol</vt:lpstr>
      <vt:lpstr>Wingdings</vt:lpstr>
      <vt:lpstr>Office Theme</vt:lpstr>
      <vt:lpstr>3_Office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Clarke, Michael (CDIO)</dc:creator>
  <cp:lastModifiedBy>Vallath, Jay (CDIO Accenture)</cp:lastModifiedBy>
  <cp:revision>2</cp:revision>
  <dcterms:created xsi:type="dcterms:W3CDTF">2022-09-08T08:14:37Z</dcterms:created>
  <dcterms:modified xsi:type="dcterms:W3CDTF">2024-02-07T19:13:50Z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9af038e-07b4-4369-a678-c835687cb272_Enabled">
    <vt:lpwstr>true</vt:lpwstr>
  </property>
  <property fmtid="{D5CDD505-2E9C-101B-9397-08002B2CF9AE}" pid="3" name="MSIP_Label_f9af038e-07b4-4369-a678-c835687cb272_SetDate">
    <vt:lpwstr>2022-09-08T08:27:25Z</vt:lpwstr>
  </property>
  <property fmtid="{D5CDD505-2E9C-101B-9397-08002B2CF9AE}" pid="4" name="MSIP_Label_f9af038e-07b4-4369-a678-c835687cb272_Method">
    <vt:lpwstr>Standard</vt:lpwstr>
  </property>
  <property fmtid="{D5CDD505-2E9C-101B-9397-08002B2CF9AE}" pid="5" name="MSIP_Label_f9af038e-07b4-4369-a678-c835687cb272_Name">
    <vt:lpwstr>OFFICIAL</vt:lpwstr>
  </property>
  <property fmtid="{D5CDD505-2E9C-101B-9397-08002B2CF9AE}" pid="6" name="MSIP_Label_f9af038e-07b4-4369-a678-c835687cb272_SiteId">
    <vt:lpwstr>ac52f73c-fd1a-4a9a-8e7a-4a248f3139e1</vt:lpwstr>
  </property>
  <property fmtid="{D5CDD505-2E9C-101B-9397-08002B2CF9AE}" pid="7" name="MSIP_Label_f9af038e-07b4-4369-a678-c835687cb272_ActionId">
    <vt:lpwstr>6c0e3842-0943-4801-9ae1-f6d017740584</vt:lpwstr>
  </property>
  <property fmtid="{D5CDD505-2E9C-101B-9397-08002B2CF9AE}" pid="8" name="MSIP_Label_f9af038e-07b4-4369-a678-c835687cb272_ContentBits">
    <vt:lpwstr>2</vt:lpwstr>
  </property>
  <property fmtid="{D5CDD505-2E9C-101B-9397-08002B2CF9AE}" pid="9" name="ContentTypeId">
    <vt:lpwstr>0x010100B9B6227A1C823E4CAF14D4577B45949E</vt:lpwstr>
  </property>
  <property fmtid="{D5CDD505-2E9C-101B-9397-08002B2CF9AE}" pid="10" name="ComplianceAssetId">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